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5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6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7" r:id="rId1"/>
    <p:sldMasterId id="2147483660" r:id="rId2"/>
    <p:sldMasterId id="2147483665" r:id="rId3"/>
    <p:sldMasterId id="2147483670" r:id="rId4"/>
    <p:sldMasterId id="2147483688" r:id="rId5"/>
    <p:sldMasterId id="2147483693" r:id="rId6"/>
    <p:sldMasterId id="2147483711" r:id="rId7"/>
  </p:sldMasterIdLst>
  <p:notesMasterIdLst>
    <p:notesMasterId r:id="rId77"/>
  </p:notesMasterIdLst>
  <p:sldIdLst>
    <p:sldId id="256" r:id="rId8"/>
    <p:sldId id="351" r:id="rId9"/>
    <p:sldId id="352" r:id="rId10"/>
    <p:sldId id="353" r:id="rId11"/>
    <p:sldId id="354" r:id="rId12"/>
    <p:sldId id="355" r:id="rId13"/>
    <p:sldId id="308" r:id="rId14"/>
    <p:sldId id="309" r:id="rId15"/>
    <p:sldId id="404" r:id="rId16"/>
    <p:sldId id="312" r:id="rId17"/>
    <p:sldId id="313" r:id="rId18"/>
    <p:sldId id="359" r:id="rId19"/>
    <p:sldId id="365" r:id="rId20"/>
    <p:sldId id="371" r:id="rId21"/>
    <p:sldId id="372" r:id="rId22"/>
    <p:sldId id="315" r:id="rId23"/>
    <p:sldId id="314" r:id="rId24"/>
    <p:sldId id="360" r:id="rId25"/>
    <p:sldId id="316" r:id="rId26"/>
    <p:sldId id="358" r:id="rId27"/>
    <p:sldId id="361" r:id="rId28"/>
    <p:sldId id="382" r:id="rId29"/>
    <p:sldId id="399" r:id="rId30"/>
    <p:sldId id="317" r:id="rId31"/>
    <p:sldId id="318" r:id="rId32"/>
    <p:sldId id="320" r:id="rId33"/>
    <p:sldId id="319" r:id="rId34"/>
    <p:sldId id="321" r:id="rId35"/>
    <p:sldId id="388" r:id="rId36"/>
    <p:sldId id="362" r:id="rId37"/>
    <p:sldId id="328" r:id="rId38"/>
    <p:sldId id="329" r:id="rId39"/>
    <p:sldId id="400" r:id="rId40"/>
    <p:sldId id="401" r:id="rId41"/>
    <p:sldId id="389" r:id="rId42"/>
    <p:sldId id="384" r:id="rId43"/>
    <p:sldId id="391" r:id="rId44"/>
    <p:sldId id="390" r:id="rId45"/>
    <p:sldId id="330" r:id="rId46"/>
    <p:sldId id="393" r:id="rId47"/>
    <p:sldId id="331" r:id="rId48"/>
    <p:sldId id="332" r:id="rId49"/>
    <p:sldId id="333" r:id="rId50"/>
    <p:sldId id="367" r:id="rId51"/>
    <p:sldId id="373" r:id="rId52"/>
    <p:sldId id="334" r:id="rId53"/>
    <p:sldId id="335" r:id="rId54"/>
    <p:sldId id="338" r:id="rId55"/>
    <p:sldId id="387" r:id="rId56"/>
    <p:sldId id="366" r:id="rId57"/>
    <p:sldId id="370" r:id="rId58"/>
    <p:sldId id="402" r:id="rId59"/>
    <p:sldId id="340" r:id="rId60"/>
    <p:sldId id="341" r:id="rId61"/>
    <p:sldId id="342" r:id="rId62"/>
    <p:sldId id="343" r:id="rId63"/>
    <p:sldId id="344" r:id="rId64"/>
    <p:sldId id="346" r:id="rId65"/>
    <p:sldId id="374" r:id="rId66"/>
    <p:sldId id="375" r:id="rId67"/>
    <p:sldId id="377" r:id="rId68"/>
    <p:sldId id="385" r:id="rId69"/>
    <p:sldId id="381" r:id="rId70"/>
    <p:sldId id="397" r:id="rId71"/>
    <p:sldId id="392" r:id="rId72"/>
    <p:sldId id="356" r:id="rId73"/>
    <p:sldId id="350" r:id="rId74"/>
    <p:sldId id="405" r:id="rId75"/>
    <p:sldId id="406" r:id="rId7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5pPr>
    <a:lvl6pPr marL="2286000" algn="l" defTabSz="914400" rtl="0" eaLnBrk="1" latinLnBrk="0" hangingPunct="1"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6pPr>
    <a:lvl7pPr marL="2743200" algn="l" defTabSz="914400" rtl="0" eaLnBrk="1" latinLnBrk="0" hangingPunct="1"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7pPr>
    <a:lvl8pPr marL="3200400" algn="l" defTabSz="914400" rtl="0" eaLnBrk="1" latinLnBrk="0" hangingPunct="1"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8pPr>
    <a:lvl9pPr marL="3657600" algn="l" defTabSz="914400" rtl="0" eaLnBrk="1" latinLnBrk="0" hangingPunct="1">
      <a:defRPr sz="2400" kern="1200">
        <a:solidFill>
          <a:srgbClr val="000000"/>
        </a:solidFill>
        <a:latin typeface="Times New Roman" pitchFamily="18" charset="0"/>
        <a:ea typeface="ヒラギノ角ゴ ProN W3"/>
        <a:cs typeface="ヒラギノ角ゴ ProN W3"/>
        <a:sym typeface="Times New Roman" pitchFamily="18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06" autoAdjust="0"/>
    <p:restoredTop sz="86616" autoAdjust="0"/>
  </p:normalViewPr>
  <p:slideViewPr>
    <p:cSldViewPr>
      <p:cViewPr>
        <p:scale>
          <a:sx n="50" d="100"/>
          <a:sy n="50" d="100"/>
        </p:scale>
        <p:origin x="-1804" y="-2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74" Type="http://schemas.openxmlformats.org/officeDocument/2006/relationships/slide" Target="slides/slide67.xml"/><Relationship Id="rId79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slide" Target="slides/slide62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slide" Target="slides/slide65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slide" Target="slides/slide63.xml"/><Relationship Id="rId75" Type="http://schemas.openxmlformats.org/officeDocument/2006/relationships/slide" Target="slides/slide6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slide" Target="slides/slide66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slide" Target="slides/slide69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4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4" Type="http://schemas.openxmlformats.org/officeDocument/2006/relationships/slide" Target="slides/slide17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66" Type="http://schemas.openxmlformats.org/officeDocument/2006/relationships/slide" Target="slides/slide5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9D849E-18E8-4255-A5AA-03BDA41A4617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l-GR"/>
        </a:p>
      </dgm:t>
    </dgm:pt>
    <dgm:pt modelId="{C83122FE-D7E0-4C0F-AB09-A26EEE43D415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XML Validation</a:t>
          </a:r>
          <a:endParaRPr lang="el-GR" dirty="0"/>
        </a:p>
      </dgm:t>
    </dgm:pt>
    <dgm:pt modelId="{09408D6C-6F6B-4232-8958-B0921164C1BD}" type="parTrans" cxnId="{C47EFE84-8497-439B-A27E-4F3F418356A2}">
      <dgm:prSet/>
      <dgm:spPr/>
      <dgm:t>
        <a:bodyPr/>
        <a:lstStyle/>
        <a:p>
          <a:endParaRPr lang="el-GR"/>
        </a:p>
      </dgm:t>
    </dgm:pt>
    <dgm:pt modelId="{0955C7CF-A733-4CEB-A58D-A105B891B6CB}" type="sibTrans" cxnId="{C47EFE84-8497-439B-A27E-4F3F418356A2}">
      <dgm:prSet/>
      <dgm:spPr/>
      <dgm:t>
        <a:bodyPr/>
        <a:lstStyle/>
        <a:p>
          <a:endParaRPr lang="el-GR"/>
        </a:p>
      </dgm:t>
    </dgm:pt>
    <dgm:pt modelId="{A93BC949-0888-4022-A8CF-4F67CD173D36}">
      <dgm:prSet/>
      <dgm:spPr/>
      <dgm:t>
        <a:bodyPr/>
        <a:lstStyle/>
        <a:p>
          <a:pPr rtl="0"/>
          <a:r>
            <a:rPr lang="en-US" b="1" dirty="0"/>
            <a:t>DTD</a:t>
          </a:r>
          <a:r>
            <a:rPr lang="en-US" dirty="0"/>
            <a:t>: Document Type Definition</a:t>
          </a:r>
          <a:endParaRPr lang="el-GR" dirty="0"/>
        </a:p>
      </dgm:t>
    </dgm:pt>
    <dgm:pt modelId="{E93219EF-EF24-4727-96E3-67390119C26E}" type="parTrans" cxnId="{A3596EF5-77D5-45C0-9574-63AC0F644958}">
      <dgm:prSet/>
      <dgm:spPr/>
      <dgm:t>
        <a:bodyPr/>
        <a:lstStyle/>
        <a:p>
          <a:endParaRPr lang="el-GR"/>
        </a:p>
      </dgm:t>
    </dgm:pt>
    <dgm:pt modelId="{AC394E81-2DD9-4172-9A6B-9D2AC7E31AC2}" type="sibTrans" cxnId="{A3596EF5-77D5-45C0-9574-63AC0F644958}">
      <dgm:prSet/>
      <dgm:spPr/>
      <dgm:t>
        <a:bodyPr/>
        <a:lstStyle/>
        <a:p>
          <a:endParaRPr lang="el-GR"/>
        </a:p>
      </dgm:t>
    </dgm:pt>
    <dgm:pt modelId="{E371005B-94D0-44B6-900C-DCA453108670}">
      <dgm:prSet/>
      <dgm:spPr/>
      <dgm:t>
        <a:bodyPr/>
        <a:lstStyle/>
        <a:p>
          <a:pPr rtl="0"/>
          <a:r>
            <a:rPr lang="en-US" dirty="0" err="1"/>
            <a:t>Ορίζει</a:t>
          </a:r>
          <a:r>
            <a:rPr lang="en-US" dirty="0"/>
            <a:t> </a:t>
          </a:r>
          <a:r>
            <a:rPr lang="en-US" dirty="0" err="1"/>
            <a:t>την</a:t>
          </a:r>
          <a:r>
            <a:rPr lang="en-US" dirty="0"/>
            <a:t> </a:t>
          </a:r>
          <a:r>
            <a:rPr lang="en-US" dirty="0" err="1"/>
            <a:t>αποδεκτή</a:t>
          </a:r>
          <a:r>
            <a:rPr lang="en-US" dirty="0"/>
            <a:t> </a:t>
          </a:r>
          <a:r>
            <a:rPr lang="en-US" dirty="0" err="1"/>
            <a:t>δομή</a:t>
          </a:r>
          <a:r>
            <a:rPr lang="en-US" dirty="0"/>
            <a:t> </a:t>
          </a:r>
          <a:r>
            <a:rPr lang="en-US" dirty="0" err="1"/>
            <a:t>των</a:t>
          </a:r>
          <a:r>
            <a:rPr lang="en-US" dirty="0"/>
            <a:t> tags </a:t>
          </a:r>
          <a:r>
            <a:rPr lang="en-US" dirty="0" err="1"/>
            <a:t>για</a:t>
          </a:r>
          <a:r>
            <a:rPr lang="en-US" dirty="0"/>
            <a:t> </a:t>
          </a:r>
          <a:r>
            <a:rPr lang="en-US" dirty="0" err="1"/>
            <a:t>ένα</a:t>
          </a:r>
          <a:r>
            <a:rPr lang="en-US" dirty="0"/>
            <a:t> </a:t>
          </a:r>
          <a:r>
            <a:rPr lang="en-US" dirty="0" err="1"/>
            <a:t>αρχείο</a:t>
          </a:r>
          <a:endParaRPr lang="en-US" dirty="0"/>
        </a:p>
      </dgm:t>
    </dgm:pt>
    <dgm:pt modelId="{1A9B8C0B-CA5B-4799-8E06-6CE8A6F74862}" type="parTrans" cxnId="{98E073FF-FB29-4347-BF72-2B00B1AE9396}">
      <dgm:prSet/>
      <dgm:spPr/>
      <dgm:t>
        <a:bodyPr/>
        <a:lstStyle/>
        <a:p>
          <a:endParaRPr lang="el-GR"/>
        </a:p>
      </dgm:t>
    </dgm:pt>
    <dgm:pt modelId="{27244F23-9D9B-4ADD-A7E7-163AEA705C47}" type="sibTrans" cxnId="{98E073FF-FB29-4347-BF72-2B00B1AE9396}">
      <dgm:prSet/>
      <dgm:spPr/>
      <dgm:t>
        <a:bodyPr/>
        <a:lstStyle/>
        <a:p>
          <a:endParaRPr lang="el-GR"/>
        </a:p>
      </dgm:t>
    </dgm:pt>
    <dgm:pt modelId="{774A88A6-8CBA-4327-9195-D981BB4851BB}">
      <dgm:prSet/>
      <dgm:spPr/>
      <dgm:t>
        <a:bodyPr/>
        <a:lstStyle/>
        <a:p>
          <a:pPr rtl="0"/>
          <a:r>
            <a:rPr lang="en-US" b="1" dirty="0"/>
            <a:t>XML Schemas</a:t>
          </a:r>
          <a:endParaRPr lang="el-GR" b="1" dirty="0"/>
        </a:p>
      </dgm:t>
    </dgm:pt>
    <dgm:pt modelId="{ADA43116-C626-4B70-BE4E-6C45697FB5B5}" type="parTrans" cxnId="{15D76EFC-F0F9-4C1B-A4A7-D86DE2DD2810}">
      <dgm:prSet/>
      <dgm:spPr/>
      <dgm:t>
        <a:bodyPr/>
        <a:lstStyle/>
        <a:p>
          <a:endParaRPr lang="el-GR"/>
        </a:p>
      </dgm:t>
    </dgm:pt>
    <dgm:pt modelId="{063E64B7-E0AB-472D-BE63-FF5F6679B1FA}" type="sibTrans" cxnId="{15D76EFC-F0F9-4C1B-A4A7-D86DE2DD2810}">
      <dgm:prSet/>
      <dgm:spPr/>
      <dgm:t>
        <a:bodyPr/>
        <a:lstStyle/>
        <a:p>
          <a:endParaRPr lang="el-GR"/>
        </a:p>
      </dgm:t>
    </dgm:pt>
    <dgm:pt modelId="{182FD3FA-349C-4989-8EE8-BB7CA24BE831}">
      <dgm:prSet/>
      <dgm:spPr/>
      <dgm:t>
        <a:bodyPr/>
        <a:lstStyle/>
        <a:p>
          <a:pPr rtl="0"/>
          <a:r>
            <a:rPr lang="en-US" dirty="0" err="1"/>
            <a:t>Θα</a:t>
          </a:r>
          <a:r>
            <a:rPr lang="en-US" dirty="0"/>
            <a:t> </a:t>
          </a:r>
          <a:r>
            <a:rPr lang="en-US" dirty="0" err="1"/>
            <a:t>αντικαταστήσει</a:t>
          </a:r>
          <a:r>
            <a:rPr lang="en-US" dirty="0"/>
            <a:t> </a:t>
          </a:r>
          <a:r>
            <a:rPr lang="en-US" dirty="0" err="1"/>
            <a:t>εντελώς</a:t>
          </a:r>
          <a:r>
            <a:rPr lang="en-US" dirty="0"/>
            <a:t> </a:t>
          </a:r>
          <a:r>
            <a:rPr lang="en-US" dirty="0" err="1"/>
            <a:t>τα</a:t>
          </a:r>
          <a:r>
            <a:rPr lang="en-US" dirty="0"/>
            <a:t> DTDs, </a:t>
          </a:r>
          <a:endParaRPr lang="el-GR" dirty="0"/>
        </a:p>
      </dgm:t>
    </dgm:pt>
    <dgm:pt modelId="{E06E9D4E-0E9A-465C-9C6B-CC9D4C988AFA}" type="parTrans" cxnId="{0ABF2454-6C2E-49F0-B524-2C4570EA4A9A}">
      <dgm:prSet/>
      <dgm:spPr/>
      <dgm:t>
        <a:bodyPr/>
        <a:lstStyle/>
        <a:p>
          <a:endParaRPr lang="el-GR"/>
        </a:p>
      </dgm:t>
    </dgm:pt>
    <dgm:pt modelId="{B9C40924-C4A1-49A5-BFC2-22372816D2EE}" type="sibTrans" cxnId="{0ABF2454-6C2E-49F0-B524-2C4570EA4A9A}">
      <dgm:prSet/>
      <dgm:spPr/>
      <dgm:t>
        <a:bodyPr/>
        <a:lstStyle/>
        <a:p>
          <a:endParaRPr lang="el-GR"/>
        </a:p>
      </dgm:t>
    </dgm:pt>
    <dgm:pt modelId="{E90C5CCE-D676-451D-8F6B-28FBDA330A88}">
      <dgm:prSet/>
      <dgm:spPr/>
      <dgm:t>
        <a:bodyPr/>
        <a:lstStyle/>
        <a:p>
          <a:pPr rtl="0"/>
          <a:r>
            <a:rPr lang="en-US" dirty="0" err="1"/>
            <a:t>Αναπτύχθηκε</a:t>
          </a:r>
          <a:r>
            <a:rPr lang="en-US" dirty="0"/>
            <a:t> </a:t>
          </a:r>
          <a:r>
            <a:rPr lang="en-US" dirty="0" err="1"/>
            <a:t>ειδικά</a:t>
          </a:r>
          <a:r>
            <a:rPr lang="en-US" dirty="0"/>
            <a:t> </a:t>
          </a:r>
          <a:r>
            <a:rPr lang="en-US" dirty="0" err="1"/>
            <a:t>για</a:t>
          </a:r>
          <a:r>
            <a:rPr lang="en-US" dirty="0"/>
            <a:t> </a:t>
          </a:r>
          <a:r>
            <a:rPr lang="en-US" dirty="0" err="1"/>
            <a:t>το</a:t>
          </a:r>
          <a:r>
            <a:rPr lang="en-US" dirty="0"/>
            <a:t> validation </a:t>
          </a:r>
          <a:r>
            <a:rPr lang="en-US" dirty="0" err="1"/>
            <a:t>του</a:t>
          </a:r>
          <a:r>
            <a:rPr lang="en-US" dirty="0"/>
            <a:t>  XML</a:t>
          </a:r>
          <a:endParaRPr lang="el-GR" dirty="0"/>
        </a:p>
      </dgm:t>
    </dgm:pt>
    <dgm:pt modelId="{75228A88-08E1-4724-9927-350490EE73FB}" type="parTrans" cxnId="{69A216C6-7734-46E6-9E07-FB08AAB7AC2F}">
      <dgm:prSet/>
      <dgm:spPr/>
      <dgm:t>
        <a:bodyPr/>
        <a:lstStyle/>
        <a:p>
          <a:endParaRPr lang="el-GR"/>
        </a:p>
      </dgm:t>
    </dgm:pt>
    <dgm:pt modelId="{D664FEF9-C387-4825-A22A-DD5DAF94FC15}" type="sibTrans" cxnId="{69A216C6-7734-46E6-9E07-FB08AAB7AC2F}">
      <dgm:prSet/>
      <dgm:spPr/>
      <dgm:t>
        <a:bodyPr/>
        <a:lstStyle/>
        <a:p>
          <a:endParaRPr lang="el-GR"/>
        </a:p>
      </dgm:t>
    </dgm:pt>
    <dgm:pt modelId="{986F9068-0837-4915-A471-9647C0A3EB59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US" dirty="0"/>
            <a:t>XML Display</a:t>
          </a:r>
          <a:endParaRPr lang="el-GR" dirty="0"/>
        </a:p>
      </dgm:t>
    </dgm:pt>
    <dgm:pt modelId="{640ED62E-1EF1-4E11-B2A5-E68017DA3EC3}" type="parTrans" cxnId="{BA77CBC5-D7A5-4A37-80F4-51B4BABC5C38}">
      <dgm:prSet/>
      <dgm:spPr/>
      <dgm:t>
        <a:bodyPr/>
        <a:lstStyle/>
        <a:p>
          <a:endParaRPr lang="el-GR"/>
        </a:p>
      </dgm:t>
    </dgm:pt>
    <dgm:pt modelId="{144F60ED-1BA3-4B78-A2E8-ABAEA81E834B}" type="sibTrans" cxnId="{BA77CBC5-D7A5-4A37-80F4-51B4BABC5C38}">
      <dgm:prSet/>
      <dgm:spPr/>
      <dgm:t>
        <a:bodyPr/>
        <a:lstStyle/>
        <a:p>
          <a:endParaRPr lang="el-GR"/>
        </a:p>
      </dgm:t>
    </dgm:pt>
    <dgm:pt modelId="{EAACC680-5AA7-4529-A972-2C417D4F0418}">
      <dgm:prSet/>
      <dgm:spPr/>
      <dgm:t>
        <a:bodyPr/>
        <a:lstStyle/>
        <a:p>
          <a:pPr rtl="0"/>
          <a:r>
            <a:rPr lang="en-US" dirty="0"/>
            <a:t>CSS - Cascading Style Sheets </a:t>
          </a:r>
          <a:endParaRPr lang="el-GR" dirty="0"/>
        </a:p>
      </dgm:t>
    </dgm:pt>
    <dgm:pt modelId="{A795EECE-6916-467C-9713-0D74DB8B1239}" type="parTrans" cxnId="{0C6AFAE7-8AB6-40E5-B988-5718B57A4C44}">
      <dgm:prSet/>
      <dgm:spPr/>
      <dgm:t>
        <a:bodyPr/>
        <a:lstStyle/>
        <a:p>
          <a:endParaRPr lang="el-GR"/>
        </a:p>
      </dgm:t>
    </dgm:pt>
    <dgm:pt modelId="{2BB77DFA-9300-4DAB-9F27-C88D886ED61D}" type="sibTrans" cxnId="{0C6AFAE7-8AB6-40E5-B988-5718B57A4C44}">
      <dgm:prSet/>
      <dgm:spPr/>
      <dgm:t>
        <a:bodyPr/>
        <a:lstStyle/>
        <a:p>
          <a:endParaRPr lang="el-GR"/>
        </a:p>
      </dgm:t>
    </dgm:pt>
    <dgm:pt modelId="{C6058679-D0B2-4DA2-930E-03382F43A593}">
      <dgm:prSet/>
      <dgm:spPr/>
      <dgm:t>
        <a:bodyPr/>
        <a:lstStyle/>
        <a:p>
          <a:pPr rtl="0"/>
          <a:r>
            <a:rPr lang="en-US" dirty="0" err="1"/>
            <a:t>Υπέρ</a:t>
          </a:r>
          <a:r>
            <a:rPr lang="en-US" dirty="0"/>
            <a:t>: </a:t>
          </a:r>
          <a:r>
            <a:rPr lang="en-US" dirty="0" err="1"/>
            <a:t>εύκολος</a:t>
          </a:r>
          <a:r>
            <a:rPr lang="en-US" dirty="0"/>
            <a:t> </a:t>
          </a:r>
          <a:r>
            <a:rPr lang="en-US" dirty="0" err="1"/>
            <a:t>ορισμός</a:t>
          </a:r>
          <a:r>
            <a:rPr lang="en-US" dirty="0"/>
            <a:t> </a:t>
          </a:r>
          <a:r>
            <a:rPr lang="en-US" dirty="0" err="1"/>
            <a:t>ιδιοτήτων</a:t>
          </a:r>
          <a:r>
            <a:rPr lang="en-US" dirty="0"/>
            <a:t> </a:t>
          </a:r>
          <a:r>
            <a:rPr lang="en-US" dirty="0" err="1"/>
            <a:t>εμφάνισης</a:t>
          </a:r>
          <a:r>
            <a:rPr lang="en-US" dirty="0"/>
            <a:t> </a:t>
          </a:r>
          <a:r>
            <a:rPr lang="en-US" dirty="0" err="1"/>
            <a:t>ενός</a:t>
          </a:r>
          <a:r>
            <a:rPr lang="en-US" dirty="0"/>
            <a:t> XML element</a:t>
          </a:r>
          <a:endParaRPr lang="el-GR" dirty="0"/>
        </a:p>
      </dgm:t>
    </dgm:pt>
    <dgm:pt modelId="{9A80F810-B71D-4026-932C-B76323821470}" type="parTrans" cxnId="{96C44FA4-E86E-4547-BD74-548F15AF00F3}">
      <dgm:prSet/>
      <dgm:spPr/>
      <dgm:t>
        <a:bodyPr/>
        <a:lstStyle/>
        <a:p>
          <a:endParaRPr lang="el-GR"/>
        </a:p>
      </dgm:t>
    </dgm:pt>
    <dgm:pt modelId="{F348CE8F-BCBB-424C-9BC1-0273C6BDC720}" type="sibTrans" cxnId="{96C44FA4-E86E-4547-BD74-548F15AF00F3}">
      <dgm:prSet/>
      <dgm:spPr/>
      <dgm:t>
        <a:bodyPr/>
        <a:lstStyle/>
        <a:p>
          <a:endParaRPr lang="el-GR"/>
        </a:p>
      </dgm:t>
    </dgm:pt>
    <dgm:pt modelId="{64D979DF-9D34-4FF0-BC66-27FBDD888315}">
      <dgm:prSet/>
      <dgm:spPr/>
      <dgm:t>
        <a:bodyPr/>
        <a:lstStyle/>
        <a:p>
          <a:pPr rtl="0"/>
          <a:r>
            <a:rPr lang="en-US" dirty="0" err="1"/>
            <a:t>Μόνο</a:t>
          </a:r>
          <a:r>
            <a:rPr lang="en-US" dirty="0"/>
            <a:t> </a:t>
          </a:r>
          <a:r>
            <a:rPr lang="en-US" dirty="0" err="1"/>
            <a:t>για</a:t>
          </a:r>
          <a:r>
            <a:rPr lang="en-US" dirty="0"/>
            <a:t> </a:t>
          </a:r>
          <a:r>
            <a:rPr lang="en-US" dirty="0" err="1"/>
            <a:t>τα</a:t>
          </a:r>
          <a:r>
            <a:rPr lang="en-US" dirty="0"/>
            <a:t> Web browser</a:t>
          </a:r>
          <a:endParaRPr lang="el-GR" dirty="0"/>
        </a:p>
      </dgm:t>
    </dgm:pt>
    <dgm:pt modelId="{31437853-456E-413E-BD0B-10C237D3ED06}" type="parTrans" cxnId="{19F9E9EA-00CA-4BCC-932D-A16706F59057}">
      <dgm:prSet/>
      <dgm:spPr/>
      <dgm:t>
        <a:bodyPr/>
        <a:lstStyle/>
        <a:p>
          <a:endParaRPr lang="el-GR"/>
        </a:p>
      </dgm:t>
    </dgm:pt>
    <dgm:pt modelId="{E85573A2-0DB6-4992-952D-EE3726A62813}" type="sibTrans" cxnId="{19F9E9EA-00CA-4BCC-932D-A16706F59057}">
      <dgm:prSet/>
      <dgm:spPr/>
      <dgm:t>
        <a:bodyPr/>
        <a:lstStyle/>
        <a:p>
          <a:endParaRPr lang="el-GR"/>
        </a:p>
      </dgm:t>
    </dgm:pt>
    <dgm:pt modelId="{6C4F7843-7549-431C-8E84-9373262DEFF5}">
      <dgm:prSet/>
      <dgm:spPr/>
      <dgm:t>
        <a:bodyPr/>
        <a:lstStyle/>
        <a:p>
          <a:pPr rtl="0"/>
          <a:r>
            <a:rPr lang="en-US" dirty="0"/>
            <a:t>XSL – Extensible </a:t>
          </a:r>
          <a:r>
            <a:rPr lang="en-US" dirty="0" err="1"/>
            <a:t>Stylesheet</a:t>
          </a:r>
          <a:r>
            <a:rPr lang="en-US" dirty="0"/>
            <a:t> Language</a:t>
          </a:r>
          <a:endParaRPr lang="el-GR" dirty="0"/>
        </a:p>
      </dgm:t>
    </dgm:pt>
    <dgm:pt modelId="{1C72A683-0B6F-4574-986F-849B816A32B0}" type="parTrans" cxnId="{FFD8D19C-105F-4B0B-8683-96BEE848B5BB}">
      <dgm:prSet/>
      <dgm:spPr/>
      <dgm:t>
        <a:bodyPr/>
        <a:lstStyle/>
        <a:p>
          <a:endParaRPr lang="el-GR"/>
        </a:p>
      </dgm:t>
    </dgm:pt>
    <dgm:pt modelId="{D4550884-8CA4-4845-980F-7ABD11B6AF50}" type="sibTrans" cxnId="{FFD8D19C-105F-4B0B-8683-96BEE848B5BB}">
      <dgm:prSet/>
      <dgm:spPr/>
      <dgm:t>
        <a:bodyPr/>
        <a:lstStyle/>
        <a:p>
          <a:endParaRPr lang="el-GR"/>
        </a:p>
      </dgm:t>
    </dgm:pt>
    <dgm:pt modelId="{C5C7FC37-1D98-47EF-9643-9DA429BA1A6F}">
      <dgm:prSet/>
      <dgm:spPr/>
      <dgm:t>
        <a:bodyPr/>
        <a:lstStyle/>
        <a:p>
          <a:pPr rtl="0"/>
          <a:r>
            <a:rPr lang="en-US" dirty="0" err="1"/>
            <a:t>Ένα</a:t>
          </a:r>
          <a:r>
            <a:rPr lang="en-US" dirty="0"/>
            <a:t> </a:t>
          </a:r>
          <a:r>
            <a:rPr lang="en-US" dirty="0" err="1"/>
            <a:t>σύνολο</a:t>
          </a:r>
          <a:r>
            <a:rPr lang="en-US" dirty="0"/>
            <a:t> </a:t>
          </a:r>
          <a:r>
            <a:rPr lang="en-US" dirty="0" err="1"/>
            <a:t>κανόνων</a:t>
          </a:r>
          <a:r>
            <a:rPr lang="en-US" dirty="0"/>
            <a:t> </a:t>
          </a:r>
          <a:r>
            <a:rPr lang="en-US" dirty="0" err="1"/>
            <a:t>για</a:t>
          </a:r>
          <a:r>
            <a:rPr lang="en-US" dirty="0"/>
            <a:t> </a:t>
          </a:r>
          <a:r>
            <a:rPr lang="en-US" dirty="0" err="1"/>
            <a:t>την</a:t>
          </a:r>
          <a:r>
            <a:rPr lang="en-US" dirty="0"/>
            <a:t> </a:t>
          </a:r>
          <a:r>
            <a:rPr lang="en-US" dirty="0" err="1"/>
            <a:t>παρουσίαση</a:t>
          </a:r>
          <a:r>
            <a:rPr lang="en-US" dirty="0"/>
            <a:t> </a:t>
          </a:r>
          <a:r>
            <a:rPr lang="en-US" dirty="0" err="1"/>
            <a:t>ενός</a:t>
          </a:r>
          <a:r>
            <a:rPr lang="en-US" dirty="0"/>
            <a:t> XML ή </a:t>
          </a:r>
          <a:r>
            <a:rPr lang="en-US" dirty="0" err="1"/>
            <a:t>τον</a:t>
          </a:r>
          <a:r>
            <a:rPr lang="en-US" dirty="0"/>
            <a:t> </a:t>
          </a:r>
          <a:r>
            <a:rPr lang="en-US" dirty="0" err="1"/>
            <a:t>μετασχηματισμό</a:t>
          </a:r>
          <a:r>
            <a:rPr lang="en-US" dirty="0"/>
            <a:t> </a:t>
          </a:r>
          <a:r>
            <a:rPr lang="en-US" dirty="0" err="1"/>
            <a:t>του</a:t>
          </a:r>
          <a:r>
            <a:rPr lang="en-US" dirty="0"/>
            <a:t> </a:t>
          </a:r>
          <a:r>
            <a:rPr lang="en-US" dirty="0" err="1"/>
            <a:t>σε</a:t>
          </a:r>
          <a:r>
            <a:rPr lang="en-US" dirty="0"/>
            <a:t> </a:t>
          </a:r>
          <a:r>
            <a:rPr lang="en-US" dirty="0" err="1"/>
            <a:t>ένα</a:t>
          </a:r>
          <a:r>
            <a:rPr lang="en-US" dirty="0"/>
            <a:t> </a:t>
          </a:r>
          <a:r>
            <a:rPr lang="en-US" dirty="0" err="1"/>
            <a:t>άλλο</a:t>
          </a:r>
          <a:r>
            <a:rPr lang="en-US" dirty="0"/>
            <a:t>. </a:t>
          </a:r>
          <a:endParaRPr lang="el-GR" dirty="0"/>
        </a:p>
      </dgm:t>
    </dgm:pt>
    <dgm:pt modelId="{5027F0AA-621F-435B-8D04-9E9EA43FF5E9}" type="parTrans" cxnId="{3A3E864E-C8CF-47E6-8B97-F264B9F9D866}">
      <dgm:prSet/>
      <dgm:spPr/>
      <dgm:t>
        <a:bodyPr/>
        <a:lstStyle/>
        <a:p>
          <a:endParaRPr lang="el-GR"/>
        </a:p>
      </dgm:t>
    </dgm:pt>
    <dgm:pt modelId="{DD6492BE-3B64-4F3A-9891-42376F896C14}" type="sibTrans" cxnId="{3A3E864E-C8CF-47E6-8B97-F264B9F9D866}">
      <dgm:prSet/>
      <dgm:spPr/>
      <dgm:t>
        <a:bodyPr/>
        <a:lstStyle/>
        <a:p>
          <a:endParaRPr lang="el-GR"/>
        </a:p>
      </dgm:t>
    </dgm:pt>
    <dgm:pt modelId="{0503CBFE-2706-4475-88EA-D4A54CAA9EE4}" type="pres">
      <dgm:prSet presAssocID="{ED9D849E-18E8-4255-A5AA-03BDA41A4617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C6F3B1E4-A1E1-435F-A17C-E3AA27CD4632}" type="pres">
      <dgm:prSet presAssocID="{C83122FE-D7E0-4C0F-AB09-A26EEE43D415}" presName="root" presStyleCnt="0"/>
      <dgm:spPr/>
    </dgm:pt>
    <dgm:pt modelId="{36C6CA11-FB42-4B3C-862D-F61891A3BEF2}" type="pres">
      <dgm:prSet presAssocID="{C83122FE-D7E0-4C0F-AB09-A26EEE43D415}" presName="rootComposite" presStyleCnt="0"/>
      <dgm:spPr/>
    </dgm:pt>
    <dgm:pt modelId="{A0D71BD2-1AA1-4BFD-A6A0-3B9F40F80820}" type="pres">
      <dgm:prSet presAssocID="{C83122FE-D7E0-4C0F-AB09-A26EEE43D415}" presName="rootText" presStyleLbl="node1" presStyleIdx="0" presStyleCnt="2"/>
      <dgm:spPr/>
      <dgm:t>
        <a:bodyPr/>
        <a:lstStyle/>
        <a:p>
          <a:endParaRPr lang="en-US"/>
        </a:p>
      </dgm:t>
    </dgm:pt>
    <dgm:pt modelId="{8A2871A1-9881-48A9-AA98-143206B02C63}" type="pres">
      <dgm:prSet presAssocID="{C83122FE-D7E0-4C0F-AB09-A26EEE43D415}" presName="rootConnector" presStyleLbl="node1" presStyleIdx="0" presStyleCnt="2"/>
      <dgm:spPr/>
      <dgm:t>
        <a:bodyPr/>
        <a:lstStyle/>
        <a:p>
          <a:endParaRPr lang="en-US"/>
        </a:p>
      </dgm:t>
    </dgm:pt>
    <dgm:pt modelId="{3E637341-244E-4725-A443-2E40CA1440E7}" type="pres">
      <dgm:prSet presAssocID="{C83122FE-D7E0-4C0F-AB09-A26EEE43D415}" presName="childShape" presStyleCnt="0"/>
      <dgm:spPr/>
    </dgm:pt>
    <dgm:pt modelId="{8364332A-4BEA-45A9-9A11-F0891F2876A7}" type="pres">
      <dgm:prSet presAssocID="{E93219EF-EF24-4727-96E3-67390119C26E}" presName="Name13" presStyleLbl="parChTrans1D2" presStyleIdx="0" presStyleCnt="4"/>
      <dgm:spPr/>
      <dgm:t>
        <a:bodyPr/>
        <a:lstStyle/>
        <a:p>
          <a:endParaRPr lang="en-US"/>
        </a:p>
      </dgm:t>
    </dgm:pt>
    <dgm:pt modelId="{026EB57F-E3AD-44A5-83BF-21D83B818776}" type="pres">
      <dgm:prSet presAssocID="{A93BC949-0888-4022-A8CF-4F67CD173D36}" presName="child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C34078-6A7F-4DAF-903D-E95AF7A38952}" type="pres">
      <dgm:prSet presAssocID="{ADA43116-C626-4B70-BE4E-6C45697FB5B5}" presName="Name13" presStyleLbl="parChTrans1D2" presStyleIdx="1" presStyleCnt="4"/>
      <dgm:spPr/>
      <dgm:t>
        <a:bodyPr/>
        <a:lstStyle/>
        <a:p>
          <a:endParaRPr lang="en-US"/>
        </a:p>
      </dgm:t>
    </dgm:pt>
    <dgm:pt modelId="{DAE60EAD-26FB-44CC-8BCB-CCA677FC0553}" type="pres">
      <dgm:prSet presAssocID="{774A88A6-8CBA-4327-9195-D981BB4851BB}" presName="child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50A355-F580-40E4-8193-EAB681DAD6F0}" type="pres">
      <dgm:prSet presAssocID="{986F9068-0837-4915-A471-9647C0A3EB59}" presName="root" presStyleCnt="0"/>
      <dgm:spPr/>
    </dgm:pt>
    <dgm:pt modelId="{62181571-F15B-4493-BC58-9A18769C4E1D}" type="pres">
      <dgm:prSet presAssocID="{986F9068-0837-4915-A471-9647C0A3EB59}" presName="rootComposite" presStyleCnt="0"/>
      <dgm:spPr/>
    </dgm:pt>
    <dgm:pt modelId="{4521874A-5CED-48F2-936D-1678387E82B1}" type="pres">
      <dgm:prSet presAssocID="{986F9068-0837-4915-A471-9647C0A3EB59}" presName="rootText" presStyleLbl="node1" presStyleIdx="1" presStyleCnt="2"/>
      <dgm:spPr/>
      <dgm:t>
        <a:bodyPr/>
        <a:lstStyle/>
        <a:p>
          <a:endParaRPr lang="en-US"/>
        </a:p>
      </dgm:t>
    </dgm:pt>
    <dgm:pt modelId="{B195935A-617C-4AD6-9448-43E09376403F}" type="pres">
      <dgm:prSet presAssocID="{986F9068-0837-4915-A471-9647C0A3EB59}" presName="rootConnector" presStyleLbl="node1" presStyleIdx="1" presStyleCnt="2"/>
      <dgm:spPr/>
      <dgm:t>
        <a:bodyPr/>
        <a:lstStyle/>
        <a:p>
          <a:endParaRPr lang="en-US"/>
        </a:p>
      </dgm:t>
    </dgm:pt>
    <dgm:pt modelId="{30D8C6A6-6875-4655-944F-F519204332EB}" type="pres">
      <dgm:prSet presAssocID="{986F9068-0837-4915-A471-9647C0A3EB59}" presName="childShape" presStyleCnt="0"/>
      <dgm:spPr/>
    </dgm:pt>
    <dgm:pt modelId="{C54A1499-8F37-4B41-92B6-72235C399BF8}" type="pres">
      <dgm:prSet presAssocID="{A795EECE-6916-467C-9713-0D74DB8B1239}" presName="Name13" presStyleLbl="parChTrans1D2" presStyleIdx="2" presStyleCnt="4"/>
      <dgm:spPr/>
      <dgm:t>
        <a:bodyPr/>
        <a:lstStyle/>
        <a:p>
          <a:endParaRPr lang="en-US"/>
        </a:p>
      </dgm:t>
    </dgm:pt>
    <dgm:pt modelId="{164A5719-2250-4529-B9CF-979CB75A583C}" type="pres">
      <dgm:prSet presAssocID="{EAACC680-5AA7-4529-A972-2C417D4F0418}" presName="child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19C15C-3CE7-4437-9087-ED7A34E33B51}" type="pres">
      <dgm:prSet presAssocID="{1C72A683-0B6F-4574-986F-849B816A32B0}" presName="Name13" presStyleLbl="parChTrans1D2" presStyleIdx="3" presStyleCnt="4"/>
      <dgm:spPr/>
      <dgm:t>
        <a:bodyPr/>
        <a:lstStyle/>
        <a:p>
          <a:endParaRPr lang="en-US"/>
        </a:p>
      </dgm:t>
    </dgm:pt>
    <dgm:pt modelId="{1F033C07-81EB-47D5-B69B-67FF4D27DA18}" type="pres">
      <dgm:prSet presAssocID="{6C4F7843-7549-431C-8E84-9373262DEFF5}" presName="child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47BDD357-95A6-4CA7-ADE9-B3DAF5022A61}" type="presOf" srcId="{64D979DF-9D34-4FF0-BC66-27FBDD888315}" destId="{164A5719-2250-4529-B9CF-979CB75A583C}" srcOrd="0" destOrd="2" presId="urn:microsoft.com/office/officeart/2005/8/layout/hierarchy3"/>
    <dgm:cxn modelId="{69EC68A2-CE9F-4850-9D1B-F260D1C1DEBC}" type="presOf" srcId="{C5C7FC37-1D98-47EF-9643-9DA429BA1A6F}" destId="{1F033C07-81EB-47D5-B69B-67FF4D27DA18}" srcOrd="0" destOrd="1" presId="urn:microsoft.com/office/officeart/2005/8/layout/hierarchy3"/>
    <dgm:cxn modelId="{65E7E318-5BDE-4A38-9859-E62271D51CE4}" type="presOf" srcId="{1C72A683-0B6F-4574-986F-849B816A32B0}" destId="{3E19C15C-3CE7-4437-9087-ED7A34E33B51}" srcOrd="0" destOrd="0" presId="urn:microsoft.com/office/officeart/2005/8/layout/hierarchy3"/>
    <dgm:cxn modelId="{C47EFE84-8497-439B-A27E-4F3F418356A2}" srcId="{ED9D849E-18E8-4255-A5AA-03BDA41A4617}" destId="{C83122FE-D7E0-4C0F-AB09-A26EEE43D415}" srcOrd="0" destOrd="0" parTransId="{09408D6C-6F6B-4232-8958-B0921164C1BD}" sibTransId="{0955C7CF-A733-4CEB-A58D-A105B891B6CB}"/>
    <dgm:cxn modelId="{8F8F9857-B459-4824-9304-457281181E74}" type="presOf" srcId="{A93BC949-0888-4022-A8CF-4F67CD173D36}" destId="{026EB57F-E3AD-44A5-83BF-21D83B818776}" srcOrd="0" destOrd="0" presId="urn:microsoft.com/office/officeart/2005/8/layout/hierarchy3"/>
    <dgm:cxn modelId="{067C6964-0F91-4902-B648-40CE8F05C90A}" type="presOf" srcId="{ED9D849E-18E8-4255-A5AA-03BDA41A4617}" destId="{0503CBFE-2706-4475-88EA-D4A54CAA9EE4}" srcOrd="0" destOrd="0" presId="urn:microsoft.com/office/officeart/2005/8/layout/hierarchy3"/>
    <dgm:cxn modelId="{FFD8D19C-105F-4B0B-8683-96BEE848B5BB}" srcId="{986F9068-0837-4915-A471-9647C0A3EB59}" destId="{6C4F7843-7549-431C-8E84-9373262DEFF5}" srcOrd="1" destOrd="0" parTransId="{1C72A683-0B6F-4574-986F-849B816A32B0}" sibTransId="{D4550884-8CA4-4845-980F-7ABD11B6AF50}"/>
    <dgm:cxn modelId="{0ABF2454-6C2E-49F0-B524-2C4570EA4A9A}" srcId="{774A88A6-8CBA-4327-9195-D981BB4851BB}" destId="{182FD3FA-349C-4989-8EE8-BB7CA24BE831}" srcOrd="0" destOrd="0" parTransId="{E06E9D4E-0E9A-465C-9C6B-CC9D4C988AFA}" sibTransId="{B9C40924-C4A1-49A5-BFC2-22372816D2EE}"/>
    <dgm:cxn modelId="{3A3E864E-C8CF-47E6-8B97-F264B9F9D866}" srcId="{6C4F7843-7549-431C-8E84-9373262DEFF5}" destId="{C5C7FC37-1D98-47EF-9643-9DA429BA1A6F}" srcOrd="0" destOrd="0" parTransId="{5027F0AA-621F-435B-8D04-9E9EA43FF5E9}" sibTransId="{DD6492BE-3B64-4F3A-9891-42376F896C14}"/>
    <dgm:cxn modelId="{C349AA45-6B99-4631-9B22-22AC2103E28A}" type="presOf" srcId="{986F9068-0837-4915-A471-9647C0A3EB59}" destId="{B195935A-617C-4AD6-9448-43E09376403F}" srcOrd="1" destOrd="0" presId="urn:microsoft.com/office/officeart/2005/8/layout/hierarchy3"/>
    <dgm:cxn modelId="{A4ED1B45-5234-404A-BF9B-98F0D32B89EF}" type="presOf" srcId="{6C4F7843-7549-431C-8E84-9373262DEFF5}" destId="{1F033C07-81EB-47D5-B69B-67FF4D27DA18}" srcOrd="0" destOrd="0" presId="urn:microsoft.com/office/officeart/2005/8/layout/hierarchy3"/>
    <dgm:cxn modelId="{6DC6582C-64E0-43AD-8DF9-98009A4425B8}" type="presOf" srcId="{ADA43116-C626-4B70-BE4E-6C45697FB5B5}" destId="{55C34078-6A7F-4DAF-903D-E95AF7A38952}" srcOrd="0" destOrd="0" presId="urn:microsoft.com/office/officeart/2005/8/layout/hierarchy3"/>
    <dgm:cxn modelId="{7632173F-3616-4DE9-9CD1-E8D3925A7310}" type="presOf" srcId="{E90C5CCE-D676-451D-8F6B-28FBDA330A88}" destId="{DAE60EAD-26FB-44CC-8BCB-CCA677FC0553}" srcOrd="0" destOrd="2" presId="urn:microsoft.com/office/officeart/2005/8/layout/hierarchy3"/>
    <dgm:cxn modelId="{2C88C5A6-25CF-499E-A515-7C0CC4A7E7DD}" type="presOf" srcId="{A795EECE-6916-467C-9713-0D74DB8B1239}" destId="{C54A1499-8F37-4B41-92B6-72235C399BF8}" srcOrd="0" destOrd="0" presId="urn:microsoft.com/office/officeart/2005/8/layout/hierarchy3"/>
    <dgm:cxn modelId="{19F9E9EA-00CA-4BCC-932D-A16706F59057}" srcId="{EAACC680-5AA7-4529-A972-2C417D4F0418}" destId="{64D979DF-9D34-4FF0-BC66-27FBDD888315}" srcOrd="1" destOrd="0" parTransId="{31437853-456E-413E-BD0B-10C237D3ED06}" sibTransId="{E85573A2-0DB6-4992-952D-EE3726A62813}"/>
    <dgm:cxn modelId="{15D76EFC-F0F9-4C1B-A4A7-D86DE2DD2810}" srcId="{C83122FE-D7E0-4C0F-AB09-A26EEE43D415}" destId="{774A88A6-8CBA-4327-9195-D981BB4851BB}" srcOrd="1" destOrd="0" parTransId="{ADA43116-C626-4B70-BE4E-6C45697FB5B5}" sibTransId="{063E64B7-E0AB-472D-BE63-FF5F6679B1FA}"/>
    <dgm:cxn modelId="{1A361700-F7AD-41E0-BCE6-49939547FC1D}" type="presOf" srcId="{C83122FE-D7E0-4C0F-AB09-A26EEE43D415}" destId="{8A2871A1-9881-48A9-AA98-143206B02C63}" srcOrd="1" destOrd="0" presId="urn:microsoft.com/office/officeart/2005/8/layout/hierarchy3"/>
    <dgm:cxn modelId="{BA77CBC5-D7A5-4A37-80F4-51B4BABC5C38}" srcId="{ED9D849E-18E8-4255-A5AA-03BDA41A4617}" destId="{986F9068-0837-4915-A471-9647C0A3EB59}" srcOrd="1" destOrd="0" parTransId="{640ED62E-1EF1-4E11-B2A5-E68017DA3EC3}" sibTransId="{144F60ED-1BA3-4B78-A2E8-ABAEA81E834B}"/>
    <dgm:cxn modelId="{69A216C6-7734-46E6-9E07-FB08AAB7AC2F}" srcId="{774A88A6-8CBA-4327-9195-D981BB4851BB}" destId="{E90C5CCE-D676-451D-8F6B-28FBDA330A88}" srcOrd="1" destOrd="0" parTransId="{75228A88-08E1-4724-9927-350490EE73FB}" sibTransId="{D664FEF9-C387-4825-A22A-DD5DAF94FC15}"/>
    <dgm:cxn modelId="{1DA2448F-1A89-46C2-AF11-E127E30F9C49}" type="presOf" srcId="{E371005B-94D0-44B6-900C-DCA453108670}" destId="{026EB57F-E3AD-44A5-83BF-21D83B818776}" srcOrd="0" destOrd="1" presId="urn:microsoft.com/office/officeart/2005/8/layout/hierarchy3"/>
    <dgm:cxn modelId="{A46160B4-4C2C-40D9-9010-189A46D15BED}" type="presOf" srcId="{E93219EF-EF24-4727-96E3-67390119C26E}" destId="{8364332A-4BEA-45A9-9A11-F0891F2876A7}" srcOrd="0" destOrd="0" presId="urn:microsoft.com/office/officeart/2005/8/layout/hierarchy3"/>
    <dgm:cxn modelId="{7287AD9C-424D-4C57-A988-D3034A387BED}" type="presOf" srcId="{C83122FE-D7E0-4C0F-AB09-A26EEE43D415}" destId="{A0D71BD2-1AA1-4BFD-A6A0-3B9F40F80820}" srcOrd="0" destOrd="0" presId="urn:microsoft.com/office/officeart/2005/8/layout/hierarchy3"/>
    <dgm:cxn modelId="{5BEEB4AD-E0E0-4890-BCF2-F0CCD4BB353A}" type="presOf" srcId="{986F9068-0837-4915-A471-9647C0A3EB59}" destId="{4521874A-5CED-48F2-936D-1678387E82B1}" srcOrd="0" destOrd="0" presId="urn:microsoft.com/office/officeart/2005/8/layout/hierarchy3"/>
    <dgm:cxn modelId="{98E073FF-FB29-4347-BF72-2B00B1AE9396}" srcId="{A93BC949-0888-4022-A8CF-4F67CD173D36}" destId="{E371005B-94D0-44B6-900C-DCA453108670}" srcOrd="0" destOrd="0" parTransId="{1A9B8C0B-CA5B-4799-8E06-6CE8A6F74862}" sibTransId="{27244F23-9D9B-4ADD-A7E7-163AEA705C47}"/>
    <dgm:cxn modelId="{0C6AFAE7-8AB6-40E5-B988-5718B57A4C44}" srcId="{986F9068-0837-4915-A471-9647C0A3EB59}" destId="{EAACC680-5AA7-4529-A972-2C417D4F0418}" srcOrd="0" destOrd="0" parTransId="{A795EECE-6916-467C-9713-0D74DB8B1239}" sibTransId="{2BB77DFA-9300-4DAB-9F27-C88D886ED61D}"/>
    <dgm:cxn modelId="{4684CCBD-3BB6-4B8E-A12D-7C7F6EF92559}" type="presOf" srcId="{182FD3FA-349C-4989-8EE8-BB7CA24BE831}" destId="{DAE60EAD-26FB-44CC-8BCB-CCA677FC0553}" srcOrd="0" destOrd="1" presId="urn:microsoft.com/office/officeart/2005/8/layout/hierarchy3"/>
    <dgm:cxn modelId="{96C44FA4-E86E-4547-BD74-548F15AF00F3}" srcId="{EAACC680-5AA7-4529-A972-2C417D4F0418}" destId="{C6058679-D0B2-4DA2-930E-03382F43A593}" srcOrd="0" destOrd="0" parTransId="{9A80F810-B71D-4026-932C-B76323821470}" sibTransId="{F348CE8F-BCBB-424C-9BC1-0273C6BDC720}"/>
    <dgm:cxn modelId="{9B461C20-05DB-4842-AA0B-DBFFE6B42525}" type="presOf" srcId="{EAACC680-5AA7-4529-A972-2C417D4F0418}" destId="{164A5719-2250-4529-B9CF-979CB75A583C}" srcOrd="0" destOrd="0" presId="urn:microsoft.com/office/officeart/2005/8/layout/hierarchy3"/>
    <dgm:cxn modelId="{A4C3DE17-4571-4A4C-8267-1FBF15C317C8}" type="presOf" srcId="{C6058679-D0B2-4DA2-930E-03382F43A593}" destId="{164A5719-2250-4529-B9CF-979CB75A583C}" srcOrd="0" destOrd="1" presId="urn:microsoft.com/office/officeart/2005/8/layout/hierarchy3"/>
    <dgm:cxn modelId="{A3596EF5-77D5-45C0-9574-63AC0F644958}" srcId="{C83122FE-D7E0-4C0F-AB09-A26EEE43D415}" destId="{A93BC949-0888-4022-A8CF-4F67CD173D36}" srcOrd="0" destOrd="0" parTransId="{E93219EF-EF24-4727-96E3-67390119C26E}" sibTransId="{AC394E81-2DD9-4172-9A6B-9D2AC7E31AC2}"/>
    <dgm:cxn modelId="{4FF651D5-B43F-4B5A-9E3A-5FF525570E0D}" type="presOf" srcId="{774A88A6-8CBA-4327-9195-D981BB4851BB}" destId="{DAE60EAD-26FB-44CC-8BCB-CCA677FC0553}" srcOrd="0" destOrd="0" presId="urn:microsoft.com/office/officeart/2005/8/layout/hierarchy3"/>
    <dgm:cxn modelId="{97D5E77D-EB66-4FC2-BE31-0A8210E7A1A7}" type="presParOf" srcId="{0503CBFE-2706-4475-88EA-D4A54CAA9EE4}" destId="{C6F3B1E4-A1E1-435F-A17C-E3AA27CD4632}" srcOrd="0" destOrd="0" presId="urn:microsoft.com/office/officeart/2005/8/layout/hierarchy3"/>
    <dgm:cxn modelId="{8EEF6024-66B4-43BC-B6C8-DC5DA9D967F3}" type="presParOf" srcId="{C6F3B1E4-A1E1-435F-A17C-E3AA27CD4632}" destId="{36C6CA11-FB42-4B3C-862D-F61891A3BEF2}" srcOrd="0" destOrd="0" presId="urn:microsoft.com/office/officeart/2005/8/layout/hierarchy3"/>
    <dgm:cxn modelId="{AED87699-3ECD-464F-BCC4-BDCD053E44E9}" type="presParOf" srcId="{36C6CA11-FB42-4B3C-862D-F61891A3BEF2}" destId="{A0D71BD2-1AA1-4BFD-A6A0-3B9F40F80820}" srcOrd="0" destOrd="0" presId="urn:microsoft.com/office/officeart/2005/8/layout/hierarchy3"/>
    <dgm:cxn modelId="{A82BD835-C706-48B8-A5D5-AA7C1DC7A3BE}" type="presParOf" srcId="{36C6CA11-FB42-4B3C-862D-F61891A3BEF2}" destId="{8A2871A1-9881-48A9-AA98-143206B02C63}" srcOrd="1" destOrd="0" presId="urn:microsoft.com/office/officeart/2005/8/layout/hierarchy3"/>
    <dgm:cxn modelId="{6CFA7F37-FA5D-478D-874A-DE808101CB3D}" type="presParOf" srcId="{C6F3B1E4-A1E1-435F-A17C-E3AA27CD4632}" destId="{3E637341-244E-4725-A443-2E40CA1440E7}" srcOrd="1" destOrd="0" presId="urn:microsoft.com/office/officeart/2005/8/layout/hierarchy3"/>
    <dgm:cxn modelId="{302A0379-39BD-4D0C-8601-06D5153E5477}" type="presParOf" srcId="{3E637341-244E-4725-A443-2E40CA1440E7}" destId="{8364332A-4BEA-45A9-9A11-F0891F2876A7}" srcOrd="0" destOrd="0" presId="urn:microsoft.com/office/officeart/2005/8/layout/hierarchy3"/>
    <dgm:cxn modelId="{AF0864BC-A28C-4332-A318-4CBDEB7ED763}" type="presParOf" srcId="{3E637341-244E-4725-A443-2E40CA1440E7}" destId="{026EB57F-E3AD-44A5-83BF-21D83B818776}" srcOrd="1" destOrd="0" presId="urn:microsoft.com/office/officeart/2005/8/layout/hierarchy3"/>
    <dgm:cxn modelId="{5AF4A791-F0FC-44CF-A343-CDD90777897E}" type="presParOf" srcId="{3E637341-244E-4725-A443-2E40CA1440E7}" destId="{55C34078-6A7F-4DAF-903D-E95AF7A38952}" srcOrd="2" destOrd="0" presId="urn:microsoft.com/office/officeart/2005/8/layout/hierarchy3"/>
    <dgm:cxn modelId="{F1C3C27B-20A6-4C3F-8DA9-ADB53731F4B7}" type="presParOf" srcId="{3E637341-244E-4725-A443-2E40CA1440E7}" destId="{DAE60EAD-26FB-44CC-8BCB-CCA677FC0553}" srcOrd="3" destOrd="0" presId="urn:microsoft.com/office/officeart/2005/8/layout/hierarchy3"/>
    <dgm:cxn modelId="{908F829D-F438-417A-814C-DC76277A9275}" type="presParOf" srcId="{0503CBFE-2706-4475-88EA-D4A54CAA9EE4}" destId="{4F50A355-F580-40E4-8193-EAB681DAD6F0}" srcOrd="1" destOrd="0" presId="urn:microsoft.com/office/officeart/2005/8/layout/hierarchy3"/>
    <dgm:cxn modelId="{CB5BC675-EEAF-4236-9B8F-B12247D438EF}" type="presParOf" srcId="{4F50A355-F580-40E4-8193-EAB681DAD6F0}" destId="{62181571-F15B-4493-BC58-9A18769C4E1D}" srcOrd="0" destOrd="0" presId="urn:microsoft.com/office/officeart/2005/8/layout/hierarchy3"/>
    <dgm:cxn modelId="{7E898E93-C6C7-4206-A062-58351EC43965}" type="presParOf" srcId="{62181571-F15B-4493-BC58-9A18769C4E1D}" destId="{4521874A-5CED-48F2-936D-1678387E82B1}" srcOrd="0" destOrd="0" presId="urn:microsoft.com/office/officeart/2005/8/layout/hierarchy3"/>
    <dgm:cxn modelId="{0798AC4C-B139-4DB9-B40B-AD828FF5CB07}" type="presParOf" srcId="{62181571-F15B-4493-BC58-9A18769C4E1D}" destId="{B195935A-617C-4AD6-9448-43E09376403F}" srcOrd="1" destOrd="0" presId="urn:microsoft.com/office/officeart/2005/8/layout/hierarchy3"/>
    <dgm:cxn modelId="{E87DFA13-891F-4D87-A2F7-645C5C4ECEC4}" type="presParOf" srcId="{4F50A355-F580-40E4-8193-EAB681DAD6F0}" destId="{30D8C6A6-6875-4655-944F-F519204332EB}" srcOrd="1" destOrd="0" presId="urn:microsoft.com/office/officeart/2005/8/layout/hierarchy3"/>
    <dgm:cxn modelId="{FF12C14D-E1CB-46E9-8314-C2353F4E167F}" type="presParOf" srcId="{30D8C6A6-6875-4655-944F-F519204332EB}" destId="{C54A1499-8F37-4B41-92B6-72235C399BF8}" srcOrd="0" destOrd="0" presId="urn:microsoft.com/office/officeart/2005/8/layout/hierarchy3"/>
    <dgm:cxn modelId="{C3B70692-71E1-4648-91FE-CA2AE15C3F3B}" type="presParOf" srcId="{30D8C6A6-6875-4655-944F-F519204332EB}" destId="{164A5719-2250-4529-B9CF-979CB75A583C}" srcOrd="1" destOrd="0" presId="urn:microsoft.com/office/officeart/2005/8/layout/hierarchy3"/>
    <dgm:cxn modelId="{5967419E-F499-4AB5-9D76-E23A6EE9E6F1}" type="presParOf" srcId="{30D8C6A6-6875-4655-944F-F519204332EB}" destId="{3E19C15C-3CE7-4437-9087-ED7A34E33B51}" srcOrd="2" destOrd="0" presId="urn:microsoft.com/office/officeart/2005/8/layout/hierarchy3"/>
    <dgm:cxn modelId="{992D7C83-76C2-487A-BA40-2277C9509AE3}" type="presParOf" srcId="{30D8C6A6-6875-4655-944F-F519204332EB}" destId="{1F033C07-81EB-47D5-B69B-67FF4D27DA18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E948C7-A045-4071-B928-CC2076E0CD4D}" type="doc">
      <dgm:prSet loTypeId="urn:microsoft.com/office/officeart/2005/8/layout/cycle3" loCatId="cycle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C020ACCC-F332-40FC-A138-AF1AB76C37C6}">
      <dgm:prSet phldrT="[Text]"/>
      <dgm:spPr/>
      <dgm:t>
        <a:bodyPr/>
        <a:lstStyle/>
        <a:p>
          <a:r>
            <a:rPr lang="el-GR" dirty="0"/>
            <a:t>Ελαστική Αρχιτεκτονική</a:t>
          </a:r>
          <a:endParaRPr lang="en-US" dirty="0"/>
        </a:p>
      </dgm:t>
    </dgm:pt>
    <dgm:pt modelId="{C4F58D41-EE5D-4F33-8A91-052DA25AD66D}" type="parTrans" cxnId="{4873A9B2-79F1-4972-88DB-FC1989DBD704}">
      <dgm:prSet/>
      <dgm:spPr/>
      <dgm:t>
        <a:bodyPr/>
        <a:lstStyle/>
        <a:p>
          <a:endParaRPr lang="en-US"/>
        </a:p>
      </dgm:t>
    </dgm:pt>
    <dgm:pt modelId="{4B457E9B-160B-4214-AEDA-89CA25EC0186}" type="sibTrans" cxnId="{4873A9B2-79F1-4972-88DB-FC1989DBD704}">
      <dgm:prSet/>
      <dgm:spPr/>
      <dgm:t>
        <a:bodyPr/>
        <a:lstStyle/>
        <a:p>
          <a:endParaRPr lang="en-US"/>
        </a:p>
      </dgm:t>
    </dgm:pt>
    <dgm:pt modelId="{7B893216-8BC7-4B0A-904D-E2A5854C8364}">
      <dgm:prSet/>
      <dgm:spPr/>
      <dgm:t>
        <a:bodyPr/>
        <a:lstStyle/>
        <a:p>
          <a:r>
            <a:rPr lang="el-GR" dirty="0"/>
            <a:t>Ευκολότερη Διαχείριση</a:t>
          </a:r>
        </a:p>
      </dgm:t>
    </dgm:pt>
    <dgm:pt modelId="{ECED0F42-69AC-4A2B-9FA8-7F3185AA3594}" type="parTrans" cxnId="{9D15CF28-BC76-42C4-A9E6-CF4364615402}">
      <dgm:prSet/>
      <dgm:spPr/>
      <dgm:t>
        <a:bodyPr/>
        <a:lstStyle/>
        <a:p>
          <a:endParaRPr lang="en-US"/>
        </a:p>
      </dgm:t>
    </dgm:pt>
    <dgm:pt modelId="{EB84130C-72A7-4719-840C-73BBDF665428}" type="sibTrans" cxnId="{9D15CF28-BC76-42C4-A9E6-CF4364615402}">
      <dgm:prSet/>
      <dgm:spPr/>
      <dgm:t>
        <a:bodyPr/>
        <a:lstStyle/>
        <a:p>
          <a:endParaRPr lang="en-US"/>
        </a:p>
      </dgm:t>
    </dgm:pt>
    <dgm:pt modelId="{8C528A51-132A-474A-8D41-54516FC2C322}">
      <dgm:prSet/>
      <dgm:spPr/>
      <dgm:t>
        <a:bodyPr/>
        <a:lstStyle/>
        <a:p>
          <a:r>
            <a:rPr lang="el-GR" dirty="0"/>
            <a:t>Επεκτασιμότητα</a:t>
          </a:r>
        </a:p>
      </dgm:t>
    </dgm:pt>
    <dgm:pt modelId="{7E6F9842-CE01-48FF-B6BD-6411AB4E95BB}" type="parTrans" cxnId="{2F68ED31-540E-4FB8-9179-D40786FC91AE}">
      <dgm:prSet/>
      <dgm:spPr/>
      <dgm:t>
        <a:bodyPr/>
        <a:lstStyle/>
        <a:p>
          <a:endParaRPr lang="en-US"/>
        </a:p>
      </dgm:t>
    </dgm:pt>
    <dgm:pt modelId="{0226AF85-B761-44FD-B813-36776937DCC0}" type="sibTrans" cxnId="{2F68ED31-540E-4FB8-9179-D40786FC91AE}">
      <dgm:prSet/>
      <dgm:spPr/>
      <dgm:t>
        <a:bodyPr/>
        <a:lstStyle/>
        <a:p>
          <a:endParaRPr lang="en-US"/>
        </a:p>
      </dgm:t>
    </dgm:pt>
    <dgm:pt modelId="{E7E8E451-D0E5-4E4A-8949-D5618A1C6E2D}">
      <dgm:prSet/>
      <dgm:spPr/>
      <dgm:t>
        <a:bodyPr/>
        <a:lstStyle/>
        <a:p>
          <a:r>
            <a:rPr lang="el-GR" dirty="0"/>
            <a:t>Αποδοτικότητα</a:t>
          </a:r>
        </a:p>
      </dgm:t>
    </dgm:pt>
    <dgm:pt modelId="{FA444A7A-F3B5-433A-B4C8-D8B26C822F9C}" type="parTrans" cxnId="{F712BBCB-CE21-4C4A-AC00-EEB9BA68477F}">
      <dgm:prSet/>
      <dgm:spPr/>
      <dgm:t>
        <a:bodyPr/>
        <a:lstStyle/>
        <a:p>
          <a:endParaRPr lang="en-US"/>
        </a:p>
      </dgm:t>
    </dgm:pt>
    <dgm:pt modelId="{E1E8646D-A6C4-4E70-A6A2-797632907952}" type="sibTrans" cxnId="{F712BBCB-CE21-4C4A-AC00-EEB9BA68477F}">
      <dgm:prSet/>
      <dgm:spPr/>
      <dgm:t>
        <a:bodyPr/>
        <a:lstStyle/>
        <a:p>
          <a:endParaRPr lang="en-US"/>
        </a:p>
      </dgm:t>
    </dgm:pt>
    <dgm:pt modelId="{F18584D7-AC83-4F4A-8150-090459B3F355}">
      <dgm:prSet/>
      <dgm:spPr/>
      <dgm:t>
        <a:bodyPr/>
        <a:lstStyle/>
        <a:p>
          <a:r>
            <a:rPr lang="el-GR" dirty="0"/>
            <a:t>Ενσωμάτωση Υπαρχόντων Εφαρμογών</a:t>
          </a:r>
        </a:p>
      </dgm:t>
    </dgm:pt>
    <dgm:pt modelId="{C8CC068D-413F-4BF5-8981-69A62A3F8719}" type="parTrans" cxnId="{63290284-7489-41A7-B7CB-A0FBCD3DAC0A}">
      <dgm:prSet/>
      <dgm:spPr/>
      <dgm:t>
        <a:bodyPr/>
        <a:lstStyle/>
        <a:p>
          <a:endParaRPr lang="en-US"/>
        </a:p>
      </dgm:t>
    </dgm:pt>
    <dgm:pt modelId="{8548FA59-8C50-4FFE-96BB-AED818866F63}" type="sibTrans" cxnId="{63290284-7489-41A7-B7CB-A0FBCD3DAC0A}">
      <dgm:prSet/>
      <dgm:spPr/>
      <dgm:t>
        <a:bodyPr/>
        <a:lstStyle/>
        <a:p>
          <a:endParaRPr lang="en-US"/>
        </a:p>
      </dgm:t>
    </dgm:pt>
    <dgm:pt modelId="{764626B5-5848-48CC-8BF4-1B2DC46FB79C}">
      <dgm:prSet/>
      <dgm:spPr/>
      <dgm:t>
        <a:bodyPr/>
        <a:lstStyle/>
        <a:p>
          <a:r>
            <a:rPr lang="el-GR" dirty="0"/>
            <a:t>Ευέλικτα Επιχειρηματικά Μοντέλα</a:t>
          </a:r>
        </a:p>
      </dgm:t>
    </dgm:pt>
    <dgm:pt modelId="{AC1E6F37-1AF5-42F8-BAF5-C79FB5E9D81C}" type="parTrans" cxnId="{D395472C-BE74-4877-8FB1-4582C2AC571D}">
      <dgm:prSet/>
      <dgm:spPr/>
      <dgm:t>
        <a:bodyPr/>
        <a:lstStyle/>
        <a:p>
          <a:endParaRPr lang="en-US"/>
        </a:p>
      </dgm:t>
    </dgm:pt>
    <dgm:pt modelId="{43F07D2B-591B-4638-89F0-276E62A32C48}" type="sibTrans" cxnId="{D395472C-BE74-4877-8FB1-4582C2AC571D}">
      <dgm:prSet/>
      <dgm:spPr/>
      <dgm:t>
        <a:bodyPr/>
        <a:lstStyle/>
        <a:p>
          <a:endParaRPr lang="en-US"/>
        </a:p>
      </dgm:t>
    </dgm:pt>
    <dgm:pt modelId="{1708507F-57F3-4254-8209-1B0480A26E8F}" type="pres">
      <dgm:prSet presAssocID="{45E948C7-A045-4071-B928-CC2076E0CD4D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166E9C3-3612-4F5E-A208-87DFD3E0C08E}" type="pres">
      <dgm:prSet presAssocID="{45E948C7-A045-4071-B928-CC2076E0CD4D}" presName="cycle" presStyleCnt="0"/>
      <dgm:spPr/>
    </dgm:pt>
    <dgm:pt modelId="{2BD527CA-00D6-4CFF-B0DC-606E0D7BB4AA}" type="pres">
      <dgm:prSet presAssocID="{C020ACCC-F332-40FC-A138-AF1AB76C37C6}" presName="nodeFirs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35F6776-FFCC-4B10-A64B-46E02E8DD184}" type="pres">
      <dgm:prSet presAssocID="{4B457E9B-160B-4214-AEDA-89CA25EC0186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9431CAA6-2240-4C78-AB2E-1A704FBCE055}" type="pres">
      <dgm:prSet presAssocID="{7B893216-8BC7-4B0A-904D-E2A5854C8364}" presName="nodeFollowingNodes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FAE97F5-0562-438A-B932-9BFE8970F363}" type="pres">
      <dgm:prSet presAssocID="{E7E8E451-D0E5-4E4A-8949-D5618A1C6E2D}" presName="nodeFollowingNodes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012E1C-DF5D-4877-9126-B52410ADA6A0}" type="pres">
      <dgm:prSet presAssocID="{8C528A51-132A-474A-8D41-54516FC2C322}" presName="nodeFollowingNodes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06CFDC-7990-47A5-B899-CC14118F60B4}" type="pres">
      <dgm:prSet presAssocID="{F18584D7-AC83-4F4A-8150-090459B3F355}" presName="nodeFollowingNodes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53047AF-09C8-494F-A290-18F8BAAD2A83}" type="pres">
      <dgm:prSet presAssocID="{764626B5-5848-48CC-8BF4-1B2DC46FB79C}" presName="nodeFollowingNodes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F68ED31-540E-4FB8-9179-D40786FC91AE}" srcId="{45E948C7-A045-4071-B928-CC2076E0CD4D}" destId="{8C528A51-132A-474A-8D41-54516FC2C322}" srcOrd="3" destOrd="0" parTransId="{7E6F9842-CE01-48FF-B6BD-6411AB4E95BB}" sibTransId="{0226AF85-B761-44FD-B813-36776937DCC0}"/>
    <dgm:cxn modelId="{9D15CF28-BC76-42C4-A9E6-CF4364615402}" srcId="{45E948C7-A045-4071-B928-CC2076E0CD4D}" destId="{7B893216-8BC7-4B0A-904D-E2A5854C8364}" srcOrd="1" destOrd="0" parTransId="{ECED0F42-69AC-4A2B-9FA8-7F3185AA3594}" sibTransId="{EB84130C-72A7-4719-840C-73BBDF665428}"/>
    <dgm:cxn modelId="{FE136A42-AEA7-48EE-BFE9-008BD2FB535F}" type="presOf" srcId="{7B893216-8BC7-4B0A-904D-E2A5854C8364}" destId="{9431CAA6-2240-4C78-AB2E-1A704FBCE055}" srcOrd="0" destOrd="0" presId="urn:microsoft.com/office/officeart/2005/8/layout/cycle3"/>
    <dgm:cxn modelId="{7B7FD231-F147-40E5-8684-13DC1855ADAA}" type="presOf" srcId="{4B457E9B-160B-4214-AEDA-89CA25EC0186}" destId="{E35F6776-FFCC-4B10-A64B-46E02E8DD184}" srcOrd="0" destOrd="0" presId="urn:microsoft.com/office/officeart/2005/8/layout/cycle3"/>
    <dgm:cxn modelId="{D395472C-BE74-4877-8FB1-4582C2AC571D}" srcId="{45E948C7-A045-4071-B928-CC2076E0CD4D}" destId="{764626B5-5848-48CC-8BF4-1B2DC46FB79C}" srcOrd="5" destOrd="0" parTransId="{AC1E6F37-1AF5-42F8-BAF5-C79FB5E9D81C}" sibTransId="{43F07D2B-591B-4638-89F0-276E62A32C48}"/>
    <dgm:cxn modelId="{63290284-7489-41A7-B7CB-A0FBCD3DAC0A}" srcId="{45E948C7-A045-4071-B928-CC2076E0CD4D}" destId="{F18584D7-AC83-4F4A-8150-090459B3F355}" srcOrd="4" destOrd="0" parTransId="{C8CC068D-413F-4BF5-8981-69A62A3F8719}" sibTransId="{8548FA59-8C50-4FFE-96BB-AED818866F63}"/>
    <dgm:cxn modelId="{67695176-EE22-458D-AF62-B3B2CD2B4E76}" type="presOf" srcId="{764626B5-5848-48CC-8BF4-1B2DC46FB79C}" destId="{153047AF-09C8-494F-A290-18F8BAAD2A83}" srcOrd="0" destOrd="0" presId="urn:microsoft.com/office/officeart/2005/8/layout/cycle3"/>
    <dgm:cxn modelId="{4873A9B2-79F1-4972-88DB-FC1989DBD704}" srcId="{45E948C7-A045-4071-B928-CC2076E0CD4D}" destId="{C020ACCC-F332-40FC-A138-AF1AB76C37C6}" srcOrd="0" destOrd="0" parTransId="{C4F58D41-EE5D-4F33-8A91-052DA25AD66D}" sibTransId="{4B457E9B-160B-4214-AEDA-89CA25EC0186}"/>
    <dgm:cxn modelId="{46839468-1BF2-4169-BA60-6B655A1D958A}" type="presOf" srcId="{8C528A51-132A-474A-8D41-54516FC2C322}" destId="{18012E1C-DF5D-4877-9126-B52410ADA6A0}" srcOrd="0" destOrd="0" presId="urn:microsoft.com/office/officeart/2005/8/layout/cycle3"/>
    <dgm:cxn modelId="{F712BBCB-CE21-4C4A-AC00-EEB9BA68477F}" srcId="{45E948C7-A045-4071-B928-CC2076E0CD4D}" destId="{E7E8E451-D0E5-4E4A-8949-D5618A1C6E2D}" srcOrd="2" destOrd="0" parTransId="{FA444A7A-F3B5-433A-B4C8-D8B26C822F9C}" sibTransId="{E1E8646D-A6C4-4E70-A6A2-797632907952}"/>
    <dgm:cxn modelId="{69FA6850-386E-4743-83D6-9B57C715B089}" type="presOf" srcId="{E7E8E451-D0E5-4E4A-8949-D5618A1C6E2D}" destId="{1FAE97F5-0562-438A-B932-9BFE8970F363}" srcOrd="0" destOrd="0" presId="urn:microsoft.com/office/officeart/2005/8/layout/cycle3"/>
    <dgm:cxn modelId="{CE0655C6-1E97-470C-8134-7CF230DF1EDA}" type="presOf" srcId="{45E948C7-A045-4071-B928-CC2076E0CD4D}" destId="{1708507F-57F3-4254-8209-1B0480A26E8F}" srcOrd="0" destOrd="0" presId="urn:microsoft.com/office/officeart/2005/8/layout/cycle3"/>
    <dgm:cxn modelId="{A0BD67FF-28FA-4A7E-885E-64A04DB2C2A0}" type="presOf" srcId="{F18584D7-AC83-4F4A-8150-090459B3F355}" destId="{6406CFDC-7990-47A5-B899-CC14118F60B4}" srcOrd="0" destOrd="0" presId="urn:microsoft.com/office/officeart/2005/8/layout/cycle3"/>
    <dgm:cxn modelId="{7AA22A6E-AADB-4901-97CD-1E846393893B}" type="presOf" srcId="{C020ACCC-F332-40FC-A138-AF1AB76C37C6}" destId="{2BD527CA-00D6-4CFF-B0DC-606E0D7BB4AA}" srcOrd="0" destOrd="0" presId="urn:microsoft.com/office/officeart/2005/8/layout/cycle3"/>
    <dgm:cxn modelId="{978B0C77-12B8-4A7D-B02F-B891529DC729}" type="presParOf" srcId="{1708507F-57F3-4254-8209-1B0480A26E8F}" destId="{8166E9C3-3612-4F5E-A208-87DFD3E0C08E}" srcOrd="0" destOrd="0" presId="urn:microsoft.com/office/officeart/2005/8/layout/cycle3"/>
    <dgm:cxn modelId="{3962E53D-1600-43B0-8AB9-4A3D25A74F30}" type="presParOf" srcId="{8166E9C3-3612-4F5E-A208-87DFD3E0C08E}" destId="{2BD527CA-00D6-4CFF-B0DC-606E0D7BB4AA}" srcOrd="0" destOrd="0" presId="urn:microsoft.com/office/officeart/2005/8/layout/cycle3"/>
    <dgm:cxn modelId="{0A678CF5-D96B-4E75-964C-8F382F138510}" type="presParOf" srcId="{8166E9C3-3612-4F5E-A208-87DFD3E0C08E}" destId="{E35F6776-FFCC-4B10-A64B-46E02E8DD184}" srcOrd="1" destOrd="0" presId="urn:microsoft.com/office/officeart/2005/8/layout/cycle3"/>
    <dgm:cxn modelId="{DA143518-E4B5-4D3E-BE7D-29E684123602}" type="presParOf" srcId="{8166E9C3-3612-4F5E-A208-87DFD3E0C08E}" destId="{9431CAA6-2240-4C78-AB2E-1A704FBCE055}" srcOrd="2" destOrd="0" presId="urn:microsoft.com/office/officeart/2005/8/layout/cycle3"/>
    <dgm:cxn modelId="{3CA0628E-E0AA-4A26-94B9-023BE246A620}" type="presParOf" srcId="{8166E9C3-3612-4F5E-A208-87DFD3E0C08E}" destId="{1FAE97F5-0562-438A-B932-9BFE8970F363}" srcOrd="3" destOrd="0" presId="urn:microsoft.com/office/officeart/2005/8/layout/cycle3"/>
    <dgm:cxn modelId="{5A600B0C-8AB0-4F9B-B637-C6FAC3AE4170}" type="presParOf" srcId="{8166E9C3-3612-4F5E-A208-87DFD3E0C08E}" destId="{18012E1C-DF5D-4877-9126-B52410ADA6A0}" srcOrd="4" destOrd="0" presId="urn:microsoft.com/office/officeart/2005/8/layout/cycle3"/>
    <dgm:cxn modelId="{3F9A62F6-CA76-459A-9AD0-1A45B0A6D86D}" type="presParOf" srcId="{8166E9C3-3612-4F5E-A208-87DFD3E0C08E}" destId="{6406CFDC-7990-47A5-B899-CC14118F60B4}" srcOrd="5" destOrd="0" presId="urn:microsoft.com/office/officeart/2005/8/layout/cycle3"/>
    <dgm:cxn modelId="{59D83029-4C5B-41C9-A0C3-FE3DD6290D5A}" type="presParOf" srcId="{8166E9C3-3612-4F5E-A208-87DFD3E0C08E}" destId="{153047AF-09C8-494F-A290-18F8BAAD2A83}" srcOrd="6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71BD2-1AA1-4BFD-A6A0-3B9F40F80820}">
      <dsp:nvSpPr>
        <dsp:cNvPr id="0" name=""/>
        <dsp:cNvSpPr/>
      </dsp:nvSpPr>
      <dsp:spPr>
        <a:xfrm>
          <a:off x="1139350" y="3281"/>
          <a:ext cx="2411304" cy="1205652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lvl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/>
            <a:t>XML Validation</a:t>
          </a:r>
          <a:endParaRPr lang="el-GR" sz="3900" kern="1200" dirty="0"/>
        </a:p>
      </dsp:txBody>
      <dsp:txXfrm>
        <a:off x="1174662" y="38593"/>
        <a:ext cx="2340680" cy="1135028"/>
      </dsp:txXfrm>
    </dsp:sp>
    <dsp:sp modelId="{8364332A-4BEA-45A9-9A11-F0891F2876A7}">
      <dsp:nvSpPr>
        <dsp:cNvPr id="0" name=""/>
        <dsp:cNvSpPr/>
      </dsp:nvSpPr>
      <dsp:spPr>
        <a:xfrm>
          <a:off x="1380481" y="1208934"/>
          <a:ext cx="241130" cy="904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239"/>
              </a:lnTo>
              <a:lnTo>
                <a:pt x="241130" y="9042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6EB57F-E3AD-44A5-83BF-21D83B818776}">
      <dsp:nvSpPr>
        <dsp:cNvPr id="0" name=""/>
        <dsp:cNvSpPr/>
      </dsp:nvSpPr>
      <dsp:spPr>
        <a:xfrm>
          <a:off x="1621611" y="1510347"/>
          <a:ext cx="1929043" cy="12056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DTD</a:t>
          </a:r>
          <a:r>
            <a:rPr lang="en-US" sz="1400" kern="1200" dirty="0"/>
            <a:t>: Document Type Definition</a:t>
          </a:r>
          <a:endParaRPr lang="el-GR" sz="14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err="1"/>
            <a:t>Ορίζει</a:t>
          </a:r>
          <a:r>
            <a:rPr lang="en-US" sz="1100" kern="1200" dirty="0"/>
            <a:t> </a:t>
          </a:r>
          <a:r>
            <a:rPr lang="en-US" sz="1100" kern="1200" dirty="0" err="1"/>
            <a:t>την</a:t>
          </a:r>
          <a:r>
            <a:rPr lang="en-US" sz="1100" kern="1200" dirty="0"/>
            <a:t> </a:t>
          </a:r>
          <a:r>
            <a:rPr lang="en-US" sz="1100" kern="1200" dirty="0" err="1"/>
            <a:t>αποδεκτή</a:t>
          </a:r>
          <a:r>
            <a:rPr lang="en-US" sz="1100" kern="1200" dirty="0"/>
            <a:t> </a:t>
          </a:r>
          <a:r>
            <a:rPr lang="en-US" sz="1100" kern="1200" dirty="0" err="1"/>
            <a:t>δομή</a:t>
          </a:r>
          <a:r>
            <a:rPr lang="en-US" sz="1100" kern="1200" dirty="0"/>
            <a:t> </a:t>
          </a:r>
          <a:r>
            <a:rPr lang="en-US" sz="1100" kern="1200" dirty="0" err="1"/>
            <a:t>των</a:t>
          </a:r>
          <a:r>
            <a:rPr lang="en-US" sz="1100" kern="1200" dirty="0"/>
            <a:t> tags </a:t>
          </a:r>
          <a:r>
            <a:rPr lang="en-US" sz="1100" kern="1200" dirty="0" err="1"/>
            <a:t>για</a:t>
          </a:r>
          <a:r>
            <a:rPr lang="en-US" sz="1100" kern="1200" dirty="0"/>
            <a:t> </a:t>
          </a:r>
          <a:r>
            <a:rPr lang="en-US" sz="1100" kern="1200" dirty="0" err="1"/>
            <a:t>ένα</a:t>
          </a:r>
          <a:r>
            <a:rPr lang="en-US" sz="1100" kern="1200" dirty="0"/>
            <a:t> </a:t>
          </a:r>
          <a:r>
            <a:rPr lang="en-US" sz="1100" kern="1200" dirty="0" err="1"/>
            <a:t>αρχείο</a:t>
          </a:r>
          <a:endParaRPr lang="en-US" sz="1100" kern="1200" dirty="0"/>
        </a:p>
      </dsp:txBody>
      <dsp:txXfrm>
        <a:off x="1656923" y="1545659"/>
        <a:ext cx="1858419" cy="1135028"/>
      </dsp:txXfrm>
    </dsp:sp>
    <dsp:sp modelId="{55C34078-6A7F-4DAF-903D-E95AF7A38952}">
      <dsp:nvSpPr>
        <dsp:cNvPr id="0" name=""/>
        <dsp:cNvSpPr/>
      </dsp:nvSpPr>
      <dsp:spPr>
        <a:xfrm>
          <a:off x="1380481" y="1208934"/>
          <a:ext cx="241130" cy="2411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1304"/>
              </a:lnTo>
              <a:lnTo>
                <a:pt x="241130" y="24113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AE60EAD-26FB-44CC-8BCB-CCA677FC0553}">
      <dsp:nvSpPr>
        <dsp:cNvPr id="0" name=""/>
        <dsp:cNvSpPr/>
      </dsp:nvSpPr>
      <dsp:spPr>
        <a:xfrm>
          <a:off x="1621611" y="3017412"/>
          <a:ext cx="1929043" cy="12056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XML Schemas</a:t>
          </a:r>
          <a:endParaRPr lang="el-GR" sz="1400" b="1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err="1"/>
            <a:t>Θα</a:t>
          </a:r>
          <a:r>
            <a:rPr lang="en-US" sz="1100" kern="1200" dirty="0"/>
            <a:t> </a:t>
          </a:r>
          <a:r>
            <a:rPr lang="en-US" sz="1100" kern="1200" dirty="0" err="1"/>
            <a:t>αντικαταστήσει</a:t>
          </a:r>
          <a:r>
            <a:rPr lang="en-US" sz="1100" kern="1200" dirty="0"/>
            <a:t> </a:t>
          </a:r>
          <a:r>
            <a:rPr lang="en-US" sz="1100" kern="1200" dirty="0" err="1"/>
            <a:t>εντελώς</a:t>
          </a:r>
          <a:r>
            <a:rPr lang="en-US" sz="1100" kern="1200" dirty="0"/>
            <a:t> </a:t>
          </a:r>
          <a:r>
            <a:rPr lang="en-US" sz="1100" kern="1200" dirty="0" err="1"/>
            <a:t>τα</a:t>
          </a:r>
          <a:r>
            <a:rPr lang="en-US" sz="1100" kern="1200" dirty="0"/>
            <a:t> DTDs, </a:t>
          </a:r>
          <a:endParaRPr lang="el-GR" sz="11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err="1"/>
            <a:t>Αναπτύχθηκε</a:t>
          </a:r>
          <a:r>
            <a:rPr lang="en-US" sz="1100" kern="1200" dirty="0"/>
            <a:t> </a:t>
          </a:r>
          <a:r>
            <a:rPr lang="en-US" sz="1100" kern="1200" dirty="0" err="1"/>
            <a:t>ειδικά</a:t>
          </a:r>
          <a:r>
            <a:rPr lang="en-US" sz="1100" kern="1200" dirty="0"/>
            <a:t> </a:t>
          </a:r>
          <a:r>
            <a:rPr lang="en-US" sz="1100" kern="1200" dirty="0" err="1"/>
            <a:t>για</a:t>
          </a:r>
          <a:r>
            <a:rPr lang="en-US" sz="1100" kern="1200" dirty="0"/>
            <a:t> </a:t>
          </a:r>
          <a:r>
            <a:rPr lang="en-US" sz="1100" kern="1200" dirty="0" err="1"/>
            <a:t>το</a:t>
          </a:r>
          <a:r>
            <a:rPr lang="en-US" sz="1100" kern="1200" dirty="0"/>
            <a:t> validation </a:t>
          </a:r>
          <a:r>
            <a:rPr lang="en-US" sz="1100" kern="1200" dirty="0" err="1"/>
            <a:t>του</a:t>
          </a:r>
          <a:r>
            <a:rPr lang="en-US" sz="1100" kern="1200" dirty="0"/>
            <a:t>  XML</a:t>
          </a:r>
          <a:endParaRPr lang="el-GR" sz="1100" kern="1200" dirty="0"/>
        </a:p>
      </dsp:txBody>
      <dsp:txXfrm>
        <a:off x="1656923" y="3052724"/>
        <a:ext cx="1858419" cy="1135028"/>
      </dsp:txXfrm>
    </dsp:sp>
    <dsp:sp modelId="{4521874A-5CED-48F2-936D-1678387E82B1}">
      <dsp:nvSpPr>
        <dsp:cNvPr id="0" name=""/>
        <dsp:cNvSpPr/>
      </dsp:nvSpPr>
      <dsp:spPr>
        <a:xfrm>
          <a:off x="4153481" y="3281"/>
          <a:ext cx="2411304" cy="1205652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4295" tIns="49530" rIns="74295" bIns="49530" numCol="1" spcCol="1270" anchor="ctr" anchorCtr="0">
          <a:noAutofit/>
        </a:bodyPr>
        <a:lstStyle/>
        <a:p>
          <a:pPr lvl="0" algn="ctr" defTabSz="17335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/>
            <a:t>XML Display</a:t>
          </a:r>
          <a:endParaRPr lang="el-GR" sz="3900" kern="1200" dirty="0"/>
        </a:p>
      </dsp:txBody>
      <dsp:txXfrm>
        <a:off x="4188793" y="38593"/>
        <a:ext cx="2340680" cy="1135028"/>
      </dsp:txXfrm>
    </dsp:sp>
    <dsp:sp modelId="{C54A1499-8F37-4B41-92B6-72235C399BF8}">
      <dsp:nvSpPr>
        <dsp:cNvPr id="0" name=""/>
        <dsp:cNvSpPr/>
      </dsp:nvSpPr>
      <dsp:spPr>
        <a:xfrm>
          <a:off x="4394612" y="1208934"/>
          <a:ext cx="241130" cy="9042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04239"/>
              </a:lnTo>
              <a:lnTo>
                <a:pt x="241130" y="904239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64A5719-2250-4529-B9CF-979CB75A583C}">
      <dsp:nvSpPr>
        <dsp:cNvPr id="0" name=""/>
        <dsp:cNvSpPr/>
      </dsp:nvSpPr>
      <dsp:spPr>
        <a:xfrm>
          <a:off x="4635742" y="1510347"/>
          <a:ext cx="1929043" cy="12056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CSS - Cascading Style Sheets </a:t>
          </a:r>
          <a:endParaRPr lang="el-GR" sz="14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err="1"/>
            <a:t>Υπέρ</a:t>
          </a:r>
          <a:r>
            <a:rPr lang="en-US" sz="1100" kern="1200" dirty="0"/>
            <a:t>: </a:t>
          </a:r>
          <a:r>
            <a:rPr lang="en-US" sz="1100" kern="1200" dirty="0" err="1"/>
            <a:t>εύκολος</a:t>
          </a:r>
          <a:r>
            <a:rPr lang="en-US" sz="1100" kern="1200" dirty="0"/>
            <a:t> </a:t>
          </a:r>
          <a:r>
            <a:rPr lang="en-US" sz="1100" kern="1200" dirty="0" err="1"/>
            <a:t>ορισμός</a:t>
          </a:r>
          <a:r>
            <a:rPr lang="en-US" sz="1100" kern="1200" dirty="0"/>
            <a:t> </a:t>
          </a:r>
          <a:r>
            <a:rPr lang="en-US" sz="1100" kern="1200" dirty="0" err="1"/>
            <a:t>ιδιοτήτων</a:t>
          </a:r>
          <a:r>
            <a:rPr lang="en-US" sz="1100" kern="1200" dirty="0"/>
            <a:t> </a:t>
          </a:r>
          <a:r>
            <a:rPr lang="en-US" sz="1100" kern="1200" dirty="0" err="1"/>
            <a:t>εμφάνισης</a:t>
          </a:r>
          <a:r>
            <a:rPr lang="en-US" sz="1100" kern="1200" dirty="0"/>
            <a:t> </a:t>
          </a:r>
          <a:r>
            <a:rPr lang="en-US" sz="1100" kern="1200" dirty="0" err="1"/>
            <a:t>ενός</a:t>
          </a:r>
          <a:r>
            <a:rPr lang="en-US" sz="1100" kern="1200" dirty="0"/>
            <a:t> XML element</a:t>
          </a:r>
          <a:endParaRPr lang="el-GR" sz="11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err="1"/>
            <a:t>Μόνο</a:t>
          </a:r>
          <a:r>
            <a:rPr lang="en-US" sz="1100" kern="1200" dirty="0"/>
            <a:t> </a:t>
          </a:r>
          <a:r>
            <a:rPr lang="en-US" sz="1100" kern="1200" dirty="0" err="1"/>
            <a:t>για</a:t>
          </a:r>
          <a:r>
            <a:rPr lang="en-US" sz="1100" kern="1200" dirty="0"/>
            <a:t> </a:t>
          </a:r>
          <a:r>
            <a:rPr lang="en-US" sz="1100" kern="1200" dirty="0" err="1"/>
            <a:t>τα</a:t>
          </a:r>
          <a:r>
            <a:rPr lang="en-US" sz="1100" kern="1200" dirty="0"/>
            <a:t> Web browser</a:t>
          </a:r>
          <a:endParaRPr lang="el-GR" sz="1100" kern="1200" dirty="0"/>
        </a:p>
      </dsp:txBody>
      <dsp:txXfrm>
        <a:off x="4671054" y="1545659"/>
        <a:ext cx="1858419" cy="1135028"/>
      </dsp:txXfrm>
    </dsp:sp>
    <dsp:sp modelId="{3E19C15C-3CE7-4437-9087-ED7A34E33B51}">
      <dsp:nvSpPr>
        <dsp:cNvPr id="0" name=""/>
        <dsp:cNvSpPr/>
      </dsp:nvSpPr>
      <dsp:spPr>
        <a:xfrm>
          <a:off x="4394612" y="1208934"/>
          <a:ext cx="241130" cy="24113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11304"/>
              </a:lnTo>
              <a:lnTo>
                <a:pt x="241130" y="241130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033C07-81EB-47D5-B69B-67FF4D27DA18}">
      <dsp:nvSpPr>
        <dsp:cNvPr id="0" name=""/>
        <dsp:cNvSpPr/>
      </dsp:nvSpPr>
      <dsp:spPr>
        <a:xfrm>
          <a:off x="4635742" y="3017412"/>
          <a:ext cx="1929043" cy="120565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17780" rIns="26670" bIns="1778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XSL – Extensible </a:t>
          </a:r>
          <a:r>
            <a:rPr lang="en-US" sz="1400" kern="1200" dirty="0" err="1"/>
            <a:t>Stylesheet</a:t>
          </a:r>
          <a:r>
            <a:rPr lang="en-US" sz="1400" kern="1200" dirty="0"/>
            <a:t> Language</a:t>
          </a:r>
          <a:endParaRPr lang="el-GR" sz="1400" kern="1200" dirty="0"/>
        </a:p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err="1"/>
            <a:t>Ένα</a:t>
          </a:r>
          <a:r>
            <a:rPr lang="en-US" sz="1100" kern="1200" dirty="0"/>
            <a:t> </a:t>
          </a:r>
          <a:r>
            <a:rPr lang="en-US" sz="1100" kern="1200" dirty="0" err="1"/>
            <a:t>σύνολο</a:t>
          </a:r>
          <a:r>
            <a:rPr lang="en-US" sz="1100" kern="1200" dirty="0"/>
            <a:t> </a:t>
          </a:r>
          <a:r>
            <a:rPr lang="en-US" sz="1100" kern="1200" dirty="0" err="1"/>
            <a:t>κανόνων</a:t>
          </a:r>
          <a:r>
            <a:rPr lang="en-US" sz="1100" kern="1200" dirty="0"/>
            <a:t> </a:t>
          </a:r>
          <a:r>
            <a:rPr lang="en-US" sz="1100" kern="1200" dirty="0" err="1"/>
            <a:t>για</a:t>
          </a:r>
          <a:r>
            <a:rPr lang="en-US" sz="1100" kern="1200" dirty="0"/>
            <a:t> </a:t>
          </a:r>
          <a:r>
            <a:rPr lang="en-US" sz="1100" kern="1200" dirty="0" err="1"/>
            <a:t>την</a:t>
          </a:r>
          <a:r>
            <a:rPr lang="en-US" sz="1100" kern="1200" dirty="0"/>
            <a:t> </a:t>
          </a:r>
          <a:r>
            <a:rPr lang="en-US" sz="1100" kern="1200" dirty="0" err="1"/>
            <a:t>παρουσίαση</a:t>
          </a:r>
          <a:r>
            <a:rPr lang="en-US" sz="1100" kern="1200" dirty="0"/>
            <a:t> </a:t>
          </a:r>
          <a:r>
            <a:rPr lang="en-US" sz="1100" kern="1200" dirty="0" err="1"/>
            <a:t>ενός</a:t>
          </a:r>
          <a:r>
            <a:rPr lang="en-US" sz="1100" kern="1200" dirty="0"/>
            <a:t> XML ή </a:t>
          </a:r>
          <a:r>
            <a:rPr lang="en-US" sz="1100" kern="1200" dirty="0" err="1"/>
            <a:t>τον</a:t>
          </a:r>
          <a:r>
            <a:rPr lang="en-US" sz="1100" kern="1200" dirty="0"/>
            <a:t> </a:t>
          </a:r>
          <a:r>
            <a:rPr lang="en-US" sz="1100" kern="1200" dirty="0" err="1"/>
            <a:t>μετασχηματισμό</a:t>
          </a:r>
          <a:r>
            <a:rPr lang="en-US" sz="1100" kern="1200" dirty="0"/>
            <a:t> </a:t>
          </a:r>
          <a:r>
            <a:rPr lang="en-US" sz="1100" kern="1200" dirty="0" err="1"/>
            <a:t>του</a:t>
          </a:r>
          <a:r>
            <a:rPr lang="en-US" sz="1100" kern="1200" dirty="0"/>
            <a:t> </a:t>
          </a:r>
          <a:r>
            <a:rPr lang="en-US" sz="1100" kern="1200" dirty="0" err="1"/>
            <a:t>σε</a:t>
          </a:r>
          <a:r>
            <a:rPr lang="en-US" sz="1100" kern="1200" dirty="0"/>
            <a:t> </a:t>
          </a:r>
          <a:r>
            <a:rPr lang="en-US" sz="1100" kern="1200" dirty="0" err="1"/>
            <a:t>ένα</a:t>
          </a:r>
          <a:r>
            <a:rPr lang="en-US" sz="1100" kern="1200" dirty="0"/>
            <a:t> </a:t>
          </a:r>
          <a:r>
            <a:rPr lang="en-US" sz="1100" kern="1200" dirty="0" err="1"/>
            <a:t>άλλο</a:t>
          </a:r>
          <a:r>
            <a:rPr lang="en-US" sz="1100" kern="1200" dirty="0"/>
            <a:t>. </a:t>
          </a:r>
          <a:endParaRPr lang="el-GR" sz="1100" kern="1200" dirty="0"/>
        </a:p>
      </dsp:txBody>
      <dsp:txXfrm>
        <a:off x="4671054" y="3052724"/>
        <a:ext cx="1858419" cy="1135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5F6776-FFCC-4B10-A64B-46E02E8DD184}">
      <dsp:nvSpPr>
        <dsp:cNvPr id="0" name=""/>
        <dsp:cNvSpPr/>
      </dsp:nvSpPr>
      <dsp:spPr>
        <a:xfrm>
          <a:off x="125261" y="467233"/>
          <a:ext cx="3997627" cy="3997627"/>
        </a:xfrm>
        <a:prstGeom prst="circularArrow">
          <a:avLst>
            <a:gd name="adj1" fmla="val 5274"/>
            <a:gd name="adj2" fmla="val 312630"/>
            <a:gd name="adj3" fmla="val 14323296"/>
            <a:gd name="adj4" fmla="val 17071544"/>
            <a:gd name="adj5" fmla="val 5477"/>
          </a:avLst>
        </a:prstGeom>
        <a:solidFill>
          <a:schemeClr val="accent2">
            <a:tint val="5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D527CA-00D6-4CFF-B0DC-606E0D7BB4AA}">
      <dsp:nvSpPr>
        <dsp:cNvPr id="0" name=""/>
        <dsp:cNvSpPr/>
      </dsp:nvSpPr>
      <dsp:spPr>
        <a:xfrm>
          <a:off x="1405332" y="473941"/>
          <a:ext cx="1437484" cy="71874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sz="1300" kern="1200" dirty="0"/>
            <a:t>Ελαστική Αρχιτεκτονική</a:t>
          </a:r>
          <a:endParaRPr lang="en-US" sz="1300" kern="1200" dirty="0"/>
        </a:p>
      </dsp:txBody>
      <dsp:txXfrm>
        <a:off x="1440418" y="509027"/>
        <a:ext cx="1367312" cy="648570"/>
      </dsp:txXfrm>
    </dsp:sp>
    <dsp:sp modelId="{9431CAA6-2240-4C78-AB2E-1A704FBCE055}">
      <dsp:nvSpPr>
        <dsp:cNvPr id="0" name=""/>
        <dsp:cNvSpPr/>
      </dsp:nvSpPr>
      <dsp:spPr>
        <a:xfrm>
          <a:off x="2809814" y="1284819"/>
          <a:ext cx="1437484" cy="71874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123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sz="1300" kern="1200" dirty="0"/>
            <a:t>Ευκολότερη Διαχείριση</a:t>
          </a:r>
        </a:p>
      </dsp:txBody>
      <dsp:txXfrm>
        <a:off x="2844900" y="1319905"/>
        <a:ext cx="1367312" cy="648570"/>
      </dsp:txXfrm>
    </dsp:sp>
    <dsp:sp modelId="{1FAE97F5-0562-438A-B932-9BFE8970F363}">
      <dsp:nvSpPr>
        <dsp:cNvPr id="0" name=""/>
        <dsp:cNvSpPr/>
      </dsp:nvSpPr>
      <dsp:spPr>
        <a:xfrm>
          <a:off x="2809814" y="2906575"/>
          <a:ext cx="1437484" cy="71874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247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sz="1300" kern="1200" dirty="0"/>
            <a:t>Αποδοτικότητα</a:t>
          </a:r>
        </a:p>
      </dsp:txBody>
      <dsp:txXfrm>
        <a:off x="2844900" y="2941661"/>
        <a:ext cx="1367312" cy="648570"/>
      </dsp:txXfrm>
    </dsp:sp>
    <dsp:sp modelId="{18012E1C-DF5D-4877-9126-B52410ADA6A0}">
      <dsp:nvSpPr>
        <dsp:cNvPr id="0" name=""/>
        <dsp:cNvSpPr/>
      </dsp:nvSpPr>
      <dsp:spPr>
        <a:xfrm>
          <a:off x="1405332" y="3717452"/>
          <a:ext cx="1437484" cy="71874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371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sz="1300" kern="1200" dirty="0"/>
            <a:t>Επεκτασιμότητα</a:t>
          </a:r>
        </a:p>
      </dsp:txBody>
      <dsp:txXfrm>
        <a:off x="1440418" y="3752538"/>
        <a:ext cx="1367312" cy="648570"/>
      </dsp:txXfrm>
    </dsp:sp>
    <dsp:sp modelId="{6406CFDC-7990-47A5-B899-CC14118F60B4}">
      <dsp:nvSpPr>
        <dsp:cNvPr id="0" name=""/>
        <dsp:cNvSpPr/>
      </dsp:nvSpPr>
      <dsp:spPr>
        <a:xfrm>
          <a:off x="851" y="2906575"/>
          <a:ext cx="1437484" cy="71874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2479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sz="1300" kern="1200" dirty="0"/>
            <a:t>Ενσωμάτωση Υπαρχόντων Εφαρμογών</a:t>
          </a:r>
        </a:p>
      </dsp:txBody>
      <dsp:txXfrm>
        <a:off x="35937" y="2941661"/>
        <a:ext cx="1367312" cy="648570"/>
      </dsp:txXfrm>
    </dsp:sp>
    <dsp:sp modelId="{153047AF-09C8-494F-A290-18F8BAAD2A83}">
      <dsp:nvSpPr>
        <dsp:cNvPr id="0" name=""/>
        <dsp:cNvSpPr/>
      </dsp:nvSpPr>
      <dsp:spPr>
        <a:xfrm>
          <a:off x="851" y="1284819"/>
          <a:ext cx="1437484" cy="718742"/>
        </a:xfrm>
        <a:prstGeom prst="roundRect">
          <a:avLst/>
        </a:prstGeom>
        <a:solidFill>
          <a:schemeClr val="accent2">
            <a:shade val="50000"/>
            <a:hueOff val="0"/>
            <a:satOff val="0"/>
            <a:lumOff val="1239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l-GR" sz="1300" kern="1200" dirty="0"/>
            <a:t>Ευέλικτα Επιχειρηματικά Μοντέλα</a:t>
          </a:r>
        </a:p>
      </dsp:txBody>
      <dsp:txXfrm>
        <a:off x="35937" y="1319905"/>
        <a:ext cx="1367312" cy="6485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Times New Roman" charset="0"/>
                <a:ea typeface="ヒラギノ明朝 ProN W3" charset="0"/>
                <a:cs typeface="ヒラギノ明朝 ProN W3" charset="0"/>
                <a:sym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Times New Roman" charset="0"/>
                <a:ea typeface="ヒラギノ明朝 ProN W3" charset="0"/>
                <a:cs typeface="ヒラギノ明朝 ProN W3" charset="0"/>
                <a:sym typeface="Times New Roman" charset="0"/>
              </a:defRPr>
            </a:lvl1pPr>
          </a:lstStyle>
          <a:p>
            <a:pPr>
              <a:defRPr/>
            </a:pPr>
            <a:fld id="{2B4C052B-7DEA-4FF9-9256-30CF8A2016C9}" type="datetimeFigureOut">
              <a:rPr lang="el-GR"/>
              <a:pPr>
                <a:defRPr/>
              </a:pPr>
              <a:t>19/2/2026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Times New Roman" charset="0"/>
                <a:ea typeface="ヒラギノ明朝 ProN W3" charset="0"/>
                <a:cs typeface="ヒラギノ明朝 ProN W3" charset="0"/>
                <a:sym typeface="Times New Roman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ヒラギノ明朝 ProN W3"/>
                <a:cs typeface="ヒラギノ明朝 ProN W3"/>
              </a:defRPr>
            </a:lvl1pPr>
          </a:lstStyle>
          <a:p>
            <a:pPr>
              <a:defRPr/>
            </a:pPr>
            <a:fld id="{CF2606A4-C178-498E-8FA9-B56AACE4FB9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99513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l-GR" altLang="en-US"/>
          </a:p>
        </p:txBody>
      </p:sp>
      <p:sp>
        <p:nvSpPr>
          <p:cNvPr id="593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8287F3C9-0E0B-4CDD-85C1-B0F60D1CA661}" type="slidenum">
              <a:rPr lang="en-US" altLang="en-US" smtClean="0">
                <a:solidFill>
                  <a:srgbClr val="000000"/>
                </a:solidFill>
                <a:latin typeface="Times New Roman" pitchFamily="18" charset="0"/>
                <a:ea typeface="ヒラギノ角ゴ ProN W3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solidFill>
                <a:srgbClr val="000000"/>
              </a:solidFill>
              <a:latin typeface="Times New Roman" pitchFamily="18" charset="0"/>
              <a:ea typeface="ヒラギノ角ゴ ProN W3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F2606A4-C178-498E-8FA9-B56AACE4FB9C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562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7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28925" y="3860800"/>
            <a:ext cx="6092837" cy="213996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6045304-3979-4F87-925D-4CB7D24C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164EDF0-A9A6-491C-A1DA-ADFBD0935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 altLang="en-US"/>
              <a:t>Διαδίκτυο και Εφαρμογές</a:t>
            </a: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A4E7D74-CEC9-4C16-BF3E-091EAAB1B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378834-4E63-46B4-8AE3-1C899240BB79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7446423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26D9F4E-0F3C-4F8D-B89C-0006065E7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716A89F-B54B-4ACD-9D12-3E293B9E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 altLang="en-US"/>
              <a:t>Διαδίκτυο και Εφαρμογές</a:t>
            </a: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7E0B6FC-BAD1-4FE2-90A7-A7B1F56E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0D6185-9A02-4716-B9C0-043C26D693E4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4315903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DF17A0-3148-48FA-8319-87B3DE617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343A9F-705D-4205-9B33-CBB70E095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1EFD6D7-1563-4912-BA07-5C2699A32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EA57E6-FD06-46CB-9F84-251B7A8BC21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224160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64D6D8A-729A-46D6-A090-FC6E41B47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1152741-E832-44CC-B2E2-36EDC14A4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0932BCC-5C5E-440D-A445-7C61B8F8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EA6C93-DA1C-42C5-9294-FBB9FA7EA81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2856381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638" y="1376363"/>
            <a:ext cx="4248150" cy="49101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5188" y="1376363"/>
            <a:ext cx="4248150" cy="49101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3A32DC69-B36D-4693-ABA7-A3EF2856C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64997955-4909-4DE5-B1A9-76F2D9BE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242770F1-874A-40A6-B9F8-9840E9D7D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EFC484-EF54-4216-A21F-78AB6D3CE6E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0591578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AC4868F4-6ECD-4CE0-8E22-56D300B92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B26B9C52-A24C-4C27-84BD-B7CE2C37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3A7DA76F-A6D7-4DD4-8159-2C01289D7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7A309-A3F5-4C54-8958-007DB20E9CB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21699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F45EA61-3887-438A-B085-00136EBF1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4D0763D-F511-4637-AAEB-47ED623A1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33CEFD-2BF2-48FB-B2B7-12E0A8838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60557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906D1EF-B8C6-4B92-9CE4-FB7B8C3A4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4789A67-5310-43FC-A0F8-C1559B089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AF45025-040A-4CBF-B9E5-C189DFADB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5A5A84-8BA2-4113-ABB7-ED477B2E8DA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6093050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638" y="1376363"/>
            <a:ext cx="4248150" cy="49101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5188" y="1376363"/>
            <a:ext cx="4248150" cy="49101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C62D7F69-4C43-4951-902E-3C391AC8D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EACD4155-B317-44BD-BE44-9BF15F590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11CCCA23-3824-4CA0-AF8E-FDEF7D29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062320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B9F1852B-4E14-46EA-919E-C721C6D34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9352C6EA-2180-4DE1-8D90-EF9B87068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52A4FDFD-A444-4599-BCA3-26D5609D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9757836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>
            <a:extLst>
              <a:ext uri="{FF2B5EF4-FFF2-40B4-BE49-F238E27FC236}">
                <a16:creationId xmlns="" xmlns:a16="http://schemas.microsoft.com/office/drawing/2014/main" id="{CB235F15-9A0F-499F-B71F-9F9593359C55}"/>
              </a:ext>
            </a:extLst>
          </p:cNvPr>
          <p:cNvGrpSpPr>
            <a:grpSpLocks/>
          </p:cNvGrpSpPr>
          <p:nvPr/>
        </p:nvGrpSpPr>
        <p:grpSpPr bwMode="auto">
          <a:xfrm>
            <a:off x="203200" y="0"/>
            <a:ext cx="3778250" cy="6858000"/>
            <a:chOff x="203200" y="0"/>
            <a:chExt cx="3778250" cy="6858001"/>
          </a:xfrm>
        </p:grpSpPr>
        <p:sp>
          <p:nvSpPr>
            <p:cNvPr id="5" name="Freeform 6">
              <a:extLst>
                <a:ext uri="{FF2B5EF4-FFF2-40B4-BE49-F238E27FC236}">
                  <a16:creationId xmlns="" xmlns:a16="http://schemas.microsoft.com/office/drawing/2014/main" id="{02DEE526-B607-4C16-BB32-1C790391D7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>
                <a:gd name="T0" fmla="*/ 0 w 860"/>
                <a:gd name="T1" fmla="*/ 2445 h 2502"/>
                <a:gd name="T2" fmla="*/ 228 w 860"/>
                <a:gd name="T3" fmla="*/ 2502 h 2502"/>
                <a:gd name="T4" fmla="*/ 860 w 860"/>
                <a:gd name="T5" fmla="*/ 0 h 2502"/>
                <a:gd name="T6" fmla="*/ 620 w 860"/>
                <a:gd name="T7" fmla="*/ 0 h 2502"/>
                <a:gd name="T8" fmla="*/ 0 w 860"/>
                <a:gd name="T9" fmla="*/ 2445 h 2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="" xmlns:a16="http://schemas.microsoft.com/office/drawing/2014/main" id="{1C67305F-AA85-4F5A-AF92-49108EAAAF84}"/>
                </a:ext>
              </a:extLst>
            </p:cNvPr>
            <p:cNvSpPr/>
            <p:nvPr/>
          </p:nvSpPr>
          <p:spPr bwMode="auto">
            <a:xfrm>
              <a:off x="203200" y="0"/>
              <a:ext cx="1336675" cy="3862389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7" name="Freeform 8">
              <a:extLst>
                <a:ext uri="{FF2B5EF4-FFF2-40B4-BE49-F238E27FC236}">
                  <a16:creationId xmlns="" xmlns:a16="http://schemas.microsoft.com/office/drawing/2014/main" id="{C26901F8-158F-4908-B305-ACD053DE27B2}"/>
                </a:ext>
              </a:extLst>
            </p:cNvPr>
            <p:cNvSpPr/>
            <p:nvPr/>
          </p:nvSpPr>
          <p:spPr bwMode="auto">
            <a:xfrm>
              <a:off x="207963" y="3776664"/>
              <a:ext cx="1936750" cy="3081337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8" name="Freeform 9">
              <a:extLst>
                <a:ext uri="{FF2B5EF4-FFF2-40B4-BE49-F238E27FC236}">
                  <a16:creationId xmlns="" xmlns:a16="http://schemas.microsoft.com/office/drawing/2014/main" id="{B7F731C3-524F-4227-8069-47138911ECF4}"/>
                </a:ext>
              </a:extLst>
            </p:cNvPr>
            <p:cNvSpPr/>
            <p:nvPr/>
          </p:nvSpPr>
          <p:spPr bwMode="auto">
            <a:xfrm>
              <a:off x="646113" y="3886201"/>
              <a:ext cx="2373312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9" name="Freeform 10">
              <a:extLst>
                <a:ext uri="{FF2B5EF4-FFF2-40B4-BE49-F238E27FC236}">
                  <a16:creationId xmlns="" xmlns:a16="http://schemas.microsoft.com/office/drawing/2014/main" id="{05905AD9-0707-4996-A016-3B97D8FE1610}"/>
                </a:ext>
              </a:extLst>
            </p:cNvPr>
            <p:cNvSpPr/>
            <p:nvPr/>
          </p:nvSpPr>
          <p:spPr bwMode="auto">
            <a:xfrm>
              <a:off x="641350" y="3881439"/>
              <a:ext cx="3340100" cy="2976562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" name="Freeform 11">
              <a:extLst>
                <a:ext uri="{FF2B5EF4-FFF2-40B4-BE49-F238E27FC236}">
                  <a16:creationId xmlns="" xmlns:a16="http://schemas.microsoft.com/office/drawing/2014/main" id="{D1601A4D-4C85-4E2F-8A93-2A991E90BF3A}"/>
                </a:ext>
              </a:extLst>
            </p:cNvPr>
            <p:cNvSpPr/>
            <p:nvPr/>
          </p:nvSpPr>
          <p:spPr bwMode="auto">
            <a:xfrm>
              <a:off x="203200" y="3771901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1" name="Freeform 12">
            <a:extLst>
              <a:ext uri="{FF2B5EF4-FFF2-40B4-BE49-F238E27FC236}">
                <a16:creationId xmlns="" xmlns:a16="http://schemas.microsoft.com/office/drawing/2014/main" id="{97B7D0F7-CE84-49DD-9C3A-28ED68BAB67F}"/>
              </a:ext>
            </a:extLst>
          </p:cNvPr>
          <p:cNvSpPr>
            <a:spLocks/>
          </p:cNvSpPr>
          <p:nvPr/>
        </p:nvSpPr>
        <p:spPr bwMode="auto">
          <a:xfrm>
            <a:off x="203200" y="3771900"/>
            <a:ext cx="361950" cy="90488"/>
          </a:xfrm>
          <a:custGeom>
            <a:avLst/>
            <a:gdLst>
              <a:gd name="T0" fmla="*/ 228 w 228"/>
              <a:gd name="T1" fmla="*/ 57 h 57"/>
              <a:gd name="T2" fmla="*/ 0 w 228"/>
              <a:gd name="T3" fmla="*/ 0 h 57"/>
              <a:gd name="T4" fmla="*/ 222 w 228"/>
              <a:gd name="T5" fmla="*/ 54 h 57"/>
              <a:gd name="T6" fmla="*/ 228 w 228"/>
              <a:gd name="T7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="" xmlns:a16="http://schemas.microsoft.com/office/drawing/2014/main" id="{6F6C8210-75FF-404A-8FAA-68C63E4FBC19}"/>
              </a:ext>
            </a:extLst>
          </p:cNvPr>
          <p:cNvSpPr>
            <a:spLocks/>
          </p:cNvSpPr>
          <p:nvPr/>
        </p:nvSpPr>
        <p:spPr bwMode="auto">
          <a:xfrm>
            <a:off x="560388" y="3867150"/>
            <a:ext cx="61912" cy="80963"/>
          </a:xfrm>
          <a:custGeom>
            <a:avLst/>
            <a:gdLst>
              <a:gd name="T0" fmla="*/ 0 w 39"/>
              <a:gd name="T1" fmla="*/ 0 h 51"/>
              <a:gd name="T2" fmla="*/ 39 w 39"/>
              <a:gd name="T3" fmla="*/ 51 h 51"/>
              <a:gd name="T4" fmla="*/ 3 w 39"/>
              <a:gd name="T5" fmla="*/ 0 h 51"/>
              <a:gd name="T6" fmla="*/ 0 w 39"/>
              <a:gd name="T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="" xmlns:a16="http://schemas.microsoft.com/office/drawing/2014/main" id="{1183A339-687B-49E9-9941-5DC8FB9FB6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6313" y="6116638"/>
            <a:ext cx="85725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" name="Footer Placeholder 4">
            <a:extLst>
              <a:ext uri="{FF2B5EF4-FFF2-40B4-BE49-F238E27FC236}">
                <a16:creationId xmlns="" xmlns:a16="http://schemas.microsoft.com/office/drawing/2014/main" id="{7771DABF-8C47-4103-8A4B-DA1462A2A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4263" y="6116638"/>
            <a:ext cx="36083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="" xmlns:a16="http://schemas.microsoft.com/office/drawing/2014/main" id="{8408078E-E1E1-4AEC-BEF4-D4CD0EFAC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6116638"/>
            <a:ext cx="4111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312951-B302-4A57-884A-9333773B69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18518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CAE79073-1A66-4186-8B80-AA575AA8376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73263" y="6108700"/>
            <a:ext cx="5313362" cy="365125"/>
          </a:xfrm>
        </p:spPr>
        <p:txBody>
          <a:bodyPr/>
          <a:lstStyle>
            <a:lvl1pPr>
              <a:defRPr dirty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CDC1861F-1DC8-4092-9F2A-43DA079551B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258175" y="6108700"/>
            <a:ext cx="4286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21434B-524A-4AB9-924E-A39A4A67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9749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FF36D310-8241-4193-AC0E-BAF3AED4248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F2552642-65AD-40F5-8784-2CE31902F2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429DC8-B8C0-4185-9363-CBAE6001F0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45588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583911B-CD47-41A2-BBDB-C164E2B7496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E95D61-AE4B-468D-8219-A3D73D9BF7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C80DE-FA99-4BE3-91DF-DD172D6ADD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37108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="" xmlns:a16="http://schemas.microsoft.com/office/drawing/2014/main" id="{A6EC4D52-C88A-449B-BE19-DA750F5A597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8" name="Slide Number Placeholder 5">
            <a:extLst>
              <a:ext uri="{FF2B5EF4-FFF2-40B4-BE49-F238E27FC236}">
                <a16:creationId xmlns="" xmlns:a16="http://schemas.microsoft.com/office/drawing/2014/main" id="{EBB3C130-34EB-4F61-9B44-9ACFFD82CB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B566C6-D33D-48C3-9080-1E1B05036C7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63956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8A563E7B-C9CA-4C2B-8AAD-32745472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8BCE36CE-8336-415E-8800-2AC57645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14DF51E-C6DB-4C8C-876A-5C6D065B7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6D0A0-672A-42AF-A4DB-0FE77D8E3E0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4772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9E2FDE74-DEA7-4073-B9D1-BB44F953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378B7FBA-A5DF-48D3-A686-3434B628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726728B-8944-455D-A9F0-801ADF0F5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0CF960-99E4-4AC9-BFAB-889D5040DDA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23013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CEA6FB4-833C-4D64-AAAE-286091C581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D1EC7CD-4B39-4776-862C-E976843C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327A908-32A5-4DEB-ABEF-715C7D9B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B0C476-02C1-4029-9457-C295AEFE523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1918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3BCEA4B-5D3E-469F-82A1-1645AFCB38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3BB50E3-EC5B-4AA0-9118-E094792BF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0906031-7C19-48E2-B0B7-51A48696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79B6E-B7F6-48FB-8D1E-CDE3E51A2F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24234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752E950-90C3-4173-8E6F-A3880C9898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E195C43-D628-4552-AB54-47A88B109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FAC8991-CDBA-4A21-A146-A1EC37506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34F0BF-AD2C-4234-A52E-B5EFF989DC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28331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C7E222-76DD-4FCD-9616-D0D91DD829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7D116256-8CE1-47E7-9E8A-534E19C1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9B5623B-206B-43F2-90F0-9613F1035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53A969-02F2-407D-8CBB-49D0E4435E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2954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F7F35DF-0017-4137-AE3B-C9A283DFBAC7}"/>
              </a:ext>
            </a:extLst>
          </p:cNvPr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0082330-7F5A-4491-A89A-69EE4302F9E9}"/>
              </a:ext>
            </a:extLst>
          </p:cNvPr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DE110D02-2DC0-4BE4-959E-D6E26B593E6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6F50F7DC-807F-45FB-87F3-639D048935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54476DDF-7B1C-4106-8C36-C10766F1EA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4D5FCD-B9F7-43EB-85ED-E11075CA185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630194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44E8A31-FEFB-4ECD-81AB-5B624758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9E34EA-8349-4F40-8CDE-B884C8E7C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04846AC-DDB9-464B-9A16-9AFD300D5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587BBA-012B-4BF7-9770-5239A781F8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154774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A5C2EC30-3F4E-47BD-B330-4C2ECBA64534}"/>
              </a:ext>
            </a:extLst>
          </p:cNvPr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43C7F871-591F-40B5-85DB-CEBB17ABE3CA}"/>
              </a:ext>
            </a:extLst>
          </p:cNvPr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4E9473B7-3893-4B60-8781-CD58D21CD9C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64EAA491-4F19-4E4D-9A2B-6D90738BAA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08EA19D3-A0B3-4241-B3B6-9A22460335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FE4AB-4ECA-4F3B-8E9D-9844A5580A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928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rtlCol="0">
            <a:normAutofit/>
          </a:bodyPr>
          <a:lstStyle>
            <a:lvl1pPr>
              <a:defRPr lang="en-US" b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3E1D36F3-5238-4E73-B1D4-AB6E7290390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1A9547FB-DE0A-45B0-803F-31AADE7F5E6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0E343324-FD2A-4485-8E30-EA4EAF8BEB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3B61A4-52AB-42EF-AE15-E2F1B971CE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7396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B70C94A-287E-4F79-9F4C-87D777234D7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86DD8F9-7451-41AA-9530-24594554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02971A5-114B-4784-8D05-9F808FA9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F85768-D651-44DB-9338-E4F677345D3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45208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721FBE00-802D-4D31-B97D-AA5C4A772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CDF9E83-8C9F-461B-828F-D06029EC5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57AE87A-901B-4921-97E8-E6D4A0AFC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CD51D-0342-42F9-95B3-19AED597858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735080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77C69F0-9B13-4AFA-AF25-44C106D9B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2F52AA9-F75D-40DA-AB32-FBA51C913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2B39388-3AD6-4356-A20F-7ED66D38E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1A8C76-388E-42D9-BA63-0CDF33C05E0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9416716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2D6FACB-0087-487B-BD20-D6E1A4A41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F15E434-D2FE-44E0-8756-C2B9FFE1B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AEB04AD-AA71-4C21-9E7C-10AFBF38F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B74FAD-60D5-4026-BA89-B50CEB54DBC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23297051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74638" y="1376363"/>
            <a:ext cx="4248150" cy="49101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5188" y="1376363"/>
            <a:ext cx="4248150" cy="4910157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0E709ABB-EC3D-49BF-BBF7-E6C58C3A1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522CB5A3-3E85-4E22-A506-E4F19158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809CCBD7-B751-4ED8-8728-168A87344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FD097B-178B-40E7-98DA-0151F3F33E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51749497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="" xmlns:a16="http://schemas.microsoft.com/office/drawing/2014/main" id="{30F6F7EE-6D78-454E-B421-5485BA3E4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7B5F031F-D552-46F9-BD80-8897653A1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DF6027A1-2FC5-4835-868A-235484FF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B3B554-3C8E-4009-B3AA-62663494C83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493618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0">
            <a:extLst>
              <a:ext uri="{FF2B5EF4-FFF2-40B4-BE49-F238E27FC236}">
                <a16:creationId xmlns="" xmlns:a16="http://schemas.microsoft.com/office/drawing/2014/main" id="{081ADEA4-B6A9-4FF9-AB9B-80FD9ED8559F}"/>
              </a:ext>
            </a:extLst>
          </p:cNvPr>
          <p:cNvGrpSpPr>
            <a:grpSpLocks/>
          </p:cNvGrpSpPr>
          <p:nvPr/>
        </p:nvGrpSpPr>
        <p:grpSpPr bwMode="auto">
          <a:xfrm>
            <a:off x="203200" y="0"/>
            <a:ext cx="3778250" cy="6858000"/>
            <a:chOff x="203200" y="0"/>
            <a:chExt cx="3778250" cy="6858001"/>
          </a:xfrm>
        </p:grpSpPr>
        <p:sp>
          <p:nvSpPr>
            <p:cNvPr id="5" name="Freeform 6">
              <a:extLst>
                <a:ext uri="{FF2B5EF4-FFF2-40B4-BE49-F238E27FC236}">
                  <a16:creationId xmlns="" xmlns:a16="http://schemas.microsoft.com/office/drawing/2014/main" id="{CB59CFA4-74F5-4AE7-A1E1-1D8AD917708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>
                <a:gd name="T0" fmla="*/ 0 w 860"/>
                <a:gd name="T1" fmla="*/ 2445 h 2502"/>
                <a:gd name="T2" fmla="*/ 228 w 860"/>
                <a:gd name="T3" fmla="*/ 2502 h 2502"/>
                <a:gd name="T4" fmla="*/ 860 w 860"/>
                <a:gd name="T5" fmla="*/ 0 h 2502"/>
                <a:gd name="T6" fmla="*/ 620 w 860"/>
                <a:gd name="T7" fmla="*/ 0 h 2502"/>
                <a:gd name="T8" fmla="*/ 0 w 860"/>
                <a:gd name="T9" fmla="*/ 2445 h 2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7">
              <a:extLst>
                <a:ext uri="{FF2B5EF4-FFF2-40B4-BE49-F238E27FC236}">
                  <a16:creationId xmlns="" xmlns:a16="http://schemas.microsoft.com/office/drawing/2014/main" id="{C5EE481D-9AB8-4507-8AB2-02963E046EF2}"/>
                </a:ext>
              </a:extLst>
            </p:cNvPr>
            <p:cNvSpPr/>
            <p:nvPr/>
          </p:nvSpPr>
          <p:spPr bwMode="auto">
            <a:xfrm>
              <a:off x="203200" y="0"/>
              <a:ext cx="1336675" cy="3862389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7" name="Freeform 8">
              <a:extLst>
                <a:ext uri="{FF2B5EF4-FFF2-40B4-BE49-F238E27FC236}">
                  <a16:creationId xmlns="" xmlns:a16="http://schemas.microsoft.com/office/drawing/2014/main" id="{2FB9F073-3D67-4E8B-BDBB-4396A517C31C}"/>
                </a:ext>
              </a:extLst>
            </p:cNvPr>
            <p:cNvSpPr/>
            <p:nvPr/>
          </p:nvSpPr>
          <p:spPr bwMode="auto">
            <a:xfrm>
              <a:off x="207963" y="3776664"/>
              <a:ext cx="1936750" cy="3081337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8" name="Freeform 9">
              <a:extLst>
                <a:ext uri="{FF2B5EF4-FFF2-40B4-BE49-F238E27FC236}">
                  <a16:creationId xmlns="" xmlns:a16="http://schemas.microsoft.com/office/drawing/2014/main" id="{C3A1F637-C101-4C74-A869-68C486095F94}"/>
                </a:ext>
              </a:extLst>
            </p:cNvPr>
            <p:cNvSpPr/>
            <p:nvPr/>
          </p:nvSpPr>
          <p:spPr bwMode="auto">
            <a:xfrm>
              <a:off x="646113" y="3886201"/>
              <a:ext cx="2373312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9" name="Freeform 10">
              <a:extLst>
                <a:ext uri="{FF2B5EF4-FFF2-40B4-BE49-F238E27FC236}">
                  <a16:creationId xmlns="" xmlns:a16="http://schemas.microsoft.com/office/drawing/2014/main" id="{405FEE7C-CB31-4F5A-9329-777D7080D871}"/>
                </a:ext>
              </a:extLst>
            </p:cNvPr>
            <p:cNvSpPr/>
            <p:nvPr/>
          </p:nvSpPr>
          <p:spPr bwMode="auto">
            <a:xfrm>
              <a:off x="641350" y="3881439"/>
              <a:ext cx="3340100" cy="2976562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0" name="Freeform 11">
              <a:extLst>
                <a:ext uri="{FF2B5EF4-FFF2-40B4-BE49-F238E27FC236}">
                  <a16:creationId xmlns="" xmlns:a16="http://schemas.microsoft.com/office/drawing/2014/main" id="{52C7628C-CFCE-4469-AF15-7A63C7D2E103}"/>
                </a:ext>
              </a:extLst>
            </p:cNvPr>
            <p:cNvSpPr/>
            <p:nvPr/>
          </p:nvSpPr>
          <p:spPr bwMode="auto">
            <a:xfrm>
              <a:off x="203200" y="3771901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11" name="Freeform 12">
            <a:extLst>
              <a:ext uri="{FF2B5EF4-FFF2-40B4-BE49-F238E27FC236}">
                <a16:creationId xmlns="" xmlns:a16="http://schemas.microsoft.com/office/drawing/2014/main" id="{39BAA9B4-7FC9-465B-B31F-E7D32FAE5A47}"/>
              </a:ext>
            </a:extLst>
          </p:cNvPr>
          <p:cNvSpPr>
            <a:spLocks/>
          </p:cNvSpPr>
          <p:nvPr/>
        </p:nvSpPr>
        <p:spPr bwMode="auto">
          <a:xfrm>
            <a:off x="203200" y="3771900"/>
            <a:ext cx="361950" cy="90488"/>
          </a:xfrm>
          <a:custGeom>
            <a:avLst/>
            <a:gdLst>
              <a:gd name="T0" fmla="*/ 228 w 228"/>
              <a:gd name="T1" fmla="*/ 57 h 57"/>
              <a:gd name="T2" fmla="*/ 0 w 228"/>
              <a:gd name="T3" fmla="*/ 0 h 57"/>
              <a:gd name="T4" fmla="*/ 222 w 228"/>
              <a:gd name="T5" fmla="*/ 54 h 57"/>
              <a:gd name="T6" fmla="*/ 228 w 228"/>
              <a:gd name="T7" fmla="*/ 57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Freeform 13">
            <a:extLst>
              <a:ext uri="{FF2B5EF4-FFF2-40B4-BE49-F238E27FC236}">
                <a16:creationId xmlns="" xmlns:a16="http://schemas.microsoft.com/office/drawing/2014/main" id="{D930D88A-B8C5-4958-A628-32F0BA3680E8}"/>
              </a:ext>
            </a:extLst>
          </p:cNvPr>
          <p:cNvSpPr>
            <a:spLocks/>
          </p:cNvSpPr>
          <p:nvPr/>
        </p:nvSpPr>
        <p:spPr bwMode="auto">
          <a:xfrm>
            <a:off x="560388" y="3867150"/>
            <a:ext cx="61912" cy="80963"/>
          </a:xfrm>
          <a:custGeom>
            <a:avLst/>
            <a:gdLst>
              <a:gd name="T0" fmla="*/ 0 w 39"/>
              <a:gd name="T1" fmla="*/ 0 h 51"/>
              <a:gd name="T2" fmla="*/ 39 w 39"/>
              <a:gd name="T3" fmla="*/ 51 h 51"/>
              <a:gd name="T4" fmla="*/ 3 w 39"/>
              <a:gd name="T5" fmla="*/ 0 h 51"/>
              <a:gd name="T6" fmla="*/ 0 w 39"/>
              <a:gd name="T7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Date Placeholder 3">
            <a:extLst>
              <a:ext uri="{FF2B5EF4-FFF2-40B4-BE49-F238E27FC236}">
                <a16:creationId xmlns="" xmlns:a16="http://schemas.microsoft.com/office/drawing/2014/main" id="{529F4CEE-EEFE-4355-B76C-B2B15BCC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26313" y="6116638"/>
            <a:ext cx="85725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" name="Footer Placeholder 4">
            <a:extLst>
              <a:ext uri="{FF2B5EF4-FFF2-40B4-BE49-F238E27FC236}">
                <a16:creationId xmlns="" xmlns:a16="http://schemas.microsoft.com/office/drawing/2014/main" id="{4C04A515-4B27-41F0-8508-D103A0B33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24263" y="6116638"/>
            <a:ext cx="36083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="" xmlns:a16="http://schemas.microsoft.com/office/drawing/2014/main" id="{FBBA7656-6E74-45C1-A203-6A3120616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275638" y="6116638"/>
            <a:ext cx="4111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4989ED-7A4B-4CDC-9C6C-D081158918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37625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="" xmlns:a16="http://schemas.microsoft.com/office/drawing/2014/main" id="{56494528-4658-4495-AAB3-F0A2A88E5A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73263" y="6108700"/>
            <a:ext cx="5313362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="" xmlns:a16="http://schemas.microsoft.com/office/drawing/2014/main" id="{2DD00D86-84A9-4673-A72A-AE121EF9FE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258175" y="6108700"/>
            <a:ext cx="4286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3492AB-781D-4147-A287-FB3C270C9B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9441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51BAD63-2071-4454-863E-EFEFD15ECB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40E16ED-CE90-487E-B24E-86002676E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4A5C919-B958-4D15-A392-08C489DA5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51CB3A-BC57-494B-8C28-D025229262F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88669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2FF54D9-C5ED-4867-9989-D1932A0C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849C622-8E6F-4DD9-B5B8-DE65F1EA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50F966CD-CAB7-47FE-897A-8139CAD5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C26C8C-1C91-4B1C-9CB9-870AD3CD0C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08056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9E6D826-8A0B-4B0B-B77A-3C3AD7FB7B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A6E20B0A-177F-473B-AB76-6B4C9A3CC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6B3869DF-97F9-4A73-8ACE-E8A0F037F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96C89-695B-44A5-9336-3A2429EA0D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62210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4227863B-A531-451E-812E-BBFB017758A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6F2AE69-2733-48FD-A911-0E6F861C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6B43D8-CD09-4D29-A91D-609FD3F1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E34288-BA69-40E9-BEB4-01D496D18C6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96679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F18366C-68E0-41E3-8E85-83264B8357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E12B7AAA-AA95-4048-88E4-06FE6499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EAD83037-95F6-44D8-8A90-6F826BE75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C2BEFD-1694-46A2-BC8A-E7121E10D4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434163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9A26C0-3C7B-43FA-8FA0-FCA90157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93759B98-EB00-4B5F-84DA-9DD038AC5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DE343F6-CBE4-4369-A264-8E4AA48CC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FC013-4AFB-4435-B1B8-E09CCE09B2E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20266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B2889AA-EBF7-4D7B-8B7D-4661302B42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7569435-998E-4E6E-9ACA-51F49267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959151E-53C2-4448-8A38-B09709F9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8E0E4-FB5A-495E-83BE-5A7DA129C8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403112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C549F8B1-BA05-42B0-B8AF-10E2B4CA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E53B6CD4-8E2D-4A81-A325-AF6218E0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4AD16F27-C6F8-479A-B748-9F219B53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694019-3F16-4A83-BCAB-CA096E4551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918324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0A35FBE-E53A-446F-8B69-54F67888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374E401-6F87-4A35-9CE3-57D3C63952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51E1A51-A452-407E-BC90-0FC60238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34CD9-FB87-4B2B-945E-E75918E712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10971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E97A24DA-C6BE-4B8C-AF62-9B87DD61509B}"/>
              </a:ext>
            </a:extLst>
          </p:cNvPr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0A144BA9-31D8-4BA5-B14E-0C5C767E91BC}"/>
              </a:ext>
            </a:extLst>
          </p:cNvPr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7267F685-C6F9-43B7-8CCD-7BBD147F92C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745E6EB6-D449-4A44-AD04-E322514537C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943FC137-43FF-4427-BEF2-6EF2E2E01EC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BFF2FD-8ABC-404F-A514-23782514B6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505398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37803A98-E89C-47FB-B4E2-55094F36C3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C48AD09-18FC-4BAD-AA7A-68F2F09B2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BEF9919-50AE-44D1-A638-4C6D3991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E3F823-AB2B-4783-8851-22F3C40CB4C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130558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E3CC619-1DFC-4B4A-A563-834A8F67B90E}"/>
              </a:ext>
            </a:extLst>
          </p:cNvPr>
          <p:cNvSpPr txBox="1"/>
          <p:nvPr/>
        </p:nvSpPr>
        <p:spPr>
          <a:xfrm>
            <a:off x="969963" y="8636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6D8442D5-B8AC-47FB-935A-8BEE0E7F1D10}"/>
              </a:ext>
            </a:extLst>
          </p:cNvPr>
          <p:cNvSpPr txBox="1"/>
          <p:nvPr/>
        </p:nvSpPr>
        <p:spPr>
          <a:xfrm>
            <a:off x="8172450" y="2819400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="" xmlns:a16="http://schemas.microsoft.com/office/drawing/2014/main" id="{04A32407-B359-46E7-98AF-3754092C8FC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Footer Placeholder 4">
            <a:extLst>
              <a:ext uri="{FF2B5EF4-FFF2-40B4-BE49-F238E27FC236}">
                <a16:creationId xmlns="" xmlns:a16="http://schemas.microsoft.com/office/drawing/2014/main" id="{0C4A29C7-88EA-4624-9890-612FF10B48C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="" xmlns:a16="http://schemas.microsoft.com/office/drawing/2014/main" id="{C2264B7F-B923-4E52-BBF0-6D5F79AFA0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79887-DB4C-433F-B078-0FCB92AD09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918528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rtlCol="0">
            <a:normAutofit/>
          </a:bodyPr>
          <a:lstStyle>
            <a:lvl1pPr>
              <a:defRPr lang="en-US" b="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12EFE7A6-4F9D-466E-B82B-486D6DB3282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FAA2AA11-3CBA-4724-A4D8-3B04EDC4DEE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7F49C9B0-6A9D-47E0-8DA4-2ED6F32AAC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D7BD-C412-42EA-9F29-B04EB6647A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880758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42211B8-D1D6-4DC6-A94C-86677D42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0AD8325-467E-4EA8-82E1-97DF70E67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895D4EE-AC74-48BE-8EAC-57C25E0BA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B94FB6-D4F6-4538-93C1-7344C61E8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6303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A392E04-CF45-4C75-8166-0BE14BD9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8063" y="6116638"/>
            <a:ext cx="858837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DDC8DA7-F9C8-417B-886C-C5C193F7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819D23A-14E8-40D6-B6E0-CADD62FBC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EEE9D-E88E-4BEA-8FEF-DA730F8A10E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41320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7616929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pattFill prst="smCheck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>
            <a:normAutofit/>
          </a:bodyPr>
          <a:lstStyle>
            <a:lvl1pPr>
              <a:defRPr sz="3200"/>
            </a:lvl1pPr>
            <a:lvl2pPr>
              <a:defRPr sz="3000"/>
            </a:lvl2pPr>
            <a:lvl3pPr>
              <a:defRPr sz="30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>
            <a:lvl1pPr algn="ctr"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275A5A84-8BA2-4113-ABB7-ED477B2E8DA7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62507F34-208D-4383-BA96-FBEACCA990EF}"/>
              </a:ext>
            </a:extLst>
          </p:cNvPr>
          <p:cNvSpPr/>
          <p:nvPr/>
        </p:nvSpPr>
        <p:spPr>
          <a:xfrm>
            <a:off x="8388424" y="-13241"/>
            <a:ext cx="754194" cy="705937"/>
          </a:xfrm>
          <a:prstGeom prst="ellipse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33094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156894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578923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4831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12765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310451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647598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299556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3196195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373411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13330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52991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591272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07336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589736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127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3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2.xml"/><Relationship Id="rId16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2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2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0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.png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31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18" Type="http://schemas.openxmlformats.org/officeDocument/2006/relationships/theme" Target="../theme/theme6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1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18" Type="http://schemas.openxmlformats.org/officeDocument/2006/relationships/theme" Target="../theme/theme7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17" Type="http://schemas.openxmlformats.org/officeDocument/2006/relationships/slideLayout" Target="../slideLayouts/slideLayout65.xml"/><Relationship Id="rId2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64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slideLayout" Target="../slideLayouts/slideLayout6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slideLayout" Target="../slideLayouts/slideLayout6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="" xmlns:a16="http://schemas.microsoft.com/office/drawing/2014/main" id="{A052F456-07FE-42DD-A87E-3090CCEC02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916238" y="842963"/>
            <a:ext cx="6110287" cy="288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="" xmlns:a16="http://schemas.microsoft.com/office/drawing/2014/main" id="{86A61230-C753-4537-816D-FFAD58ADF8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928938" y="3860800"/>
            <a:ext cx="6092825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Edit Master text styles</a:t>
            </a:r>
          </a:p>
          <a:p>
            <a:pPr lvl="1"/>
            <a:r>
              <a:rPr lang="en-US" altLang="en-US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en-US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en-US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en-US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2671450F-64BB-4CC0-A8E6-51B12ACBCE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63789D28-033D-4A96-870D-5C2C3DB25C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r>
              <a:rPr lang="el-GR" altLang="en-US"/>
              <a:t>Διαδίκτυο και Εφαρμογές</a:t>
            </a: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93ECC4FC-8241-47E1-9AFD-00CA428E5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98B01A5E-255F-4D61-8E1A-70EC01F7FF1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1031" name="Picture 2">
            <a:extLst>
              <a:ext uri="{FF2B5EF4-FFF2-40B4-BE49-F238E27FC236}">
                <a16:creationId xmlns="" xmlns:a16="http://schemas.microsoft.com/office/drawing/2014/main" id="{3C18D991-B4FB-4F57-99C6-270237772F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95250"/>
            <a:ext cx="781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="" xmlns:a16="http://schemas.microsoft.com/office/drawing/2014/main" id="{98ECE4F1-C6A9-4CE5-9AE8-386C19B0D4A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95250"/>
            <a:ext cx="781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3285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/>
  <p:hf hdr="0" dt="0"/>
  <p:txStyles>
    <p:titleStyle>
      <a:lvl1pPr marL="39688" indent="-396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39688" indent="-396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2pPr>
      <a:lvl3pPr marL="39688" indent="-396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3pPr>
      <a:lvl4pPr marL="39688" indent="-396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4pPr>
      <a:lvl5pPr marL="39688" indent="-396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5pPr>
      <a:lvl6pPr marL="4968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6pPr>
      <a:lvl7pPr marL="9540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7pPr>
      <a:lvl8pPr marL="14112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8pPr>
      <a:lvl9pPr marL="1868488" algn="ctr" rtl="0" eaLnBrk="1" fontAlgn="base" hangingPunct="1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9pPr>
    </p:titleStyle>
    <p:bodyStyle>
      <a:lvl1pPr marL="39688" indent="-39688" algn="ctr" rtl="0" eaLnBrk="1" fontAlgn="base" hangingPunct="1">
        <a:spcBef>
          <a:spcPts val="700"/>
        </a:spcBef>
        <a:spcAft>
          <a:spcPct val="0"/>
        </a:spcAft>
        <a:defRPr sz="29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46088" indent="11113" algn="ctr" rtl="0" eaLnBrk="1" fontAlgn="base" hangingPunct="1">
        <a:spcBef>
          <a:spcPts val="600"/>
        </a:spcBef>
        <a:spcAft>
          <a:spcPct val="0"/>
        </a:spcAft>
        <a:defRPr sz="25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903288" indent="11113" algn="ctr" rtl="0" eaLnBrk="1" fontAlgn="base" hangingPunct="1">
        <a:spcBef>
          <a:spcPts val="500"/>
        </a:spcBef>
        <a:spcAft>
          <a:spcPct val="0"/>
        </a:spcAft>
        <a:defRPr sz="2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360488" indent="11113" algn="ctr" rtl="0" eaLnBrk="1" fontAlgn="base" hangingPunct="1">
        <a:spcBef>
          <a:spcPts val="4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817688" indent="11113" algn="ctr" rtl="0" eaLnBrk="1" fontAlgn="base" hangingPunct="1">
        <a:spcBef>
          <a:spcPts val="4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274888" algn="ctr" rtl="0" eaLnBrk="1" fontAlgn="base" hangingPunct="1">
        <a:spcBef>
          <a:spcPts val="4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732088" algn="ctr" rtl="0" eaLnBrk="1" fontAlgn="base" hangingPunct="1">
        <a:spcBef>
          <a:spcPts val="4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189288" algn="ctr" rtl="0" eaLnBrk="1" fontAlgn="base" hangingPunct="1">
        <a:spcBef>
          <a:spcPts val="4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3646488" algn="ctr" rtl="0" eaLnBrk="1" fontAlgn="base" hangingPunct="1">
        <a:spcBef>
          <a:spcPts val="4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">
            <a:extLst>
              <a:ext uri="{FF2B5EF4-FFF2-40B4-BE49-F238E27FC236}">
                <a16:creationId xmlns="" xmlns:a16="http://schemas.microsoft.com/office/drawing/2014/main" id="{751D8719-7A77-4282-B633-76D01BDE11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57313" y="71438"/>
            <a:ext cx="69294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2051" name="Rectangle 2">
            <a:extLst>
              <a:ext uri="{FF2B5EF4-FFF2-40B4-BE49-F238E27FC236}">
                <a16:creationId xmlns="" xmlns:a16="http://schemas.microsoft.com/office/drawing/2014/main" id="{95224F04-BB56-46B9-85B6-2B1C5360E4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638" y="1376363"/>
            <a:ext cx="8648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Edit Master text styles</a:t>
            </a:r>
          </a:p>
          <a:p>
            <a:pPr lvl="1"/>
            <a:r>
              <a:rPr lang="en-US" altLang="en-US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en-US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en-US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en-US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11530429-7A26-4F1F-A1E9-4BF38B9CFA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6D93C51B-50CA-408A-B9AF-5A4582762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64E9F831-CE02-48C1-BA2F-78572E31DB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394022E-302F-4AE1-B84A-A79E8812A8D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2055" name="Picture 8">
            <a:extLst>
              <a:ext uri="{FF2B5EF4-FFF2-40B4-BE49-F238E27FC236}">
                <a16:creationId xmlns="" xmlns:a16="http://schemas.microsoft.com/office/drawing/2014/main" id="{8864DA44-2A80-44C9-9F42-47F36414E4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95250"/>
            <a:ext cx="781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838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/>
  <p:hf hdr="0" dt="0"/>
  <p:txStyles>
    <p:titleStyle>
      <a:lvl1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2pPr>
      <a:lvl3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3pPr>
      <a:lvl4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4pPr>
      <a:lvl5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5pPr>
      <a:lvl6pPr marL="4968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6pPr>
      <a:lvl7pPr marL="9540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7pPr>
      <a:lvl8pPr marL="14112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8pPr>
      <a:lvl9pPr marL="18684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9pPr>
    </p:titleStyle>
    <p:bodyStyle>
      <a:lvl1pPr marL="382588" indent="-342900" algn="l" rtl="0" eaLnBrk="1" fontAlgn="base" hangingPunct="1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31838" indent="-285750" algn="l" rtl="0" eaLnBrk="1" fontAlgn="base" hangingPunct="1">
        <a:spcBef>
          <a:spcPts val="600"/>
        </a:spcBef>
        <a:spcAft>
          <a:spcPct val="0"/>
        </a:spcAft>
        <a:buSzPct val="100000"/>
        <a:buFont typeface="Arial" panose="020B0604020202020204" pitchFamily="34" charset="0"/>
        <a:buChar char="–"/>
        <a:defRPr sz="25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31888" indent="-228600" algn="l" rtl="0" eaLnBrk="1" fontAlgn="base" hangingPunct="1"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5890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462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034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9606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4178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38750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Che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="" xmlns:a16="http://schemas.microsoft.com/office/drawing/2014/main" id="{82EE1878-AAEE-431C-A685-F112496ADF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57313" y="71438"/>
            <a:ext cx="69294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1027" name="Rectangle 2">
            <a:extLst>
              <a:ext uri="{FF2B5EF4-FFF2-40B4-BE49-F238E27FC236}">
                <a16:creationId xmlns="" xmlns:a16="http://schemas.microsoft.com/office/drawing/2014/main" id="{E227D7DC-C0B7-4709-892C-202F32BBAC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638" y="1376363"/>
            <a:ext cx="8648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Edit Master text styles</a:t>
            </a:r>
          </a:p>
          <a:p>
            <a:pPr lvl="1"/>
            <a:r>
              <a:rPr lang="en-US" altLang="en-US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en-US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en-US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en-US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702BD389-3A62-404D-852F-7421B5825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D2B0CA46-DA89-4121-8288-559D685C8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9A0C8F77-AEAD-463F-9CCC-070DB3805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8">
            <a:extLst>
              <a:ext uri="{FF2B5EF4-FFF2-40B4-BE49-F238E27FC236}">
                <a16:creationId xmlns="" xmlns:a16="http://schemas.microsoft.com/office/drawing/2014/main" id="{FE00203B-E5ED-4CAF-A362-CB0E250C55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95250"/>
            <a:ext cx="781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5949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ransition/>
  <p:hf hdr="0" dt="0"/>
  <p:txStyles>
    <p:titleStyle>
      <a:lvl1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2pPr>
      <a:lvl3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3pPr>
      <a:lvl4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4pPr>
      <a:lvl5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5pPr>
      <a:lvl6pPr marL="4968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6pPr>
      <a:lvl7pPr marL="9540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7pPr>
      <a:lvl8pPr marL="14112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8pPr>
      <a:lvl9pPr marL="18684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9pPr>
    </p:titleStyle>
    <p:bodyStyle>
      <a:lvl1pPr marL="382588" indent="-342900" algn="l" rtl="0" eaLnBrk="1" fontAlgn="base" hangingPunct="1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31838" indent="-285750" algn="l" rtl="0" eaLnBrk="1" fontAlgn="base" hangingPunct="1">
        <a:spcBef>
          <a:spcPts val="600"/>
        </a:spcBef>
        <a:spcAft>
          <a:spcPct val="0"/>
        </a:spcAft>
        <a:buSzPct val="100000"/>
        <a:buFont typeface="Arial" panose="020B0604020202020204" pitchFamily="34" charset="0"/>
        <a:buChar char="–"/>
        <a:defRPr sz="25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31888" indent="-228600" algn="l" rtl="0" eaLnBrk="1" fontAlgn="base" hangingPunct="1"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5890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462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034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9606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4178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38750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Che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13">
            <a:extLst>
              <a:ext uri="{FF2B5EF4-FFF2-40B4-BE49-F238E27FC236}">
                <a16:creationId xmlns="" xmlns:a16="http://schemas.microsoft.com/office/drawing/2014/main" id="{03AD2970-1A41-4255-B9F5-EDB4F72F1AA8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132013" cy="6858000"/>
            <a:chOff x="0" y="0"/>
            <a:chExt cx="2132013" cy="6858001"/>
          </a:xfrm>
        </p:grpSpPr>
        <p:sp>
          <p:nvSpPr>
            <p:cNvPr id="2056" name="Freeform 6">
              <a:extLst>
                <a:ext uri="{FF2B5EF4-FFF2-40B4-BE49-F238E27FC236}">
                  <a16:creationId xmlns="" xmlns:a16="http://schemas.microsoft.com/office/drawing/2014/main" id="{1024ED94-8BD3-41E6-9B72-D09B40491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073150" cy="5291138"/>
            </a:xfrm>
            <a:custGeom>
              <a:avLst/>
              <a:gdLst>
                <a:gd name="T0" fmla="*/ 0 w 676"/>
                <a:gd name="T1" fmla="*/ 3132 h 3333"/>
                <a:gd name="T2" fmla="*/ 0 w 676"/>
                <a:gd name="T3" fmla="*/ 3312 h 3333"/>
                <a:gd name="T4" fmla="*/ 126 w 676"/>
                <a:gd name="T5" fmla="*/ 3333 h 3333"/>
                <a:gd name="T6" fmla="*/ 676 w 676"/>
                <a:gd name="T7" fmla="*/ 0 h 3333"/>
                <a:gd name="T8" fmla="*/ 514 w 676"/>
                <a:gd name="T9" fmla="*/ 0 h 3333"/>
                <a:gd name="T10" fmla="*/ 0 w 676"/>
                <a:gd name="T11" fmla="*/ 3132 h 3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="" xmlns:a16="http://schemas.microsoft.com/office/drawing/2014/main" id="{2DE43C8D-89D1-401B-9F8C-152B743B7A00}"/>
                </a:ext>
              </a:extLst>
            </p:cNvPr>
            <p:cNvSpPr/>
            <p:nvPr/>
          </p:nvSpPr>
          <p:spPr bwMode="auto">
            <a:xfrm>
              <a:off x="0" y="0"/>
              <a:ext cx="758825" cy="4624389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>
              <a:extLst>
                <a:ext uri="{FF2B5EF4-FFF2-40B4-BE49-F238E27FC236}">
                  <a16:creationId xmlns="" xmlns:a16="http://schemas.microsoft.com/office/drawing/2014/main" id="{218442EA-F386-4F61-AD14-7EA3AF8FA0FD}"/>
                </a:ext>
              </a:extLst>
            </p:cNvPr>
            <p:cNvSpPr/>
            <p:nvPr/>
          </p:nvSpPr>
          <p:spPr bwMode="auto">
            <a:xfrm>
              <a:off x="0" y="5662614"/>
              <a:ext cx="906463" cy="1195387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>
              <a:extLst>
                <a:ext uri="{FF2B5EF4-FFF2-40B4-BE49-F238E27FC236}">
                  <a16:creationId xmlns="" xmlns:a16="http://schemas.microsoft.com/office/drawing/2014/main" id="{BF33AEEA-F8DE-4D88-99A3-C8311105BFED}"/>
                </a:ext>
              </a:extLst>
            </p:cNvPr>
            <p:cNvSpPr/>
            <p:nvPr/>
          </p:nvSpPr>
          <p:spPr bwMode="auto">
            <a:xfrm>
              <a:off x="0" y="5295901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>
              <a:extLst>
                <a:ext uri="{FF2B5EF4-FFF2-40B4-BE49-F238E27FC236}">
                  <a16:creationId xmlns="" xmlns:a16="http://schemas.microsoft.com/office/drawing/2014/main" id="{7E5A6C18-5F84-47BD-BE81-9989316ECA9E}"/>
                </a:ext>
              </a:extLst>
            </p:cNvPr>
            <p:cNvSpPr/>
            <p:nvPr/>
          </p:nvSpPr>
          <p:spPr bwMode="auto">
            <a:xfrm>
              <a:off x="0" y="5257801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>
              <a:extLst>
                <a:ext uri="{FF2B5EF4-FFF2-40B4-BE49-F238E27FC236}">
                  <a16:creationId xmlns="" xmlns:a16="http://schemas.microsoft.com/office/drawing/2014/main" id="{1A933ADF-BC10-4696-97A6-7D120364B68A}"/>
                </a:ext>
              </a:extLst>
            </p:cNvPr>
            <p:cNvSpPr/>
            <p:nvPr/>
          </p:nvSpPr>
          <p:spPr bwMode="auto">
            <a:xfrm>
              <a:off x="0" y="5357814"/>
              <a:ext cx="1377950" cy="1500187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051" name="Title Placeholder 1">
            <a:extLst>
              <a:ext uri="{FF2B5EF4-FFF2-40B4-BE49-F238E27FC236}">
                <a16:creationId xmlns="" xmlns:a16="http://schemas.microsoft.com/office/drawing/2014/main" id="{3704CCC5-B18A-4C8A-A40B-FF8AFCE655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82663" y="457200"/>
            <a:ext cx="77041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52" name="Text Placeholder 2">
            <a:extLst>
              <a:ext uri="{FF2B5EF4-FFF2-40B4-BE49-F238E27FC236}">
                <a16:creationId xmlns="" xmlns:a16="http://schemas.microsoft.com/office/drawing/2014/main" id="{048E9526-20BF-4300-B5F5-9F3B91D736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2663" y="2667000"/>
            <a:ext cx="7704137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80A66F5-2C65-4E07-A315-8EA7929AA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87550" y="6116638"/>
            <a:ext cx="53133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2A16096-E8B5-45F6-A67D-115CEFB72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50" y="6116638"/>
            <a:ext cx="412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2E49B640-0CA3-4814-98B3-0F4AEF2029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67402217-DCE0-4EF3-89CC-56800A9AFE7F}"/>
              </a:ext>
            </a:extLst>
          </p:cNvPr>
          <p:cNvSpPr/>
          <p:nvPr/>
        </p:nvSpPr>
        <p:spPr>
          <a:xfrm>
            <a:off x="8459788" y="0"/>
            <a:ext cx="671512" cy="692150"/>
          </a:xfrm>
          <a:prstGeom prst="ellipse">
            <a:avLst/>
          </a:prstGeom>
          <a:blipFill dpi="0"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64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Che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="" xmlns:a16="http://schemas.microsoft.com/office/drawing/2014/main" id="{515524B2-F9AF-41C4-95B7-E54DEC8FF9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57313" y="71438"/>
            <a:ext cx="6929437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Click to edit Master title style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="" xmlns:a16="http://schemas.microsoft.com/office/drawing/2014/main" id="{0AC9B2E0-CF02-497B-BAE7-482D96B14D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74638" y="1376363"/>
            <a:ext cx="8648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50800" tIns="50800" rIns="91436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>
                <a:sym typeface="Arial" panose="020B0604020202020204" pitchFamily="34" charset="0"/>
              </a:rPr>
              <a:t>Edit Master text styles</a:t>
            </a:r>
          </a:p>
          <a:p>
            <a:pPr lvl="1"/>
            <a:r>
              <a:rPr lang="en-US" altLang="en-US">
                <a:sym typeface="Arial" panose="020B0604020202020204" pitchFamily="34" charset="0"/>
              </a:rPr>
              <a:t>Second level</a:t>
            </a:r>
          </a:p>
          <a:p>
            <a:pPr lvl="2"/>
            <a:r>
              <a:rPr lang="en-US" altLang="en-US">
                <a:sym typeface="Arial" panose="020B0604020202020204" pitchFamily="34" charset="0"/>
              </a:rPr>
              <a:t>Third level</a:t>
            </a:r>
          </a:p>
          <a:p>
            <a:pPr lvl="3"/>
            <a:r>
              <a:rPr lang="en-US" altLang="en-US">
                <a:sym typeface="Arial" panose="020B0604020202020204" pitchFamily="34" charset="0"/>
              </a:rPr>
              <a:t>Fourth level</a:t>
            </a:r>
          </a:p>
          <a:p>
            <a:pPr lvl="4"/>
            <a:r>
              <a:rPr lang="en-US" altLang="en-US">
                <a:sym typeface="Arial" panose="020B0604020202020204" pitchFamily="34" charset="0"/>
              </a:rPr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="" xmlns:a16="http://schemas.microsoft.com/office/drawing/2014/main" id="{702BD389-3A62-404D-852F-7421B58253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="" xmlns:a16="http://schemas.microsoft.com/office/drawing/2014/main" id="{D2B0CA46-DA89-4121-8288-559D685C8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Times New Roman" charset="0"/>
                <a:sym typeface="Times New Roman" charset="0"/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="" xmlns:a16="http://schemas.microsoft.com/office/drawing/2014/main" id="{9A0C8F77-AEAD-463F-9CCC-070DB38055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8436FCE-925A-4F83-9C27-51918A5F428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3079" name="Picture 8">
            <a:extLst>
              <a:ext uri="{FF2B5EF4-FFF2-40B4-BE49-F238E27FC236}">
                <a16:creationId xmlns="" xmlns:a16="http://schemas.microsoft.com/office/drawing/2014/main" id="{6018DBFB-9B22-49AE-86C2-A743F255BB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6750" y="95250"/>
            <a:ext cx="7810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6908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transition/>
  <p:hf hdr="0" dt="0"/>
  <p:txStyles>
    <p:titleStyle>
      <a:lvl1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+mj-lt"/>
          <a:ea typeface="+mj-ea"/>
          <a:cs typeface="+mj-cs"/>
          <a:sym typeface="Arial" panose="020B0604020202020204" pitchFamily="34" charset="0"/>
        </a:defRPr>
      </a:lvl1pPr>
      <a:lvl2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2pPr>
      <a:lvl3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3pPr>
      <a:lvl4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4pPr>
      <a:lvl5pPr marL="39688" indent="-396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panose="020B0604020202020204" pitchFamily="34" charset="0"/>
        </a:defRPr>
      </a:lvl5pPr>
      <a:lvl6pPr marL="4968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6pPr>
      <a:lvl7pPr marL="9540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7pPr>
      <a:lvl8pPr marL="14112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8pPr>
      <a:lvl9pPr marL="1868488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" charset="0"/>
          <a:ea typeface="ヒラギノ角ゴ ProN W6" charset="0"/>
          <a:cs typeface="ヒラギノ角ゴ ProN W6" charset="0"/>
          <a:sym typeface="Arial" charset="0"/>
        </a:defRPr>
      </a:lvl9pPr>
    </p:titleStyle>
    <p:bodyStyle>
      <a:lvl1pPr marL="382588" indent="-342900" algn="l" rtl="0" eaLnBrk="1" fontAlgn="base" hangingPunct="1">
        <a:spcBef>
          <a:spcPts val="700"/>
        </a:spcBef>
        <a:spcAft>
          <a:spcPct val="0"/>
        </a:spcAft>
        <a:buSzPct val="100000"/>
        <a:buFont typeface="Arial" panose="020B0604020202020204" pitchFamily="34" charset="0"/>
        <a:buChar char="•"/>
        <a:defRPr sz="29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731838" indent="-285750" algn="l" rtl="0" eaLnBrk="1" fontAlgn="base" hangingPunct="1">
        <a:spcBef>
          <a:spcPts val="600"/>
        </a:spcBef>
        <a:spcAft>
          <a:spcPct val="0"/>
        </a:spcAft>
        <a:buSzPct val="100000"/>
        <a:buFont typeface="Arial" panose="020B0604020202020204" pitchFamily="34" charset="0"/>
        <a:buChar char="–"/>
        <a:defRPr sz="25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1131888" indent="-228600" algn="l" rtl="0" eaLnBrk="1" fontAlgn="base" hangingPunct="1">
        <a:spcBef>
          <a:spcPts val="500"/>
        </a:spcBef>
        <a:spcAft>
          <a:spcPct val="0"/>
        </a:spcAft>
        <a:buSzPct val="100000"/>
        <a:buFont typeface="Arial" panose="020B0604020202020204" pitchFamily="34" charset="0"/>
        <a:buChar char="•"/>
        <a:defRPr sz="2200"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15890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–"/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20462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panose="020B0604020202020204" pitchFamily="34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034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6pPr>
      <a:lvl7pPr marL="29606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7pPr>
      <a:lvl8pPr marL="34178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8pPr>
      <a:lvl9pPr marL="3875088" indent="-228600" algn="l" rtl="0" eaLnBrk="1" fontAlgn="base" hangingPunct="1">
        <a:spcBef>
          <a:spcPts val="400"/>
        </a:spcBef>
        <a:spcAft>
          <a:spcPct val="0"/>
        </a:spcAft>
        <a:buSzPct val="100000"/>
        <a:buFont typeface="Arial" charset="0"/>
        <a:buChar char="»"/>
        <a:defRPr>
          <a:solidFill>
            <a:schemeClr val="tx1"/>
          </a:solidFill>
          <a:latin typeface="+mn-lt"/>
          <a:ea typeface="+mn-ea"/>
          <a:cs typeface="+mn-cs"/>
          <a:sym typeface="Arial" charset="0"/>
        </a:defRPr>
      </a:lvl9pPr>
    </p:bodyStyle>
    <p:otherStyle>
      <a:defPPr>
        <a:defRPr lang="el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smCheck">
          <a:fgClr>
            <a:schemeClr val="accent3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13">
            <a:extLst>
              <a:ext uri="{FF2B5EF4-FFF2-40B4-BE49-F238E27FC236}">
                <a16:creationId xmlns="" xmlns:a16="http://schemas.microsoft.com/office/drawing/2014/main" id="{39BA278A-EBE3-437C-89F0-2A463FD53161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2132013" cy="6858000"/>
            <a:chOff x="0" y="0"/>
            <a:chExt cx="2132013" cy="6858001"/>
          </a:xfrm>
        </p:grpSpPr>
        <p:sp>
          <p:nvSpPr>
            <p:cNvPr id="4104" name="Freeform 6">
              <a:extLst>
                <a:ext uri="{FF2B5EF4-FFF2-40B4-BE49-F238E27FC236}">
                  <a16:creationId xmlns="" xmlns:a16="http://schemas.microsoft.com/office/drawing/2014/main" id="{CDEDA236-A5C2-4792-BB8E-D2911451C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0"/>
              <a:ext cx="1073150" cy="5291138"/>
            </a:xfrm>
            <a:custGeom>
              <a:avLst/>
              <a:gdLst>
                <a:gd name="T0" fmla="*/ 0 w 676"/>
                <a:gd name="T1" fmla="*/ 3132 h 3333"/>
                <a:gd name="T2" fmla="*/ 0 w 676"/>
                <a:gd name="T3" fmla="*/ 3312 h 3333"/>
                <a:gd name="T4" fmla="*/ 126 w 676"/>
                <a:gd name="T5" fmla="*/ 3333 h 3333"/>
                <a:gd name="T6" fmla="*/ 676 w 676"/>
                <a:gd name="T7" fmla="*/ 0 h 3333"/>
                <a:gd name="T8" fmla="*/ 514 w 676"/>
                <a:gd name="T9" fmla="*/ 0 h 3333"/>
                <a:gd name="T10" fmla="*/ 0 w 676"/>
                <a:gd name="T11" fmla="*/ 3132 h 3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7">
              <a:extLst>
                <a:ext uri="{FF2B5EF4-FFF2-40B4-BE49-F238E27FC236}">
                  <a16:creationId xmlns="" xmlns:a16="http://schemas.microsoft.com/office/drawing/2014/main" id="{91D14F0F-8B8E-447D-B6E7-E0B8C8EA0F8F}"/>
                </a:ext>
              </a:extLst>
            </p:cNvPr>
            <p:cNvSpPr/>
            <p:nvPr/>
          </p:nvSpPr>
          <p:spPr bwMode="auto">
            <a:xfrm>
              <a:off x="0" y="0"/>
              <a:ext cx="758825" cy="4624389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>
              <a:extLst>
                <a:ext uri="{FF2B5EF4-FFF2-40B4-BE49-F238E27FC236}">
                  <a16:creationId xmlns="" xmlns:a16="http://schemas.microsoft.com/office/drawing/2014/main" id="{762EC775-0B8D-4C9C-B019-BF279D70D396}"/>
                </a:ext>
              </a:extLst>
            </p:cNvPr>
            <p:cNvSpPr/>
            <p:nvPr/>
          </p:nvSpPr>
          <p:spPr bwMode="auto">
            <a:xfrm>
              <a:off x="0" y="5662614"/>
              <a:ext cx="906463" cy="1195387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>
              <a:extLst>
                <a:ext uri="{FF2B5EF4-FFF2-40B4-BE49-F238E27FC236}">
                  <a16:creationId xmlns="" xmlns:a16="http://schemas.microsoft.com/office/drawing/2014/main" id="{D9327C2E-5DD0-4AE6-ACE9-13B6ECEC76FD}"/>
                </a:ext>
              </a:extLst>
            </p:cNvPr>
            <p:cNvSpPr/>
            <p:nvPr/>
          </p:nvSpPr>
          <p:spPr bwMode="auto">
            <a:xfrm>
              <a:off x="0" y="5295901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>
              <a:extLst>
                <a:ext uri="{FF2B5EF4-FFF2-40B4-BE49-F238E27FC236}">
                  <a16:creationId xmlns="" xmlns:a16="http://schemas.microsoft.com/office/drawing/2014/main" id="{75C5CAAB-F595-4703-A5E1-93B00B98DF19}"/>
                </a:ext>
              </a:extLst>
            </p:cNvPr>
            <p:cNvSpPr/>
            <p:nvPr/>
          </p:nvSpPr>
          <p:spPr bwMode="auto">
            <a:xfrm>
              <a:off x="0" y="5257801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>
              <a:extLst>
                <a:ext uri="{FF2B5EF4-FFF2-40B4-BE49-F238E27FC236}">
                  <a16:creationId xmlns="" xmlns:a16="http://schemas.microsoft.com/office/drawing/2014/main" id="{EBC74BB6-7FDB-4953-9894-B8D80E7E8693}"/>
                </a:ext>
              </a:extLst>
            </p:cNvPr>
            <p:cNvSpPr/>
            <p:nvPr/>
          </p:nvSpPr>
          <p:spPr bwMode="auto">
            <a:xfrm>
              <a:off x="0" y="5357814"/>
              <a:ext cx="1377950" cy="1500187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4099" name="Title Placeholder 1">
            <a:extLst>
              <a:ext uri="{FF2B5EF4-FFF2-40B4-BE49-F238E27FC236}">
                <a16:creationId xmlns="" xmlns:a16="http://schemas.microsoft.com/office/drawing/2014/main" id="{0DB63525-1577-4E01-944A-39C37F4D8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82663" y="457200"/>
            <a:ext cx="770413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100" name="Text Placeholder 2">
            <a:extLst>
              <a:ext uri="{FF2B5EF4-FFF2-40B4-BE49-F238E27FC236}">
                <a16:creationId xmlns="" xmlns:a16="http://schemas.microsoft.com/office/drawing/2014/main" id="{E110BBD4-C8A7-45EB-87D6-43CFBEE61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2663" y="2667000"/>
            <a:ext cx="7704137" cy="335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B30108-1F3D-4FD7-8B4C-D05F3F93A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87550" y="6116638"/>
            <a:ext cx="53133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5B604E4-F7F0-4FF4-9BF0-555BE7BD1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74050" y="6116638"/>
            <a:ext cx="412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 smtClean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D7CFD2E3-98E4-4532-BB47-8209BE914A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67402217-DCE0-4EF3-89CC-56800A9AFE7F}"/>
              </a:ext>
            </a:extLst>
          </p:cNvPr>
          <p:cNvSpPr/>
          <p:nvPr/>
        </p:nvSpPr>
        <p:spPr>
          <a:xfrm>
            <a:off x="8459788" y="0"/>
            <a:ext cx="671512" cy="692150"/>
          </a:xfrm>
          <a:prstGeom prst="ellipse">
            <a:avLst/>
          </a:prstGeom>
          <a:blipFill dpi="0" rotWithShape="1"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3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</p:sldLayoutIdLs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000" kern="1200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Arial Black" panose="020B0A040201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indent="-1714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00250" indent="-171450" algn="l" defTabSz="457200" rtl="0" eaLnBrk="1" fontAlgn="base" hangingPunct="1">
        <a:spcBef>
          <a:spcPct val="20000"/>
        </a:spcBef>
        <a:spcAft>
          <a:spcPts val="600"/>
        </a:spcAft>
        <a:buClr>
          <a:srgbClr val="316886"/>
        </a:buClr>
        <a:buSzPct val="14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6A9CFF87-DFAA-4124-9098-70AEC04120B0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9038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doravarv@mail.ntua.gr" TargetMode="Externa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elios.ntua.gr/course/view.php?id=972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json.org/json-en.html" TargetMode="Externa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Relationship Id="rId5" Type="http://schemas.microsoft.com/office/2007/relationships/hdphoto" Target="../media/hdphoto2.wdp"/><Relationship Id="rId4" Type="http://schemas.openxmlformats.org/officeDocument/2006/relationships/image" Target="../media/image37.png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739673" y="914401"/>
            <a:ext cx="6947127" cy="3234679"/>
          </a:xfrm>
        </p:spPr>
        <p:txBody>
          <a:bodyPr/>
          <a:lstStyle/>
          <a:p>
            <a:r>
              <a:rPr lang="el-GR" altLang="en-US" dirty="0"/>
              <a:t>Διαδίκτυο και Εφαρμογές</a:t>
            </a:r>
          </a:p>
        </p:txBody>
      </p:sp>
      <p:sp>
        <p:nvSpPr>
          <p:cNvPr id="3075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924238" y="4402666"/>
            <a:ext cx="5762563" cy="154661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en-US" dirty="0"/>
              <a:t>Θ. Βαρβα</a:t>
            </a:r>
            <a:r>
              <a:rPr lang="en-US" altLang="en-US" dirty="0" err="1"/>
              <a:t>ρίγου</a:t>
            </a:r>
            <a:r>
              <a:rPr lang="en-US" altLang="en-US" dirty="0"/>
              <a:t> 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Κα</a:t>
            </a:r>
            <a:r>
              <a:rPr lang="en-US" altLang="en-US" dirty="0" err="1"/>
              <a:t>θηγ</a:t>
            </a:r>
            <a:r>
              <a:rPr lang="en-US" altLang="en-US" dirty="0"/>
              <a:t>. ΕΜΠ</a:t>
            </a:r>
          </a:p>
          <a:p>
            <a:pPr>
              <a:lnSpc>
                <a:spcPct val="120000"/>
              </a:lnSpc>
            </a:pPr>
            <a:r>
              <a:rPr lang="en-US" altLang="en-US" dirty="0" err="1"/>
              <a:t>Τηλ</a:t>
            </a:r>
            <a:r>
              <a:rPr lang="en-US" altLang="en-US" dirty="0"/>
              <a:t>. 210 - 772 2484</a:t>
            </a:r>
          </a:p>
          <a:p>
            <a:pPr>
              <a:lnSpc>
                <a:spcPct val="120000"/>
              </a:lnSpc>
            </a:pPr>
            <a:r>
              <a:rPr lang="en-US" altLang="en-US" dirty="0"/>
              <a:t>email: </a:t>
            </a:r>
            <a:r>
              <a:rPr lang="en-US" altLang="en-US" dirty="0" smtClean="0">
                <a:hlinkClick r:id="rId2"/>
              </a:rPr>
              <a:t>doravarv@mail.ntua.gr</a:t>
            </a:r>
            <a:r>
              <a:rPr lang="en-US" altLang="en-US" dirty="0" smtClean="0"/>
              <a:t> 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DC4FADF-F7D6-4934-A008-A8849354D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l-GR" altLang="en-US" dirty="0"/>
              <a:t>Διαδίκτυο και Εφαρμογές</a:t>
            </a:r>
          </a:p>
        </p:txBody>
      </p:sp>
      <p:sp>
        <p:nvSpPr>
          <p:cNvPr id="40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2" y="1412776"/>
            <a:ext cx="7971368" cy="4680520"/>
          </a:xfrm>
        </p:spPr>
        <p:txBody>
          <a:bodyPr>
            <a:noAutofit/>
          </a:bodyPr>
          <a:lstStyle/>
          <a:p>
            <a:r>
              <a:rPr lang="el-GR" altLang="en-US" sz="2000" dirty="0">
                <a:solidFill>
                  <a:srgbClr val="0D0D0D"/>
                </a:solidFill>
              </a:rPr>
              <a:t>8</a:t>
            </a:r>
            <a:r>
              <a:rPr lang="el-GR" altLang="en-US" sz="2000" baseline="30000" dirty="0">
                <a:solidFill>
                  <a:srgbClr val="0D0D0D"/>
                </a:solidFill>
              </a:rPr>
              <a:t>ο</a:t>
            </a:r>
            <a:r>
              <a:rPr lang="el-GR" altLang="en-US" sz="2000" dirty="0">
                <a:solidFill>
                  <a:srgbClr val="0D0D0D"/>
                </a:solidFill>
              </a:rPr>
              <a:t> Εξάμηνο</a:t>
            </a:r>
          </a:p>
          <a:p>
            <a:r>
              <a:rPr lang="el-GR" altLang="en-US" sz="2000" dirty="0">
                <a:solidFill>
                  <a:srgbClr val="0D0D0D"/>
                </a:solidFill>
              </a:rPr>
              <a:t>Δ - Επικοινωνίες και Δίκτυα </a:t>
            </a:r>
            <a:r>
              <a:rPr lang="el-GR" altLang="en-US" sz="2000" dirty="0" smtClean="0">
                <a:solidFill>
                  <a:srgbClr val="0D0D0D"/>
                </a:solidFill>
              </a:rPr>
              <a:t>Υπολογιστών</a:t>
            </a:r>
            <a:endParaRPr lang="en-US" altLang="en-US" sz="2000" dirty="0" smtClean="0">
              <a:solidFill>
                <a:srgbClr val="0D0D0D"/>
              </a:solidFill>
            </a:endParaRPr>
          </a:p>
          <a:p>
            <a:r>
              <a:rPr lang="el-GR" altLang="en-US" sz="2000" dirty="0" smtClean="0"/>
              <a:t>Υποχρεωτικό </a:t>
            </a:r>
            <a:r>
              <a:rPr lang="el-GR" altLang="en-US" sz="2000" dirty="0"/>
              <a:t>στην κύρια </a:t>
            </a:r>
            <a:r>
              <a:rPr lang="el-GR" altLang="en-US" sz="2000" dirty="0" smtClean="0"/>
              <a:t>ροή</a:t>
            </a:r>
          </a:p>
          <a:p>
            <a:r>
              <a:rPr lang="el-GR" altLang="en-US" sz="2000" dirty="0" smtClean="0"/>
              <a:t>Διαλέξεις</a:t>
            </a:r>
            <a:r>
              <a:rPr lang="el-GR" altLang="en-US" sz="2000" dirty="0"/>
              <a:t>:</a:t>
            </a:r>
          </a:p>
          <a:p>
            <a:pPr lvl="1"/>
            <a:r>
              <a:rPr lang="el-GR" altLang="en-US" sz="2000" dirty="0"/>
              <a:t>Παρασκευή, </a:t>
            </a:r>
            <a:r>
              <a:rPr lang="el-GR" altLang="en-US" sz="2000" b="1" dirty="0"/>
              <a:t>12:45 - </a:t>
            </a:r>
            <a:r>
              <a:rPr lang="el-GR" altLang="en-US" sz="2000" b="1" dirty="0" smtClean="0"/>
              <a:t>14:30</a:t>
            </a:r>
            <a:r>
              <a:rPr lang="el-GR" altLang="en-US" sz="2000" dirty="0" smtClean="0"/>
              <a:t>, Αίθουσα </a:t>
            </a:r>
            <a:r>
              <a:rPr lang="el-GR" altLang="en-US" sz="2000" b="1" dirty="0"/>
              <a:t>013</a:t>
            </a:r>
            <a:endParaRPr lang="el-GR" altLang="en-US" sz="2000" b="1" dirty="0" smtClean="0"/>
          </a:p>
          <a:p>
            <a:r>
              <a:rPr lang="el-GR" altLang="en-US" sz="2000" dirty="0" smtClean="0"/>
              <a:t>Εργαστήρια: </a:t>
            </a:r>
          </a:p>
          <a:p>
            <a:pPr lvl="1"/>
            <a:r>
              <a:rPr lang="el-GR" altLang="en-US" sz="2000" dirty="0" smtClean="0"/>
              <a:t>Παρασκευή</a:t>
            </a:r>
            <a:r>
              <a:rPr lang="el-GR" altLang="en-US" sz="2000" dirty="0"/>
              <a:t>, </a:t>
            </a:r>
            <a:r>
              <a:rPr lang="el-GR" altLang="en-US" sz="2000" b="1" dirty="0"/>
              <a:t>10:45 - </a:t>
            </a:r>
            <a:r>
              <a:rPr lang="el-GR" altLang="en-US" sz="2000" b="1" dirty="0" smtClean="0"/>
              <a:t>14:30</a:t>
            </a:r>
            <a:r>
              <a:rPr lang="el-GR" altLang="en-US" sz="2000" dirty="0" smtClean="0"/>
              <a:t>, </a:t>
            </a:r>
            <a:r>
              <a:rPr lang="en-US" sz="2000" b="1" dirty="0" smtClean="0"/>
              <a:t>PC Lab</a:t>
            </a:r>
            <a:endParaRPr lang="el-GR" altLang="en-US" sz="2000" dirty="0"/>
          </a:p>
          <a:p>
            <a:pPr lvl="2"/>
            <a:r>
              <a:rPr lang="el-GR" altLang="en-US" sz="1800" dirty="0"/>
              <a:t>Ομάδα Α: 10:45 με 12:30 </a:t>
            </a:r>
          </a:p>
          <a:p>
            <a:pPr lvl="2"/>
            <a:r>
              <a:rPr lang="el-GR" altLang="en-US" sz="1800" dirty="0"/>
              <a:t>Ομάδα Β: 12:45 με </a:t>
            </a:r>
            <a:r>
              <a:rPr lang="el-GR" altLang="en-US" sz="1800" dirty="0" smtClean="0"/>
              <a:t>14:30</a:t>
            </a:r>
          </a:p>
          <a:p>
            <a:pPr>
              <a:lnSpc>
                <a:spcPct val="120000"/>
              </a:lnSpc>
            </a:pPr>
            <a:r>
              <a:rPr lang="el-GR" sz="2000" dirty="0" smtClean="0"/>
              <a:t>Προσοχή, κάθε </a:t>
            </a:r>
            <a:r>
              <a:rPr lang="el-GR" sz="2000" dirty="0"/>
              <a:t>Παρασκευή </a:t>
            </a:r>
            <a:r>
              <a:rPr lang="el-GR" sz="2000" i="1" dirty="0"/>
              <a:t>θα γίνεται είτε διάλεξη είτε </a:t>
            </a:r>
            <a:r>
              <a:rPr lang="el-GR" sz="2000" i="1" dirty="0" smtClean="0"/>
              <a:t>εργαστήριο</a:t>
            </a:r>
            <a:r>
              <a:rPr lang="el-GR" sz="2000" dirty="0" smtClean="0"/>
              <a:t>, </a:t>
            </a:r>
            <a:r>
              <a:rPr lang="el-GR" sz="2000" i="1" dirty="0" smtClean="0"/>
              <a:t>κατόπιν </a:t>
            </a:r>
            <a:r>
              <a:rPr lang="el-GR" sz="2000" i="1" dirty="0"/>
              <a:t>σχετικής </a:t>
            </a:r>
            <a:r>
              <a:rPr lang="el-GR" sz="2000" i="1" dirty="0" smtClean="0"/>
              <a:t>ανακοίνωσης</a:t>
            </a:r>
            <a:r>
              <a:rPr lang="el-GR" sz="2000" dirty="0" smtClean="0"/>
              <a:t>.</a:t>
            </a:r>
            <a:endParaRPr 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A850889E-A5FA-4E6F-9ED0-BA87396331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5B9B2BA-A012-463E-88B7-BA8AD78FF8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l-GR" altLang="en-US" dirty="0"/>
              <a:t>Σκοπός του μαθήματος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982133" y="1556792"/>
            <a:ext cx="7478299" cy="4464496"/>
          </a:xfrm>
        </p:spPr>
        <p:txBody>
          <a:bodyPr>
            <a:noAutofit/>
          </a:bodyPr>
          <a:lstStyle/>
          <a:p>
            <a:pPr>
              <a:lnSpc>
                <a:spcPct val="110000"/>
              </a:lnSpc>
              <a:defRPr/>
            </a:pPr>
            <a:r>
              <a:rPr lang="el-GR" altLang="en-US" sz="2400" dirty="0"/>
              <a:t>Ανάλυση Τεχνολογιών και Μεθόδων </a:t>
            </a:r>
            <a:r>
              <a:rPr lang="el-GR" altLang="en-US" sz="2400" dirty="0" smtClean="0"/>
              <a:t>Ανάπτυξης Διαδικτυακών Εφαρμογών:</a:t>
            </a:r>
            <a:endParaRPr lang="el-GR" altLang="en-US" sz="2400" dirty="0"/>
          </a:p>
          <a:p>
            <a:pPr lvl="1">
              <a:lnSpc>
                <a:spcPct val="110000"/>
              </a:lnSpc>
              <a:defRPr/>
            </a:pPr>
            <a:r>
              <a:rPr lang="el-GR" altLang="en-US" sz="2000" dirty="0" smtClean="0"/>
              <a:t>Δημιουργία </a:t>
            </a:r>
            <a:r>
              <a:rPr lang="el-GR" altLang="en-US" sz="2000" dirty="0"/>
              <a:t>δυναμικών σελίδων με τεχνολογίες 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HTML</a:t>
            </a:r>
            <a:r>
              <a:rPr lang="en-US" altLang="en-US" sz="2000" dirty="0"/>
              <a:t>, </a:t>
            </a:r>
            <a:r>
              <a:rPr lang="en-US" altLang="en-US" sz="2000" dirty="0" smtClean="0"/>
              <a:t>CSS </a:t>
            </a:r>
            <a:r>
              <a:rPr lang="el-GR" altLang="en-US" sz="2000" dirty="0" smtClean="0"/>
              <a:t>και κυρίως </a:t>
            </a:r>
            <a:r>
              <a:rPr lang="en-US" altLang="en-US" sz="20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JavaScript</a:t>
            </a:r>
            <a:r>
              <a:rPr lang="en-US" altLang="en-US" sz="2000" dirty="0" smtClean="0"/>
              <a:t>.</a:t>
            </a:r>
            <a:endParaRPr lang="en-US" altLang="en-US" sz="2000" dirty="0"/>
          </a:p>
          <a:p>
            <a:pPr lvl="1">
              <a:lnSpc>
                <a:spcPct val="110000"/>
              </a:lnSpc>
              <a:defRPr/>
            </a:pPr>
            <a:r>
              <a:rPr lang="el-GR" altLang="en-US" sz="2000" dirty="0"/>
              <a:t>Δημιουργία Διαδικτυακών Υπηρεσιών (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Web Services</a:t>
            </a:r>
            <a:r>
              <a:rPr lang="el-GR" altLang="en-US" sz="2000" dirty="0"/>
              <a:t>)</a:t>
            </a:r>
            <a:r>
              <a:rPr lang="en-US" altLang="en-US" sz="2000" dirty="0"/>
              <a:t> </a:t>
            </a:r>
            <a:r>
              <a:rPr lang="el-GR" altLang="en-US" sz="2000" dirty="0"/>
              <a:t>με τεχνολογίες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SOAP</a:t>
            </a:r>
            <a:r>
              <a:rPr lang="en-US" altLang="en-US" sz="2000" dirty="0"/>
              <a:t> </a:t>
            </a:r>
            <a:r>
              <a:rPr lang="el-GR" altLang="en-US" sz="2000" dirty="0" smtClean="0"/>
              <a:t>και κυρίως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 </a:t>
            </a:r>
            <a:endParaRPr lang="el-GR" alt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110000"/>
              </a:lnSpc>
              <a:defRPr/>
            </a:pPr>
            <a:r>
              <a:rPr lang="el-GR" altLang="en-US" sz="2000" dirty="0"/>
              <a:t>Δημιουργία </a:t>
            </a:r>
            <a:r>
              <a:rPr lang="en-US" altLang="en-US" sz="2000" i="1" dirty="0"/>
              <a:t>web-based</a:t>
            </a:r>
            <a:r>
              <a:rPr lang="en-US" altLang="en-US" sz="2000" dirty="0"/>
              <a:t> </a:t>
            </a:r>
            <a:r>
              <a:rPr lang="el-GR" altLang="en-US" sz="2000" dirty="0"/>
              <a:t>εφαρμογών βασισμένες σε τεχνολογίες αιχμής</a:t>
            </a:r>
            <a:r>
              <a:rPr lang="en-US" altLang="en-US" sz="2000" dirty="0"/>
              <a:t> (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Web </a:t>
            </a:r>
            <a:r>
              <a:rPr lang="el-GR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3</a:t>
            </a:r>
            <a:r>
              <a:rPr lang="en-US" altLang="en-US" sz="20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.0</a:t>
            </a:r>
            <a:r>
              <a:rPr lang="en-US" altLang="en-US" sz="2000" dirty="0"/>
              <a:t>)</a:t>
            </a:r>
          </a:p>
          <a:p>
            <a:pPr>
              <a:lnSpc>
                <a:spcPct val="110000"/>
              </a:lnSpc>
              <a:defRPr/>
            </a:pPr>
            <a:r>
              <a:rPr lang="el-GR" altLang="en-US" sz="2400" dirty="0"/>
              <a:t>Εφαρμογή των παραπάνω θεμάτων μέσω εργαστηριακών μαθημάτων.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615E8E-0C8F-47CE-97A7-64FFC647AF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57950DB-42D5-4260-AF5E-9BC0E0D4E6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l-GR" altLang="en-US" dirty="0"/>
              <a:t>Επικοινωνία</a:t>
            </a:r>
          </a:p>
        </p:txBody>
      </p:sp>
      <p:sp>
        <p:nvSpPr>
          <p:cNvPr id="614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196752"/>
            <a:ext cx="7704667" cy="3332816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Web Site: </a:t>
            </a:r>
            <a:r>
              <a:rPr lang="el-GR" altLang="en-US" sz="2400" dirty="0"/>
              <a:t>μέσω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HELIOS</a:t>
            </a:r>
            <a:endParaRPr lang="el-GR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>
              <a:lnSpc>
                <a:spcPct val="120000"/>
              </a:lnSpc>
            </a:pPr>
            <a:r>
              <a:rPr lang="el-GR" altLang="en-US" sz="2400" dirty="0"/>
              <a:t>Διαθέσιμο σε εγγεγραμμένους χρήστες </a:t>
            </a:r>
            <a:endParaRPr lang="en-US" altLang="en-US" sz="2400" dirty="0">
              <a:hlinkClick r:id="rId2">
                <a:extLst>
                  <a:ext uri="{A12FA001-AC4F-418D-AE19-62706E023703}">
                    <ahyp:hlinkClr xmlns="" xmlns:ahyp="http://schemas.microsoft.com/office/drawing/2018/hyperlinkcolor" val="tx"/>
                  </a:ext>
                </a:extLst>
              </a:hlinkClick>
            </a:endParaRPr>
          </a:p>
          <a:p>
            <a:pPr lvl="2">
              <a:lnSpc>
                <a:spcPct val="120000"/>
              </a:lnSpc>
            </a:pPr>
            <a:r>
              <a:rPr lang="en-US" altLang="en-US" sz="2000" dirty="0">
                <a:hlinkClick r:id="rId2"/>
              </a:rPr>
              <a:t>https://</a:t>
            </a:r>
            <a:r>
              <a:rPr lang="en-US" altLang="en-US" sz="2000" dirty="0" smtClean="0">
                <a:hlinkClick r:id="rId2"/>
              </a:rPr>
              <a:t>helios.ntua.gr/course/view.php?id=972</a:t>
            </a:r>
            <a:endParaRPr lang="en-US" altLang="en-US" sz="2000" dirty="0" smtClean="0"/>
          </a:p>
          <a:p>
            <a:pPr lvl="2">
              <a:lnSpc>
                <a:spcPct val="120000"/>
              </a:lnSpc>
            </a:pPr>
            <a:endParaRPr lang="en-US" altLang="en-US" sz="1000" dirty="0"/>
          </a:p>
          <a:p>
            <a:pPr lvl="1">
              <a:lnSpc>
                <a:spcPct val="120000"/>
              </a:lnSpc>
            </a:pPr>
            <a:r>
              <a:rPr lang="el-GR" altLang="en-US" sz="2400" dirty="0"/>
              <a:t>Ανακοινώσεις στην σχετική ενότητα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868D94B2-1F10-4045-A19D-D85BC1C4CD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303069F-1375-49DC-8DA1-4E362FC327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l-GR" altLang="en-US" dirty="0"/>
              <a:t>Διαδικαστικά...</a:t>
            </a:r>
          </a:p>
        </p:txBody>
      </p:sp>
      <p:sp>
        <p:nvSpPr>
          <p:cNvPr id="717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340768"/>
            <a:ext cx="7910347" cy="4824536"/>
          </a:xfrm>
        </p:spPr>
        <p:txBody>
          <a:bodyPr>
            <a:normAutofit/>
          </a:bodyPr>
          <a:lstStyle/>
          <a:p>
            <a:r>
              <a:rPr lang="el-GR" altLang="en-US" sz="2400" dirty="0"/>
              <a:t>Το μάθημα Διαδικτυακός Προγραμματισμός θα ολοκληρωθεί με </a:t>
            </a:r>
            <a:r>
              <a:rPr lang="el-GR" altLang="en-US" sz="2400" b="1" dirty="0"/>
              <a:t>9 Διαλέξεις</a:t>
            </a:r>
            <a:r>
              <a:rPr lang="el-GR" altLang="en-US" sz="2400" dirty="0"/>
              <a:t>.</a:t>
            </a:r>
          </a:p>
          <a:p>
            <a:r>
              <a:rPr lang="el-GR" altLang="en-US" sz="2400" dirty="0"/>
              <a:t>Παράλληλα θα γίνουν </a:t>
            </a:r>
            <a:r>
              <a:rPr lang="en-US" altLang="en-US" sz="2400" b="1" dirty="0" smtClean="0"/>
              <a:t>3</a:t>
            </a:r>
            <a:r>
              <a:rPr lang="el-GR" altLang="en-US" sz="2400" b="1" dirty="0" smtClean="0"/>
              <a:t> </a:t>
            </a:r>
            <a:r>
              <a:rPr lang="el-GR" altLang="en-US" sz="2400" b="1" dirty="0"/>
              <a:t>Εργαστήρια </a:t>
            </a:r>
            <a:r>
              <a:rPr lang="el-GR" altLang="en-US" sz="2400" dirty="0"/>
              <a:t>με στόχο την εφαρμογή των θεωρητικών διαλέξεων.</a:t>
            </a:r>
          </a:p>
          <a:p>
            <a:r>
              <a:rPr lang="el-GR" altLang="en-US" sz="2400" dirty="0" smtClean="0"/>
              <a:t>Θα υπάρξει ατομική εξαμηνιαία </a:t>
            </a:r>
            <a:r>
              <a:rPr lang="el-GR" altLang="en-US" sz="2400" b="1" dirty="0" smtClean="0"/>
              <a:t>εργασία </a:t>
            </a:r>
            <a:r>
              <a:rPr lang="el-GR" altLang="en-US" sz="2400" dirty="0" smtClean="0"/>
              <a:t>που θα περιλαμβάνει την ανάπτυξη μιας διαδικτυακής εφαρμογής. </a:t>
            </a:r>
            <a:endParaRPr lang="en-US" altLang="en-US" sz="2400" dirty="0" smtClean="0"/>
          </a:p>
          <a:p>
            <a:r>
              <a:rPr lang="el-GR" altLang="en-US" sz="2400" dirty="0" smtClean="0"/>
              <a:t>Η </a:t>
            </a:r>
            <a:r>
              <a:rPr lang="el-GR" altLang="en-US" sz="2400" b="1" dirty="0"/>
              <a:t>εξέταση</a:t>
            </a:r>
            <a:r>
              <a:rPr lang="el-GR" altLang="en-US" sz="2400" dirty="0"/>
              <a:t> του μαθήματος θα πραγματοποιηθεί στο εργαστήριο και ο </a:t>
            </a:r>
            <a:r>
              <a:rPr lang="el-GR" altLang="en-US" sz="2400" b="1" dirty="0"/>
              <a:t>βαθμός</a:t>
            </a:r>
            <a:r>
              <a:rPr lang="el-GR" altLang="en-US" sz="2400" dirty="0"/>
              <a:t> θα προκύπτει </a:t>
            </a:r>
            <a:r>
              <a:rPr lang="el-GR" altLang="en-US" sz="2400" i="1" dirty="0" smtClean="0"/>
              <a:t>με βάση τόσο την εργασία όσο και την επίδοσή σας στην εξέταση</a:t>
            </a:r>
            <a:r>
              <a:rPr lang="el-GR" altLang="en-US" sz="2400" dirty="0" smtClean="0"/>
              <a:t>.</a:t>
            </a:r>
            <a:endParaRPr lang="el-GR" alt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EC084D4B-329C-4074-95C7-B5D62CD067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B915F1B-9A8F-4637-B1B8-CC23C486B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l-GR" altLang="en-US" dirty="0"/>
              <a:t>Πρόγραμμα Μαθήματος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1651138" y="1340768"/>
            <a:ext cx="7097326" cy="4896544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defRPr/>
            </a:pPr>
            <a:r>
              <a:rPr lang="el-GR" altLang="en-US" sz="2000" dirty="0"/>
              <a:t>Εισαγωγή</a:t>
            </a:r>
            <a:r>
              <a:rPr lang="en-US" altLang="en-US" sz="2000" dirty="0"/>
              <a:t> </a:t>
            </a:r>
            <a:r>
              <a:rPr lang="el-GR" altLang="en-US" sz="2000" dirty="0" smtClean="0"/>
              <a:t>στο Διαδίκτυο και Εφαρμογές </a:t>
            </a:r>
            <a:endParaRPr lang="el-GR" altLang="en-US" sz="2000" dirty="0"/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/>
              <a:t>HTTP</a:t>
            </a:r>
            <a:r>
              <a:rPr lang="el-GR" altLang="en-US" sz="2000" dirty="0" smtClean="0"/>
              <a:t> (1/2)</a:t>
            </a:r>
            <a:endParaRPr lang="el-GR" altLang="en-US" sz="2000" dirty="0"/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/>
              <a:t>HTTP </a:t>
            </a:r>
            <a:r>
              <a:rPr lang="el-GR" altLang="en-US" sz="2000" dirty="0" smtClean="0"/>
              <a:t>(2/2)</a:t>
            </a:r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/>
              <a:t>HTML/CSS</a:t>
            </a:r>
            <a:r>
              <a:rPr lang="el-GR" altLang="en-US" sz="2000" dirty="0" smtClean="0"/>
              <a:t> και </a:t>
            </a:r>
            <a:r>
              <a:rPr lang="en-US" altLang="en-US" sz="2000" dirty="0" smtClean="0"/>
              <a:t>JavaScript </a:t>
            </a:r>
            <a:endParaRPr lang="en-US" altLang="en-US" sz="2000" dirty="0"/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/>
              <a:t>JavaScript </a:t>
            </a:r>
            <a:r>
              <a:rPr lang="el-GR" altLang="en-US" sz="2000" dirty="0" smtClean="0"/>
              <a:t>(1/2)</a:t>
            </a:r>
            <a:endParaRPr lang="en-US" altLang="en-US" sz="2000" dirty="0"/>
          </a:p>
          <a:p>
            <a:pPr>
              <a:lnSpc>
                <a:spcPct val="80000"/>
              </a:lnSpc>
              <a:defRPr/>
            </a:pPr>
            <a:r>
              <a:rPr lang="en-US" altLang="en-US" sz="2000" dirty="0" smtClean="0"/>
              <a:t>JavaScript </a:t>
            </a:r>
            <a:r>
              <a:rPr lang="el-GR" altLang="en-US" sz="2000" dirty="0" smtClean="0"/>
              <a:t>(2/2)</a:t>
            </a:r>
            <a:endParaRPr lang="en-US" altLang="en-US" sz="2000" dirty="0"/>
          </a:p>
          <a:p>
            <a:pPr>
              <a:lnSpc>
                <a:spcPct val="80000"/>
              </a:lnSpc>
              <a:defRPr/>
            </a:pPr>
            <a:r>
              <a:rPr lang="el-GR" altLang="en-US" sz="2000" i="1" dirty="0">
                <a:solidFill>
                  <a:srgbClr val="002060"/>
                </a:solidFill>
              </a:rPr>
              <a:t>Εργαστήριο</a:t>
            </a:r>
            <a:r>
              <a:rPr lang="en-US" altLang="en-US" sz="2000" i="1" dirty="0">
                <a:solidFill>
                  <a:srgbClr val="002060"/>
                </a:solidFill>
              </a:rPr>
              <a:t> 1</a:t>
            </a:r>
            <a:r>
              <a:rPr lang="el-GR" altLang="en-US" sz="2000" i="1" dirty="0">
                <a:solidFill>
                  <a:srgbClr val="002060"/>
                </a:solidFill>
              </a:rPr>
              <a:t>: </a:t>
            </a:r>
            <a:r>
              <a:rPr lang="en-US" altLang="en-US" sz="2000" i="1" dirty="0" smtClean="0">
                <a:solidFill>
                  <a:srgbClr val="002060"/>
                </a:solidFill>
              </a:rPr>
              <a:t>HTTP, HTML &amp; JavaScript </a:t>
            </a:r>
            <a:endParaRPr lang="en-US" altLang="en-US" sz="2000" i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l-GR" altLang="en-US" sz="2000" i="1" dirty="0" smtClean="0">
                <a:solidFill>
                  <a:srgbClr val="002060"/>
                </a:solidFill>
              </a:rPr>
              <a:t>Εργαστήριο</a:t>
            </a:r>
            <a:r>
              <a:rPr lang="en-US" altLang="en-US" sz="2000" i="1" dirty="0" smtClean="0">
                <a:solidFill>
                  <a:srgbClr val="002060"/>
                </a:solidFill>
              </a:rPr>
              <a:t> </a:t>
            </a:r>
            <a:r>
              <a:rPr lang="en-US" altLang="en-US" sz="2000" i="1" dirty="0">
                <a:solidFill>
                  <a:srgbClr val="002060"/>
                </a:solidFill>
              </a:rPr>
              <a:t>2</a:t>
            </a:r>
            <a:r>
              <a:rPr lang="el-GR" altLang="en-US" sz="2000" i="1" dirty="0" smtClean="0">
                <a:solidFill>
                  <a:srgbClr val="002060"/>
                </a:solidFill>
              </a:rPr>
              <a:t>:</a:t>
            </a:r>
            <a:r>
              <a:rPr lang="en-US" altLang="en-US" sz="2000" i="1" dirty="0" smtClean="0">
                <a:solidFill>
                  <a:srgbClr val="002060"/>
                </a:solidFill>
              </a:rPr>
              <a:t> JavaScript &amp; REST services </a:t>
            </a:r>
            <a:endParaRPr lang="en-US" altLang="en-US" sz="2000" i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l-GR" altLang="en-US" sz="2000" dirty="0" smtClean="0"/>
              <a:t>Ανάπτυξη Δυναμικών Σελίδων</a:t>
            </a:r>
            <a:endParaRPr lang="en-US" altLang="en-US" sz="2000" dirty="0" smtClean="0"/>
          </a:p>
          <a:p>
            <a:pPr>
              <a:lnSpc>
                <a:spcPct val="80000"/>
              </a:lnSpc>
              <a:defRPr/>
            </a:pPr>
            <a:r>
              <a:rPr lang="el-GR" altLang="en-US" sz="2000" dirty="0" smtClean="0"/>
              <a:t>Ανάπτυξη Διαδικτυακών Υπηρεσιών</a:t>
            </a:r>
            <a:endParaRPr lang="en-US" altLang="en-US" sz="2000" dirty="0" smtClean="0"/>
          </a:p>
          <a:p>
            <a:pPr>
              <a:lnSpc>
                <a:spcPct val="80000"/>
              </a:lnSpc>
              <a:defRPr/>
            </a:pPr>
            <a:r>
              <a:rPr lang="el-GR" altLang="en-US" sz="2000" i="1" dirty="0" smtClean="0">
                <a:solidFill>
                  <a:srgbClr val="002060"/>
                </a:solidFill>
              </a:rPr>
              <a:t>Εργαστήριο</a:t>
            </a:r>
            <a:r>
              <a:rPr lang="en-US" altLang="en-US" sz="2000" i="1" dirty="0" smtClean="0">
                <a:solidFill>
                  <a:srgbClr val="002060"/>
                </a:solidFill>
              </a:rPr>
              <a:t> </a:t>
            </a:r>
            <a:r>
              <a:rPr lang="en-US" altLang="en-US" sz="2000" i="1" dirty="0">
                <a:solidFill>
                  <a:srgbClr val="002060"/>
                </a:solidFill>
              </a:rPr>
              <a:t>3: </a:t>
            </a:r>
            <a:r>
              <a:rPr lang="en-US" altLang="en-US" sz="2000" i="1" dirty="0" smtClean="0">
                <a:solidFill>
                  <a:srgbClr val="002060"/>
                </a:solidFill>
              </a:rPr>
              <a:t>Python</a:t>
            </a:r>
            <a:r>
              <a:rPr lang="el-GR" altLang="en-US" sz="2000" i="1" dirty="0" smtClean="0">
                <a:solidFill>
                  <a:srgbClr val="002060"/>
                </a:solidFill>
              </a:rPr>
              <a:t>, και </a:t>
            </a:r>
            <a:r>
              <a:rPr lang="en-US" altLang="en-US" sz="2000" i="1" dirty="0" smtClean="0">
                <a:solidFill>
                  <a:srgbClr val="002060"/>
                </a:solidFill>
              </a:rPr>
              <a:t>REST services</a:t>
            </a:r>
            <a:endParaRPr lang="en-US" altLang="en-US" sz="2000" i="1" dirty="0">
              <a:solidFill>
                <a:srgbClr val="002060"/>
              </a:solidFill>
            </a:endParaRPr>
          </a:p>
          <a:p>
            <a:pPr>
              <a:lnSpc>
                <a:spcPct val="80000"/>
              </a:lnSpc>
              <a:defRPr/>
            </a:pPr>
            <a:r>
              <a:rPr lang="el-GR" altLang="en-US" sz="2000" dirty="0" smtClean="0"/>
              <a:t>Προχωρημένα Θέματα Διαδικτυακών Εφαρμογών</a:t>
            </a:r>
            <a:endParaRPr lang="en-US" altLang="en-US" sz="20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E0ADEF16-A0AF-4041-9E53-FC424AD68E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A0AB24C-F501-489C-A3E0-4C996CA4F1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99392"/>
            <a:ext cx="7704667" cy="1981200"/>
          </a:xfrm>
        </p:spPr>
        <p:txBody>
          <a:bodyPr/>
          <a:lstStyle/>
          <a:p>
            <a:r>
              <a:rPr lang="en-US" altLang="en-US" dirty="0"/>
              <a:t>World Wide Web (WWW)</a:t>
            </a:r>
          </a:p>
        </p:txBody>
      </p:sp>
      <p:sp>
        <p:nvSpPr>
          <p:cNvPr id="1126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364343"/>
            <a:ext cx="7704667" cy="5016985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l-GR" altLang="en-US" sz="2700" dirty="0"/>
              <a:t>Ο </a:t>
            </a:r>
            <a:r>
              <a:rPr lang="el-GR" altLang="en-US" sz="2700" b="1" dirty="0"/>
              <a:t>Παγκόσμιος Ιστός </a:t>
            </a:r>
            <a:r>
              <a:rPr lang="el-GR" altLang="en-US" sz="2700" dirty="0"/>
              <a:t>(</a:t>
            </a:r>
            <a:r>
              <a:rPr lang="en-US" altLang="en-US" sz="2700" dirty="0"/>
              <a:t>World Wide </a:t>
            </a:r>
            <a:r>
              <a:rPr lang="el-GR" altLang="en-US" sz="2700" dirty="0"/>
              <a:t>Web ή απλά "Web") είναι ένα σύστημα διασυνδεδεμένων (</a:t>
            </a:r>
            <a:r>
              <a:rPr lang="el-GR" altLang="en-US" sz="2700" dirty="0" err="1"/>
              <a:t>υπέρ)εγγράφων</a:t>
            </a:r>
            <a:r>
              <a:rPr lang="el-GR" altLang="en-US" sz="2700" dirty="0"/>
              <a:t> (</a:t>
            </a:r>
            <a:r>
              <a:rPr lang="en-US" altLang="en-US" sz="2700" dirty="0"/>
              <a:t>hypertext</a:t>
            </a:r>
            <a:r>
              <a:rPr lang="el-GR" altLang="en-US" sz="2700" dirty="0"/>
              <a:t>) που λειτουργεί πάνω από το Internet.</a:t>
            </a:r>
          </a:p>
          <a:p>
            <a:pPr algn="just">
              <a:lnSpc>
                <a:spcPct val="120000"/>
              </a:lnSpc>
            </a:pPr>
            <a:r>
              <a:rPr lang="el-GR" altLang="en-US" sz="2700" dirty="0"/>
              <a:t>Με την χρήση ενός </a:t>
            </a:r>
            <a:r>
              <a:rPr lang="el-GR" altLang="en-US" sz="2700" b="1" dirty="0"/>
              <a:t>φυλλομετρητή</a:t>
            </a:r>
            <a:r>
              <a:rPr lang="el-GR" altLang="en-US" sz="2700" dirty="0"/>
              <a:t> (Web </a:t>
            </a:r>
            <a:r>
              <a:rPr lang="en-US" altLang="en-US" sz="2700" dirty="0"/>
              <a:t>browser</a:t>
            </a:r>
            <a:r>
              <a:rPr lang="el-GR" altLang="en-US" sz="2700" dirty="0"/>
              <a:t>) οι χρήστες μπορούν να έχουν πρόσβαση στις σελίδες (Web </a:t>
            </a:r>
            <a:r>
              <a:rPr lang="en-US" altLang="en-US" sz="2700" dirty="0"/>
              <a:t>pages</a:t>
            </a:r>
            <a:r>
              <a:rPr lang="el-GR" altLang="en-US" sz="2700" dirty="0"/>
              <a:t>) που μπορούν να περιέχουν:</a:t>
            </a:r>
          </a:p>
          <a:p>
            <a:pPr lvl="1">
              <a:lnSpc>
                <a:spcPct val="120000"/>
              </a:lnSpc>
            </a:pPr>
            <a:r>
              <a:rPr lang="el-GR" altLang="en-US" sz="2300" dirty="0"/>
              <a:t>Κείμενο</a:t>
            </a:r>
          </a:p>
          <a:p>
            <a:pPr lvl="1">
              <a:lnSpc>
                <a:spcPct val="120000"/>
              </a:lnSpc>
            </a:pPr>
            <a:r>
              <a:rPr lang="el-GR" altLang="en-US" sz="2300" dirty="0"/>
              <a:t>Εικόνες</a:t>
            </a:r>
          </a:p>
          <a:p>
            <a:pPr lvl="1">
              <a:lnSpc>
                <a:spcPct val="120000"/>
              </a:lnSpc>
            </a:pPr>
            <a:r>
              <a:rPr lang="el-GR" altLang="en-US" sz="2300" dirty="0"/>
              <a:t>Άλλα πολυμέσα</a:t>
            </a:r>
          </a:p>
          <a:p>
            <a:pPr lvl="1">
              <a:lnSpc>
                <a:spcPct val="120000"/>
              </a:lnSpc>
            </a:pPr>
            <a:r>
              <a:rPr lang="el-GR" altLang="en-US" sz="2300" dirty="0"/>
              <a:t>συνδέσμους για την διασύνδεση και πλοήγηση μεταξύ των σελίδων.</a:t>
            </a:r>
            <a:endParaRPr lang="en-US" altLang="en-US" sz="2300" dirty="0"/>
          </a:p>
          <a:p>
            <a:pPr lvl="1">
              <a:lnSpc>
                <a:spcPct val="120000"/>
              </a:lnSpc>
            </a:pPr>
            <a:r>
              <a:rPr lang="en-US" altLang="en-US" sz="2300" dirty="0"/>
              <a:t>…</a:t>
            </a:r>
            <a:r>
              <a:rPr lang="el-GR" altLang="en-US" sz="2300" dirty="0"/>
              <a:t>αλλά και ολοκληρωμένες εφαρμογές!!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8B663BB-68F6-40E3-9D2E-087BCD3E34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99392"/>
            <a:ext cx="7704667" cy="1981200"/>
          </a:xfrm>
        </p:spPr>
        <p:txBody>
          <a:bodyPr/>
          <a:lstStyle/>
          <a:p>
            <a:r>
              <a:rPr lang="el-GR" altLang="en-US" dirty="0"/>
              <a:t>Βασικές έννοιες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idx="1"/>
          </p:nvPr>
        </p:nvSpPr>
        <p:spPr>
          <a:xfrm>
            <a:off x="982133" y="1196752"/>
            <a:ext cx="7704667" cy="547260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l-GR" altLang="en-US" sz="2000" b="1" dirty="0"/>
              <a:t>Υπερκείμενο</a:t>
            </a:r>
            <a:r>
              <a:rPr lang="en-US" altLang="en-US" sz="2000" b="1" dirty="0"/>
              <a:t> (Hypertext): </a:t>
            </a:r>
          </a:p>
          <a:p>
            <a:pPr lvl="1" algn="just">
              <a:defRPr/>
            </a:pPr>
            <a:r>
              <a:rPr lang="el-GR" altLang="en-US" sz="1600" dirty="0"/>
              <a:t>ένα σχήμα πληροφοριών</a:t>
            </a:r>
            <a:r>
              <a:rPr lang="en-US" altLang="en-US" sz="1600" dirty="0"/>
              <a:t> (format of information) </a:t>
            </a:r>
            <a:r>
              <a:rPr lang="el-GR" altLang="en-US" sz="1600" dirty="0"/>
              <a:t>που επιτρέπει στον χρήστη ενός περιβάλλοντος υπολογιστών, να κινηθεί από ένα μέρος ενός εγγράφου προς ένα άλλο ή από ένα έγγραφο προς άλλο μέσω των εσωτερικών συνδέσεων μεταξύ αυτών των εγγράφων </a:t>
            </a:r>
            <a:r>
              <a:rPr lang="en-US" altLang="en-US" sz="1600" dirty="0"/>
              <a:t>(hyperlinks).</a:t>
            </a:r>
          </a:p>
          <a:p>
            <a:pPr>
              <a:defRPr/>
            </a:pPr>
            <a:r>
              <a:rPr lang="el-GR" altLang="en-US" sz="2000" b="1" dirty="0"/>
              <a:t>Προσδιοριστικά των πόρων </a:t>
            </a:r>
            <a:r>
              <a:rPr lang="en-US" altLang="en-US" sz="2000" b="1" dirty="0"/>
              <a:t>(Resource Identifiers): </a:t>
            </a:r>
          </a:p>
          <a:p>
            <a:pPr lvl="1" algn="just">
              <a:defRPr/>
            </a:pPr>
            <a:r>
              <a:rPr lang="el-GR" altLang="en-US" sz="1600" dirty="0"/>
              <a:t>μοναδικά προσδιοριστικά που χρησιμοποιούνται για τον εντοπισμό ενός ιδιαιτέρου πόρου (αρχείο υπολογιστών, έγγραφο ή άλλος πόρο) στο δίκτυο - γνωστά ως </a:t>
            </a:r>
            <a:r>
              <a:rPr lang="en-US" altLang="en-US" sz="1600" dirty="0"/>
              <a:t>URL ή URI.</a:t>
            </a:r>
          </a:p>
          <a:p>
            <a:pPr>
              <a:defRPr/>
            </a:pPr>
            <a:r>
              <a:rPr lang="el-GR" altLang="en-US" sz="2000" b="1" dirty="0"/>
              <a:t>Μοντέλο Πελάτη-Εξυπηρετητή </a:t>
            </a:r>
            <a:r>
              <a:rPr lang="en-US" altLang="en-US" sz="2000" b="1" dirty="0"/>
              <a:t>(Client-Server): </a:t>
            </a:r>
          </a:p>
          <a:p>
            <a:pPr lvl="1" algn="just">
              <a:defRPr/>
            </a:pPr>
            <a:r>
              <a:rPr lang="el-GR" altLang="en-US" sz="1600" dirty="0"/>
              <a:t>ένα σύστημα στο οποίο το λογισμικό πελατών ή ένας υπολογιστής πελατών υποβάλλει αιτήματα, τα οποία εξυπηρετούν κεντρικοί υπολογιστές</a:t>
            </a:r>
            <a:r>
              <a:rPr lang="en-US" altLang="en-US" sz="1600" dirty="0"/>
              <a:t>.</a:t>
            </a:r>
          </a:p>
          <a:p>
            <a:pPr>
              <a:defRPr/>
            </a:pPr>
            <a:r>
              <a:rPr lang="el-GR" altLang="en-US" sz="2000" b="1" dirty="0"/>
              <a:t>Γλώσσα Επισήμανσης </a:t>
            </a:r>
            <a:r>
              <a:rPr lang="en-US" altLang="en-US" sz="2000" b="1" dirty="0"/>
              <a:t>(Markup language): </a:t>
            </a:r>
          </a:p>
          <a:p>
            <a:pPr lvl="1" algn="just">
              <a:defRPr/>
            </a:pPr>
            <a:r>
              <a:rPr lang="el-GR" altLang="en-US" sz="1600" dirty="0"/>
              <a:t>οι χαρακτήρες ή οι κώδικες στο κείμενο που δείχνουν τη </a:t>
            </a:r>
            <a:r>
              <a:rPr lang="el-GR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δομή</a:t>
            </a:r>
            <a:r>
              <a:rPr lang="el-GR" altLang="en-US" sz="1600" dirty="0"/>
              <a:t>, τη </a:t>
            </a:r>
            <a:r>
              <a:rPr lang="el-GR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σημασιολογική έννοια</a:t>
            </a:r>
            <a:r>
              <a:rPr lang="el-GR" altLang="en-US" sz="1600" dirty="0"/>
              <a:t>, ή τις συμβουλές για την </a:t>
            </a:r>
            <a:r>
              <a:rPr lang="el-GR" altLang="en-US" sz="16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παρουσίαση</a:t>
            </a:r>
            <a:r>
              <a:rPr lang="el-GR" altLang="en-US" sz="1600" dirty="0"/>
              <a:t> του ίδιου του κειμένου - σελίδα.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1D1DE68-D220-4833-BC8C-D9393BC7BE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dirty="0" smtClean="0"/>
              <a:t>Web 1.0 </a:t>
            </a:r>
            <a:r>
              <a:rPr lang="el-GR" dirty="0" smtClean="0"/>
              <a:t>και </a:t>
            </a:r>
            <a:r>
              <a:rPr lang="en-US" dirty="0" smtClean="0"/>
              <a:t>Web 2.0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20" y="1998851"/>
            <a:ext cx="8456168" cy="3446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09295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/>
              <a:t>WEB 2.0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982133" y="1412776"/>
            <a:ext cx="7982355" cy="47525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200" b="1" i="1" dirty="0"/>
              <a:t>“Web as a platform…”</a:t>
            </a:r>
          </a:p>
          <a:p>
            <a:pPr>
              <a:defRPr/>
            </a:pPr>
            <a:endParaRPr lang="en-US" altLang="en-US" sz="600" dirty="0"/>
          </a:p>
          <a:p>
            <a:pPr algn="just">
              <a:defRPr/>
            </a:pPr>
            <a:r>
              <a:rPr lang="en-US" altLang="en-US" sz="2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Web </a:t>
            </a:r>
            <a:r>
              <a:rPr lang="el-GR" altLang="en-US" sz="22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2.0 </a:t>
            </a:r>
            <a:r>
              <a:rPr lang="el-GR" altLang="en-US" sz="2200" dirty="0"/>
              <a:t>είναι μια έκφραση προερχόμενη από την</a:t>
            </a:r>
            <a:r>
              <a:rPr lang="en-US" altLang="en-US" sz="2200" dirty="0"/>
              <a:t> O'Reilly Media </a:t>
            </a:r>
            <a:r>
              <a:rPr lang="el-GR" altLang="en-US" sz="2200" dirty="0"/>
              <a:t>το</a:t>
            </a:r>
            <a:r>
              <a:rPr lang="en-US" altLang="en-US" sz="2200" dirty="0"/>
              <a:t> 2004, </a:t>
            </a:r>
            <a:r>
              <a:rPr lang="el-GR" altLang="en-US" sz="2200" dirty="0"/>
              <a:t>και αναφέρεται στην 2η γενιά του</a:t>
            </a:r>
            <a:r>
              <a:rPr lang="en-US" altLang="en-US" sz="2200" dirty="0"/>
              <a:t> World Wide Web </a:t>
            </a:r>
            <a:r>
              <a:rPr lang="el-GR" altLang="en-US" sz="2200" dirty="0"/>
              <a:t>βασισμένη σε κοινότητες και υπηρεσίες – όπως τα</a:t>
            </a:r>
            <a:r>
              <a:rPr lang="en-US" altLang="en-US" sz="2200" dirty="0"/>
              <a:t> «social networking sites» </a:t>
            </a:r>
            <a:r>
              <a:rPr lang="el-GR" altLang="en-US" sz="2200" dirty="0"/>
              <a:t>και</a:t>
            </a:r>
            <a:r>
              <a:rPr lang="en-US" altLang="en-US" sz="2200" dirty="0"/>
              <a:t> wikis – </a:t>
            </a:r>
            <a:r>
              <a:rPr lang="el-GR" altLang="en-US" sz="2200" dirty="0"/>
              <a:t>που διευκολύνουν την συνεργασία και την ανταλλαγή πληροφοριών μεταξύ των χρηστών.</a:t>
            </a:r>
          </a:p>
          <a:p>
            <a:pPr algn="just">
              <a:defRPr/>
            </a:pPr>
            <a:r>
              <a:rPr lang="el-GR" altLang="en-US" sz="2200" dirty="0"/>
              <a:t>Αν και ο όρος προτείνει μια νέα έκδοση του ιστού, δεν αναφέρεται σε μια αναπροσαρμογή στις τεχνικές προδιαγραφές του, αλλά στις αλλαγές στον τρόπο που οι χρήστες και οι προγραμματιστές τον χρησιμοποιούν</a:t>
            </a:r>
            <a:r>
              <a:rPr lang="el-GR" altLang="en-US" sz="2200" dirty="0" smtClean="0"/>
              <a:t>.</a:t>
            </a:r>
            <a:endParaRPr lang="el-GR" altLang="en-US" sz="22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912A76DE-51D6-4290-A0EB-201C061F0B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A996866-DA39-4314-997C-97927F0135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99392"/>
            <a:ext cx="7704667" cy="1981200"/>
          </a:xfrm>
        </p:spPr>
        <p:txBody>
          <a:bodyPr/>
          <a:lstStyle/>
          <a:p>
            <a:r>
              <a:rPr lang="en-US" altLang="en-US" dirty="0"/>
              <a:t>Παρα</a:t>
            </a:r>
            <a:r>
              <a:rPr lang="en-US" altLang="en-US" dirty="0" err="1"/>
              <a:t>δείγμ</a:t>
            </a:r>
            <a:r>
              <a:rPr lang="en-US" altLang="en-US" dirty="0"/>
              <a:t>ατα WEB 2.0</a:t>
            </a:r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71600" y="1340768"/>
            <a:ext cx="8172400" cy="48245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sz="2000" b="1" dirty="0"/>
              <a:t>Google</a:t>
            </a:r>
            <a:r>
              <a:rPr lang="el-GR" altLang="en-US" sz="2000" b="1" dirty="0"/>
              <a:t> </a:t>
            </a:r>
            <a:r>
              <a:rPr lang="en-US" altLang="en-US" sz="2000" b="1" dirty="0"/>
              <a:t>Docs</a:t>
            </a:r>
          </a:p>
          <a:p>
            <a:pPr lvl="1"/>
            <a:r>
              <a:rPr lang="el-GR" altLang="en-US" sz="2000" dirty="0"/>
              <a:t>Οι χρήστες έχουν πρόσβαση σε </a:t>
            </a:r>
            <a:r>
              <a:rPr lang="en-US" altLang="en-US" sz="2000" dirty="0"/>
              <a:t>office</a:t>
            </a:r>
            <a:r>
              <a:rPr lang="el-GR" altLang="en-US" sz="2000" dirty="0"/>
              <a:t> </a:t>
            </a:r>
            <a:r>
              <a:rPr lang="en-US" altLang="en-US" sz="2000" dirty="0"/>
              <a:t>suites</a:t>
            </a:r>
            <a:r>
              <a:rPr lang="el-GR" altLang="en-US" sz="2000" dirty="0"/>
              <a:t> (</a:t>
            </a:r>
            <a:r>
              <a:rPr lang="en-US" altLang="en-US" sz="2000" dirty="0"/>
              <a:t>word</a:t>
            </a:r>
            <a:r>
              <a:rPr lang="el-GR" altLang="en-US" sz="2000" dirty="0"/>
              <a:t>, </a:t>
            </a:r>
            <a:r>
              <a:rPr lang="en-US" altLang="en-US" sz="2000" dirty="0"/>
              <a:t>excel</a:t>
            </a:r>
            <a:r>
              <a:rPr lang="el-GR" altLang="en-US" sz="2000" dirty="0"/>
              <a:t>) </a:t>
            </a:r>
            <a:r>
              <a:rPr lang="en-US" altLang="en-US" sz="2000" dirty="0"/>
              <a:t>online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l-GR" altLang="en-US" sz="2000" b="1" dirty="0"/>
              <a:t>Δικτυακοί Χάρτες (Web </a:t>
            </a:r>
            <a:r>
              <a:rPr lang="en-US" altLang="en-US" sz="2000" b="1" dirty="0"/>
              <a:t>Maps</a:t>
            </a:r>
            <a:r>
              <a:rPr lang="el-GR" altLang="en-US" sz="2000" b="1" dirty="0"/>
              <a:t>)</a:t>
            </a:r>
          </a:p>
          <a:p>
            <a:pPr lvl="1"/>
            <a:r>
              <a:rPr lang="el-GR" altLang="en-US" sz="2000" dirty="0"/>
              <a:t>Μέσα από αυτά τα </a:t>
            </a:r>
            <a:r>
              <a:rPr lang="en-US" altLang="en-US" sz="2000" dirty="0"/>
              <a:t>site</a:t>
            </a:r>
            <a:r>
              <a:rPr lang="el-GR" altLang="en-US" sz="2000" dirty="0"/>
              <a:t> οι χρήστες μπορούν να έχουν πρόσβαση σε ηλεκτρονικούς χάρτες και σημεία ενδιαφέροντος</a:t>
            </a:r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l-GR" altLang="en-US" sz="2000" b="1" dirty="0" smtClean="0"/>
              <a:t>Πλατφόρμες Βίντεο</a:t>
            </a:r>
            <a:endParaRPr lang="el-GR" altLang="en-US" sz="2000" b="1" dirty="0"/>
          </a:p>
          <a:p>
            <a:pPr>
              <a:lnSpc>
                <a:spcPct val="90000"/>
              </a:lnSpc>
              <a:spcAft>
                <a:spcPts val="0"/>
              </a:spcAft>
            </a:pPr>
            <a:endParaRPr lang="en-US" altLang="en-US" sz="900" b="1" dirty="0" smtClean="0"/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sz="2000" b="1" dirty="0" smtClean="0"/>
              <a:t>Blogs and Forums </a:t>
            </a:r>
            <a:endParaRPr lang="en-US" altLang="en-US" sz="2000" b="1" dirty="0" smtClean="0"/>
          </a:p>
          <a:p>
            <a:pPr>
              <a:lnSpc>
                <a:spcPct val="90000"/>
              </a:lnSpc>
              <a:spcAft>
                <a:spcPts val="0"/>
              </a:spcAft>
            </a:pPr>
            <a:endParaRPr lang="en-US" altLang="en-US" sz="1000" b="1" dirty="0" smtClean="0"/>
          </a:p>
          <a:p>
            <a:pPr>
              <a:lnSpc>
                <a:spcPct val="90000"/>
              </a:lnSpc>
              <a:spcAft>
                <a:spcPts val="0"/>
              </a:spcAft>
            </a:pPr>
            <a:r>
              <a:rPr lang="en-US" altLang="en-US" sz="2000" b="1" dirty="0" smtClean="0"/>
              <a:t>Mash-ups</a:t>
            </a:r>
            <a:endParaRPr lang="en-US" altLang="en-US" sz="2000" b="1" dirty="0"/>
          </a:p>
          <a:p>
            <a:pPr lvl="1"/>
            <a:r>
              <a:rPr lang="el-GR" altLang="en-US" sz="2000" dirty="0"/>
              <a:t>Web </a:t>
            </a:r>
            <a:r>
              <a:rPr lang="en-US" altLang="en-US" sz="2000" dirty="0"/>
              <a:t>site</a:t>
            </a:r>
            <a:r>
              <a:rPr lang="el-GR" altLang="en-US" sz="2000" dirty="0"/>
              <a:t> που συλλέγουν και παρουσιάζουν, συγκεντρωμένα στο χρήστη, τα περιεχόμενα άλλων </a:t>
            </a:r>
            <a:r>
              <a:rPr lang="en-US" altLang="en-US" sz="2000" dirty="0"/>
              <a:t>site</a:t>
            </a:r>
            <a:r>
              <a:rPr lang="el-GR" altLang="en-US" sz="2000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0A3A5F80-380A-45C0-A671-7A0CCF87923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40B53351-D6ED-427A-ACA9-1A3CAADF4B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99392"/>
            <a:ext cx="7704667" cy="1981200"/>
          </a:xfrm>
        </p:spPr>
        <p:txBody>
          <a:bodyPr/>
          <a:lstStyle/>
          <a:p>
            <a:r>
              <a:rPr lang="en-US" altLang="en-US" dirty="0"/>
              <a:t>Παρα</a:t>
            </a:r>
            <a:r>
              <a:rPr lang="en-US" altLang="en-US" dirty="0" err="1"/>
              <a:t>δείγμ</a:t>
            </a:r>
            <a:r>
              <a:rPr lang="en-US" altLang="en-US" dirty="0"/>
              <a:t>ατα WEB 2.0</a:t>
            </a:r>
            <a:endParaRPr lang="el-GR" altLang="en-US" dirty="0"/>
          </a:p>
        </p:txBody>
      </p:sp>
      <p:sp>
        <p:nvSpPr>
          <p:cNvPr id="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195925" y="1052736"/>
            <a:ext cx="6840571" cy="1266056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 smtClean="0"/>
              <a:t> 	…</a:t>
            </a:r>
            <a:r>
              <a:rPr lang="el-GR" altLang="en-US" dirty="0"/>
              <a:t>και φυσικά τα </a:t>
            </a:r>
            <a:r>
              <a:rPr lang="en-US" altLang="en-US" dirty="0"/>
              <a:t>social </a:t>
            </a:r>
            <a:r>
              <a:rPr lang="en-US" altLang="en-US" dirty="0" smtClean="0"/>
              <a:t>networks !</a:t>
            </a:r>
            <a:endParaRPr lang="en-US" alt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F87D3563-CA3D-4425-B3A4-89656F6B5B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3C07D9E4-5DDF-4CB7-B8A1-EB59B8411A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pic>
        <p:nvPicPr>
          <p:cNvPr id="6146" name="Picture 2" descr="https://upload.wikimedia.org/wikipedia/commons/0/0e/Social_media_collection_2026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2132856"/>
            <a:ext cx="6075103" cy="373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117104"/>
          </a:xfrm>
        </p:spPr>
        <p:txBody>
          <a:bodyPr/>
          <a:lstStyle/>
          <a:p>
            <a:r>
              <a:rPr lang="en-US" dirty="0" smtClean="0"/>
              <a:t>Web </a:t>
            </a:r>
            <a:r>
              <a:rPr lang="en-US" dirty="0"/>
              <a:t>3.0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688" indent="0">
              <a:buNone/>
            </a:pPr>
            <a:r>
              <a:rPr lang="el-GR" dirty="0"/>
              <a:t>  </a:t>
            </a:r>
            <a:endParaRPr lang="en-US" dirty="0"/>
          </a:p>
        </p:txBody>
      </p:sp>
      <p:sp>
        <p:nvSpPr>
          <p:cNvPr id="7" name="AutoShape 2" descr="data:image/jpeg;base64,/9j/4AAQSkZJRgABAQAAAQABAAD/2wCEAAkGBxMSEhUTEhMWFRUXFhcXGBgVFxcVGBgXFxcXGBcYFhcYHSggGBslHRUYITEhJSkrLi4uGB8zODMtNygtLi0BCgoKDg0OGhAQGy0lICUtLS0tLS0tLS0tLS0tLS0tLS0tLS0tLS0tLS0tLS0tLS8tLS0tLS0tLS0tLS0tLS0tLf/AABEIAK8BIQMBIgACEQEDEQH/xAAcAAABBQEBAQAAAAAAAAAAAAACAAEDBAYHBQj/xABFEAACAQIEAwYDBQQHCAIDAAABAhEAAwQSITEFQVEGEyJhcYEykaEHI7HB0RRCcvAVFjNSYuHxY4KSk6KywtIkcxdDU//EABoBAAIDAQEAAAAAAAAAAAAAAAECAAMEBQb/xAAzEQABAwIFAQUIAgIDAAAAAAABAAIRAyEEEjFBUWEFcYGh8BMiMpGxwdHhFPEVkiMzUv/aAAwDAQACEQMRAD8A4/SmnIpq1rKlQEUVKoio6VEaOwgZlBYKCwBY6hQTBYjnG9KUQoqatSewuIzESpAxgwk6zrEXo/8A56jnOtSDsPcNlrq3AxyXblsC3cKvatlvEboGRGYIWVSdRG01zf8AL4Eifajbnfw9QVZ7N3CyVIVtOMdl7TKjWLqLdGBtYk2Mryyi2GuPnPhDHU5fLlXn9kcAl7vB+x3cVdGXKofu7KLrma7cBBBMaTpvRp9p0alA1mzAiQYBGbSS4hsdc0WN7QpkMws+raERPQ9KjrZ4PhOG/pK/att3mFtpcutDBiy27YdkR+cNK5ugrzuL4TD3MImLw9o2P/kNYe3na6pPdi4rqzajSQRTjtCkXsbDveDTMCBnBLQbyCcp2IB1OimQwvBRZ568v9aStE/TyNNbInXUc6kS0Cd4EHf8K3JEDLz6iaS9aYGKmW6Yy8qgQQSJ8W3lRATpEnrSdNKa3TRdCZURWiI1g0d62QYO9RlYpUU9y1BjQ+m1A69B/rUoao2PSgQmBUYWaaiIoYpUUMUQq5wvC99et2S4QXLirmIkKWOUEgcpIr3rHYa+e6LMiLcvXrRJk5O47zOzCPh+5uRr+4ay18bQouy1HgGJvOl9PkfREuGkrLRRKK1F7sVdXCm/n8QsjEFMlwAWmiPviMneQQxTeJ6Ve7WdlrS3cQ2GupNhUuPhwrhktZUBYM2jQWDEDYN7VQ3tTCucGtfOt4MAgtF+AS4AO+E/+lMpWNUUYFaLshh8NdYWnsd7da4JL4gYdEtSqykMC9yTMa+QqTA8Gs/teKRxcaxhkxN3KZt3HWyQFQmJWcwkxMDlNM/tCmx9Rjg4Fgna4kARDiRJIjNlnXS4GXRZwCiAr3eM4KycPZxVi2bIuNdtvbLtcAe3BDIzeKCH1B2IrxQK10aoqtzAEXIIMSC0kEWJGo2JBSlNFKKKKVWQghilFHFNUUQxSoqVRRV6YijNHYgMCwkcx1q5UqCmo7kSY0HKgoJkNIinAmpsVhHtmGG4kRqDQlMvfHbzFiPg0w37N8J8vvvi/ttBrtptVEdoWNhbL2bFwpba1buXFZriIxJgeLISCTlYglZ0rx6GKwt7NwjRApgCQdTsCNZnQkRoRYgps5Wjftfd7sqLNlXOHXDd8FbvBZCBSoOaJMfFE6kdIr8J7RtYsPhzYsXrb3BcIvBz4guUfAwkDz514lKoOz8MKZphkAkGxIuNCCDIjaDA2GqOY6r3rHadrbq9jDYW0wuF5S22qtb7trLZmJNoiSR1M6UPF+Md/aS2EtWLSFnW1YDAF2gMzliSWgQOg0rx1skgsNhv1+VCBFNTwGHY8Pa243knYi8kzqYmYkxqZmcpoqVQT/PShJB8qeOVbAq00daeKRPWkKKBVlXJEkeUxp/rTKNCI16/lRpc/d2B5b69abQCOc/SiEkqC/JOup2oUWN43gg8vOpX1MA1C+poEJ2pttdDSKk7UKjXrUiEqfX+YpU6jY70A5ikae4OlKUQmXQ8x6aH2rV4ntvir3f5ltxesrZaFPhAzyy66M3fXZP+M1kwalA0mqKuGo1iDUaHRpPeD9Wj5cSC0kaL3Mdxs3LPdtasO4tLZF5lY3BbX4QJbIGA0zgTHzqfiXa67fF0GzYR74C3bttWDtbUjKhJYgDQAmJIAms0DUiiqv4GGkEM0Mi56baR7otGURopmK9nhnHjati0+Hw99Fc3EF5GJRzEwVYSpj4TIq4vay8bhum1YNxjd71jb1vJdADWruuqACAOUD3zq1IKDuz8M5xc5gJMzruINtLzeBc31gqZivU4rxdr4toLdu1atBslu0CFBcyzEsSWYkDU9K84UhT1pp0202hjBAHfuZNzJNyTJud0pKVKioadRPTU9NUUSpUqVRRQ5aU60dwf50JtkbgiRpNXqgKI01FQGgmCla7Khco05jc+tNcukxmJMba7UDIYmDHWNKGgmVnA4G5ecJaUux6ch1JOgFexd7FYtVzRab/Cr+L6gD61q/szwlsWVdtO8u+M8wqtlifISfeuncQ7O2cPh7lx2LtP3ZByjWAojWeZ9ByrY2lSa1vtCZdpHX8brG6tVc53s4hus9P6IEL5ocgAqyEOCZmRHUEcjSsWmc5VBJPIVpvtGwyrfR10Ny2c3mVIAPrBA/3RTdjLKHVzAa4quRuEAWSPYk+1YMWTQkax911uy6AxtRo0EEnmBx1n8ry/6v3QJ8M9ARPz2qicOZhjB5gjWu7YvAJGtpP2c4e+7MtpFW3lNxbBtXguZmlF3Y5s8xBgcf7SoA6nmRr7afn9Ky0K7i/K6PBdHHYCi2ga1GRlgEEg6kjixBFxpFxbXxygB60naSSBA6dKKJ/L1oLlpkOVgVPQiD8q2rhgyjuWGB2JnURrSQdR7U+HxBUgidPOmvXc0s25NCUSLJxIpmGtCjVNe9AI6UySFDzobixEGfypiaJmUzoRpp686BTgKK40mTRWnIkRNAwjekTSJwmpafz+dFlmSNq97sh2Xu4+4QhyW0jvLhEgTsFH7zGNvn5gogLwco1I0HzpW2jeuw3PslwxTN3mIE/v+DLPpk+k1zntV2Zu4C7kuEMjAm24EBwNxH7rCRI8xShwTEKHgfCTiboRTCxmduiA8vMzA/yrqOE+z0C0rrhFuIR8Ri4xHXefkKxP2dYgZ7qGMxRSOpAJzf8AcK792dxSXMGMrAPbDeqmSQfQiPI6iiTAsuPVmviXUHPcAGggAxOkzzwNPBcF7Udmltob1gEKPjSSYE/Gk66cx+lZYV2X7SsRay4hgAM1k5hyzvbgD1zMPea5FgcPnYA7RJ9KPVXdn1HkPY85spgO5/r9KIU9ajh2Aa462rKSzGFUQJPqdB6mp+2fZoYV1tm4j3e7DvkGilpOSf3vDBmBuNKEreVkqanpVFE1NT01RRKlSpVFFGTUjXSRBMwNPSohTjY1oWcKMivc7PYFSDcYTrCzyjc+v6V4hr3uzuLGU2ydQSR5g/nT0YzXROi2uP7Nm1greJuFpunS2bZy5TMFnmJIEgRqK5zx7BC04y6KwJA6EbgeWorf8R4oLmHw1kZpsi6GJOhzvmWNeQ01rFcZuLduZcwGRTBOxY7gfIVZWnJ72s+UotibKx2O7SDCkpcnuycwK6lG01jmDA26edbbiHbiwyhrmJ7yBoozMfZY094rkhFHbE5h5Tz5QeR6A70rMU+m2IBjSdlVUwrHumSJ1jdejxriL4y8bkQAIVZ+FB16nUk+tR8J4l3JMjMp3jl5jzrzRUuG+ITsNTvyE8iDy61kq/8AJOe8rbhqjsO5rqViNFssf2sS4BNwkKiIEAYf2aBF30mBM9SaynEMYbr5joNlHQdKjxroWm2CBGoPXyqtVVKgymZGvVbMX2lWxDBTdAaNhInvufwvoP7O+DYTh2AtY3EG2ly6i3Gu3I8K3AGREJ+HQiY3PtHk4zjy47HYjh+Nsd9hiwSxftoM1hmWVYvykNv5RBBNeLhuI/0lw/B2bbp+1YJl/wDj3iFXEW0TIDbzaMwWJG418p9vhF1OHJfxWOZEe6wKWEIZzkUKqqOZMCTsOcUxN1zadIe++ptYAEAn4Y3k6uPwwA27pIjjnEsG1i9dssZa3ce2SNiUYrI8jE1Guu9WuIX2u3Ll8jxO7Ow3EuxYgeWtUmUjcRVuiOqcNHL51Y78tExoI2/GqoGk1awbKs55gqQI61NLoESoJqM1PeC7jTbTeepmoTrURRM6nlBjfeT+VBn2nWNv550Br1OE8Av4i53dtdYBLE+BQdiT+W9Vve1jS5xgDcqxjXOMNEleeEzTHv0Fdo+yW2owAiJN25nPnIAn/dC1kLn2ZXcuYYhS3Q22Ck9MwJ6jlzqt2a47e4ReezftkoxBdARIOwuWydDIEecciKy0sXQxEik6SO/Tm4E+ErTUw1Wjeo2B64X0PxLDMLVu0iM0ayNgfMecmuVfa+q/sSkxmF5MvWSr5o9p+VX/AP8AJ2CyyL90mJy5Ls/MjL9YrnPbbtMcc9sgZbK/ADyJ3ZwP3tPSPerRrCqJss1gbz23V7RIZdQR9Z8q23DO15cRctjMAZNtpB06HafU1hjroTp5beoAqxbBUSPU/MAA+xPzqx2aLLFXwtGv/wBjZjvH0+69XjfG3xMDRUBkIDGvVydzVfhhyPB0zCBOmtUWEEjzNTYdSNyR5fkeQqOO6spU2025GCAundn+M4fBWC6fe4i6jAgyot66KYHjBIUxI231isjj8UTnuXGLM0kljJZjzJ6k15t7iDT4QNhAg66R89Cao3sQz/Ef0oNuJVqCirY9kuwF3FoL1x+5tN8PhzO46gHRV6EzPSINexxX7KoQnDXyzD9y6AM3kHWMvuD7ViqdqYWnU9m59/Id50+w3KsbhqhbmAXNqaivWmRmRwVZSVZToQQYINBW9VJ6VNSqKKGaKOm5IimMV63Arql1UqNCSDzmDFamtLnAcrK92RpdwJRWuzjkAswSdhBP1n8K8/iPD3skZtjsw2/yNdwscLtXMLZe9ndbeFv3QofLBW4NFMaAz51jPtK4basoO7BCXLVm6qscxUufhnnsfnV5bScCGzIny/XRZg+u1wc4gtMd4zfvqVzxsZcK5S7Eepp8KVYw8iAYIjXnB09TJPQVXoayG63hOx+VPa3E7bcuenPQevKpLgzAndtzuSdJzbknYk+oocKhLQs5t1CgkkjpGtKb2TDlQ0a7E+g+ft5dQdfWrd/h10EsbN0CT/8AruRHuJHvVYmFA6kn5aDn68h7zRe1zYzAieUlOox92EHuMqKnQSY/mBqT8qapDoI5mJ9NwNDHQ8iDpSlOE1+5mgHULoJj9BOvWoyef4CNqluXC0TGgjTSomXSoAjK3PZvsviMSbuHwiWWv2VRrzX/ABBWc/2VpSrW5WCGLiZDZYjU+0XY/E4QWhj1w699cNq3dsAIUcAZe9VFW2bRnpmGpG0HT/ZXxY2MdeAKlMe9u6i3PASDmZ+7fUM9s3CptmCRDAxu321ccbFYpOGFAlmyyYi7emYXu9WiPCFW4wjUsxUDWAaC4q7KFyF0KsVYEEEhgeRBgg+lDcbkCSBtVrid7vLty7Ed47vHTOxaPrVKr1RMos2lJflQ0YUtJA21MVFESBSDmmY0jmfOusfZvhguBRlHiuM5bmSQ5QD5KK5FW37A9rhhfubzFEzSjifu2O4Mawd5GxJ66cvteg+th4ZJggkDWL6Dm8ro9m1WU60v4i+k+hC77kVvumyGLM3AoK3cxCsSoUQfhT5CuMfarhwbFpx8feZPVWVmI9JQH51usV27tFS/7RYUEEFg6FiCdgfi0ECN9K5L2w7UJimVFU9wpMEyrFhHjjprsfPYxHOpZq+JY+kDDZkkRbYXMkxM9Z5W6qRSw7mvIl0QAZvuegWTJgQD6+f+X8+k9ttBHQ6eYMke4I9wKC5aUdY+Y12nmPrT27ZgZTMN+7qdQNY3/d6V37ELiKVRPi3Xf3/umOf+tTIkqSdJYSeu5PrypXMqHL8UmWA0E9PadPX2qVl2BMiSQdhGnTQRG1O0yqnWQ3fi000Bk77CfTWowRlJ2jRR67k+cfiKfF3QYjQa6ec/50CiXVRyIHvOv8+QqRA9bIgyjvtr6Mw+sj86ZQGIkxqM3pOrD2plQkGYGzamOvLfmKFYHMn0H5n9KAMabJl9S8MsgK1tQB93lQabCIA9quY5cqvIie7A9t4rlHZb7RLKolnGEo6qoF0gurQI8WUaHTeIPltXtce+0zBIpZbgvvHhS0pAP8TkQo9yegryjaVanSNA03F1wCNCDmBM9Mx3G0kEFdTO1xzBwA89vwuefataVeINlGrWrbN/F4l+eVVrHzVni3EnxN5790y7tJjYDYKPIAAe1U5r0uGpmlRZTcZIAHr6eC51R2Z5cN0c0qCaVXykU2DuBWBZcw6Uxuw+ZfDrIjl0pYeyzsEUSzEKB5kxXQuHdg1yKWa2C0gZu8Zny/EUS2jEKNpIFXjLngmFfgsBUxQdlIDRqT1GgABJMCe4XKzdjtawXK4fYrCN4YO4gnQHpXmcX41cxESTlUaBjm0ggEz0kwOVev2o7KnDgOpUqVzBkLZWEwdHhlIkaEDcdayc1prmoAGuIIO438ge9Y6vZzcLUuO65jwng86KQZT/AIf+3n7jSOs1HdQg6j+f5NJhVm3iGYJbCg6wBGrSRp7kDasl9kZGpUWHUllUasWCAHUSSAJnSJqxi8Xlm3ZJW2DBI0a4RuzEakHkuwEVLaa1ZcEZ7lxD+4QLYcCD4yCbkHWQAPM71BhOHG73aWvHdc5Qg305zsBAkk6Aa07yKbbmDv0A5Og3nzVLQKrpj3RpO55g8WgkckKmhIMqSp6gwfmKvrcF4EXGQXAJW45C5hIBW4eZgyDvoRUvHuAXsG4S7lIYSrocyNoJCt1EwQdduRBqli8E1sWy0feWxcWDPhLMuvQyhqijiabmNcxwLXacG027oPUQd5CtqUs3QjQ7j7wdxKnt8PM+FrVw8lt3AST/AAmCdJ212qk8yc0zJmd55zPOgivQvXc1tLhgvLWix1Ld3kZSeRMXMhJnRRVxDSCWiI+kgffqkBe1wa4yD0i8E/bpHjaolvmdB1PqJgc4zAxRLcj4Rrpqd58J06QQdehqM+f8xoKQquJ1Vsq9wvi9/Ctmw9woQQ2wYBhscrAifOK9PH38fj5u3S12SCSclsMQIVsoChoGgOtUOA4UXb6K2oliR1AUmPpXbuDdkkvYe1ee46942UKiZ8viZdY2Hh32FZcRXcx2VgBMTf1/S6uBwdKpSNWu4hubKIuSYng7dLrgeJtOjZXBUgbRGnL/AFqtXU/tN4AtoXLebMbQV0YiDBgsD8/oK5inWJHnVlCr7RpkQQYKz43CjDvGUy1wDgd4PPq4+Sip5pRRG2QAeR/KrljTBZr2uC9m8VeAuW7IKEaG4QqsPKdT6gRS7KYBcRiraPqolmHUKCY9CYHpXeeH9n7jC1cKg22ZZCmGCExMbAR0M1fTpMIzVDA0HUxKUudMNF1898W4Hfwx++tlQTowIZT5Zhz8jrVNvDkJAOkwdtSd/aK+gO1OEwt0tatDNaZMrDWM2vwzrpoZ61w7E4bumdA4YqSpgSPD4eex050mIYKYa68HnUJqbsxI+io2BMD4ZPh9+Uc19dPrU1pJLLlyldSDsSDABPqdtt9qitOA05Vb+JpPz0H0qyjOfATrlbSV1kSFjygfXyjG716/KtAUdpXJytudQHg6+QOuo6eVWkvIAEMxAkrtrrpm6T/PKisgZfCf99ZHkpnTzqzftasQARyhlGWNIIn+dKIIJ1+Xr5JCLKSFAJBEqQVzc8w038MjLPtUIzLlLaDUgbA5ddhSVDlKEaQG5GGkf+J/GordpwTAIEH01ED13FSReT69SiAhtnfzB/CR9QKK23Ppt6nb9fajtAhvGhIB3UEfhp9KNcOcwUBpB1lTvz1HQDy51HPCMJYm4W3PwsR7cvwNBYts05VLegJqbBYJnbKQQCQSd9t9esE10rhPYy/es2XtZFt3GKICxEFQ7FmGUwPu22k+WtU1K2SzRJ9cLpYHAMrtNSq/KwGJ3JiY4FhO/cuXXUZTDAg+Yio5rpnH+yN61ZD38pRrjWtGlldSRMRAPgYggnbWK5ndUqSp3BI+WlPRre0kEQQlx+Bbh4dTdmaZE9RqD+fLl5pUE0quXOXr9n8YtnE2Lj/AtxS3kpME+wJPtXfjZU2hDgAoVzC53bFTc71WR8rAg7EV833N69jhXarF4ZO7t3j3fJHCuo/hzCV9AQKz4zC1X1G1aJEgQQZgiZ1E3npBB2iVp7Px38ezpiZtzELoX2g4y33YllMNddjbkrN4qBbVmAlhkkmNz61ySV6GY8t4/WPavTxnGXvKxvzcY/CdAF6wBAFUFw8oWzCQfh5mtwe8sa1+33um7QxjMS5opiGtB11uZPTuF7akmUrNtWYKM2p6jr6dPrUuF8Bu7hktH2Zmt25Hp3jH5VR2qxg7wVjnnK6FGjUgGCGHUhgp9qenZwM+tj4GCuXWBNMgdPESJHiJHiqwqW1inthwjFc6FGjTMhIJWd4JAnrttUwwHTEYeP42H0KyKlxFguQTewwgRpcI/wDGoaJcILQR4Ec6IfyaY38j+F6PGeMo2KeZvYVntu1sEoGK2RbzKd1cSdecCZFWu0t3BC1Z7m4cQ/7OtpJBUWVF24+e7B8V2HChNhBJmVFZ79g/2+H/AOYf/WnGA638P/zD/wCtYR2SAaZaSMkaEDMQMoJiLxYkRIsZAEP/ADKZm/kfwoblkgKTHiEiPzq1hbiOEs3Bl8RCupM5nI/tJ0KkgCRBAA3oDgBP9vhyP/sI/wDGpcPh1Rg73bThSGC2yXZiNQvwwoJ3Y10W03i50300+vyVFSrTc05SZ2gGZ22+tubSqrAKSCDIJBBI3BYEbenyPXSVUDEBF182O/h/Q/8AF5CoLzEsxYeIkk8tSZP407ZYBUmefkfKqIC096nwWKNq4rqolfX/ABAjfmDHsPOejcK7bEWwtvFG2u+QsVidTH+VcwostUVsK2rBkg8hbsH2k/DAtyhzTeHXvyPva/Rantf2m78ModrjMRnczqBsBPoPKsrdUA+EkiBM9aZrdJ1p6NEUm5WqnFYx+Jfnd3ADQDgICKdk1ga+lS5csZhMjSD8qjkggjToatVCt8D4icNiEuwTlPiHMqQQw9YPzArtvCOO94lp7dzvbSsHCycsgzBH7p8jtXB77FjmOpO9DYvOhlHZDzKsVJ9Yq2jW9nYiR60SubmuDC7t267U2lm8VCtkhUkZrjCd45a79B7Vwi/cLHO3xEnMfOZn6/SnDuzTLOx3mWJ9edSNbMEMpUnUSCJI15+U1XUqZg0AQBoEzRBM7+tE2HZgS5AYJ/eg6nQa7/6GnRlDDcMSJ/eiTqNdZ67/AI0F0ZAB+9+BPM+fT586gczWcCfXqytlWbVosw2JBExuQNzB1kfX8XwN0hoI2kwevT3mPcVGfjY+TH5jT/uFGznKCN9yDrAGxA5Dnp5UpJ9bIorP3jRopM+QJIO/TWPL0plWMytpoPbxDbqDH5+o5llWiNQTGokHUQf15ip4hWWQ3iA3g/vbT6cpqE/b6oKuqQTI+HX9PmYowfEzc4J92Gv1apLiaBeYE66EDkG8td+U8qS2/DJ00g+UMSffQCpMqKXh17u3Vj7/AMO35z7CurcF7cPh7Ni0lpXW0zurZiM2fvBrGw+9PyFcgDgyZE9B/O1WMPjLiDwsQOnxD5Gq6tBziHNMFdHBY6lSYaVdmZhM2NwYjkSCLa213XTu0vbQ4jD93ctrbRbrXswJJJZrhyQR/tPpXJ7tzMxbqSfmZqbFYpnjMxPrt7AVXIo0qRZJcZKmPxrK4DKTcrASY5J3Nz5fMos4/uilQRSq1c5T70sh56etFauFWDDcGaO9fLEs0Sa1LNsonbpUVHpQx51CiE00opFaK1blgNpMSaU2RVvg2CF24EbnHlqxA/OtQOxqcyv/ABP+lePwCxkxSrIMFdv41roNbcFhqdYEuHEfJcvtTHVsM5gpkCQZsDus3/U611/6m/Sl/U611/6m/StJRqJ0Fbf8fhxsfmVyx2zjCYBH+oWP4l2Ws2rbP0n4SeQJ5+lZF8snKSROk11bj3CL72GVLRYkNAA6o0VzHiPCr9ggXrTWydRmG4rlYhlNlUhmlt5816HBvrVKAdVEGTtG9rKqR7049KZaICqlcU4NSBzEUANTm8ZJAA0iBt51EpQR1qO4N6NTNEV1poSzCgA0qSzYZ5AI0EwT+FCw5UBEUsKwFFbBGo33FN3BJ0jU/jTCnS4VIPQg0CjdbXsrwRbt5MOGCZg5LmN0ts8tPLw+wqbi/D7doW8lw3pkl+7K2yykaWmfVwDuYA2qTsZxBLeJt3mYBAt3VhIk2biqCOfiIEedVOJcTu32z37hcgaSYCjoqjwoPIACqYkwuUS3JLvjk33tHrRZHG2VFxlIgzMzEzruZ11/zqq1kdYPRhH61axl0XLhIOhMD20qbh3C719ilq01wjkNMs9WOi+9MGnQLrNecoLtd1XazIBiPCoJmRpudPJKhuNLZl06DeNIj0rSY/stibFnO9tlgnMQQ2VRqCchMbnfTSvFWNzDR1IHzjU/Oq7iQR9vqnDwRIKgW3IMc/o36H9OlT/s5MGND4idhEA7n1I96mslS0zln+6M0k8hzGvQ16V3hNyFIVmkSwByn0OaOgO3IUA17jDQT3Cf15olwGpXkFfFpckb7aCfXQe1dR+zvshZv20u3kRi5JQPOQgaBmXYk5dBERHtyu7bYHKwykcjpHtXdfsxxK3sLhQhE2wqNJ2NrefUAEeorl9r+0aym1oMOeGmLGDtI0ndbMGGlzidgSPz4L38f2TR7ZRrdm4oGqZQYHkI0NcM7ddnBgrw7snurgLJJkrBGZJO8SIPQ+U19JQEuXLrMuUqIAOukfz71w77XsYrPZsgjMoe43kGgKPeG+QrNhWHDYtlOnIDs4LSZEN+F/Sf0rax9pSLnaiIOlzqFzcge9Jl85/KiimIr0C56jilRxSowoninanXrQGtCzJqGiNNQTITVmw65WDAlj8J6VXNOtAor1+zbRfBI2ytoJ0V1rd/0pb/AMf/AAN+lYbsn2juYC8bttVclChDTEEqdCNjKitiPtaxJiMNaM6aF/bnV9HEVKUhkX5/sLNicFRxMGoTaYg8+BVj+lLf+P8A4G/SrXD8YrOIn4v7pHIVs+A3sTiMOlzEWTZuEsTb8akQxAkHXUAHXrXgcb7T4u1jP2R8OFs3TkS6Q4z+EMcpOhIJirf59V1iBfofys/+Gw7PeBdI6jX/AFRDEN1rCfaTeY3LKkkg2idOudq0+UftTB9u4BAYyubPvrzqbiGGsm25y2yQjQYUsPStVcCrTOUCxPlPRcTB1XYTENFTMS5oEQbZo1k7b2XHCsUQNXcbeGdwBszD6naqjVyl6q8wU0VNlg8j6VCKkFMlJSNvWnGlWEE61ETUVeZNkUzrryHWobu5j60T0LGhCsBUQYjanBkURUQdfagUxSqxTWcS6CFYj8PlUj49mVlfxSNOUeem9BZ3nlUowwYEgHTeKBASS0Oki/MLzlkbb8vXlX0d2T4IltFtclUs7aKXeBJJ2ksR6CvnQpM+XPpXe+yHaVMVhSVjvGCrdE6qy6mB/dY6g9Kso7ga+pSYm2UnS8/Ky0LcPjvCScirIMbycqqehmQR5GuFduuGJhsYyIIR1W4ANhmLAgeUqY6TXccbxYCwQ5CgHM7s0LCjcztyk+VcI7X8XGLxT3V+AAIk6Eqs6kcpLMfQijVnL72s+X7VeHDc/uaRfv48F7f2bcIs4jEr3jFVLlATEjw5oBOkkws+ddIx3ZLCrjbdj9oKhxPdkEvzgB4yiYO+unORXJuz+PtrFsmMw56DNtE+Yj5V17g+NwowGe5cX9ot27qKSR3qli+QW+ZEMII2k7a1YwuFNrmE8EAb3g/TrwVoIBcQ4DmenCxP2sdnbOHcdyxJCqxBILLLEZSR7ETr86xPAuOXsGzNZaCd1OqNH95fzEHzr1O0mOAXugZYkFvIDXXzJrM1nxlJjz7N8OtBka9/rrqnoucPebbjottf+0nFMsJatI394Bm+QJge81jcRee47O7FnYyzMdSfOmtMQZG46UJ1rBhsHh8NPsWBs6x+TfwmFoqVqlT4zKdVJ00/Co2HWipq0qtNlHX6U9NFKpCiT9KCiNDWlZgmoTRUxpSmQUqetThE4blXvCs90vPEg5stvvO8gEC5m73JklI+IHSQTCdolZVqJHitbZu8MJdcqBScoZv2hiUW5hWzAyStxlOJGgA8KgxPia3e4cqZ0yrcIurlC4hsoa3iVWe8LKTm/Z4YQdSesLm6Jsg5WdOLubi48fxt+tR3MUxjM7NG0kmPSdq1pfhhZi7W2zNdaQcYpg3hlVxBhu6DHMojMwGXw+LzuNLhTZtjDPbHdu7sD3ouutxcKi5s4hrgZbpKocoAJG+sDkMnVeA+JY7sT6kmmLnqfnWsxL8MvXWuEraBvMzKBiMrWu8xHwgAw7A4cxoBBjLqKhR+GEhSoRZYG5OIYgKlko2XNBzOb6kRsoiD4jM07JspGhWXU1Jt6VpeI/0aARahmK3JIOIARhZc2sgY6hroQHNm0J2GozCHlTAqtwhHHSiUUA0NTqOm9OqSprBp8VZyncHzocMASZMaH59KlLgggjlp5VN0kQqZGm9RkedSFYqMmKisagdY3oIo7jkmSZNCaRWIw2kVbwtwjYxIiqHOrVm6IKxrvP5VEHN4UF1AOesmRHyqTD4h0+B2Q7yrFT7Ea0JQFwCQoJALHZQTufIb1tr/AGWwwUr3wtlUJZrhVjPeYgC6wQkLbK2regI0uKZJjPWSrmgkWWRxWOvXdLt67cA5XLjuPkxNRCtfa7I2WJHfukXUSGFpmVS1tc75GIhg7FZK/AdCNagTgWF7lbouXCCHuNBt5kRcO9xUZZjMz2mUGRuNNKGZHKVlwKsLirgEC44HTM0fKa1v9WMPbRi11XJXw5m2KpcYkBWXMG8EbjSQWBpk7IWdnxDWiO7DZ8jBC+5LKQGTXKDIGZW1IgmB0aFAt5WOo7mXTLO2s9fKva7ScMFju+7RhbZFzFyrMLwL5lYqSAwXJoIH1rwmUjcUFCjAIE8jpTZPDMjeI5+tMKe4ddBHlRUQ0NHbiRMx5b0ltyYH10+dBQIIpVL3R/k0qkoquaGjNNWlZUJpqehNBMvX4ViMKlo97aW5cm8QW73QC0hsAZGAg3QwM8ug1r1bj8KghEEzcKm4cSVBJu5RcVBJtAd0BlJeRqIzE5I0JpMqtD+i2OPx/D7rX3bxErf7sEX1hmvY25byZTC/HhpUwILazmBLE4jhTM7BElrl1lgYlUGbObOZFH9kJthgpzSGygrE41aY0MqOfotNj8Rgzirl5sl209v7tE71SrqbduCNCDlW4wzGNVnepsfiuGAEWrSkkXADOJIEW7hsxmK6lxaDSD+9rBmslSqZUc3RatL/AA5r2KN0L3bXc1ru1vgi1LEpbTQKx8IliApGmZdKu2Mdwu3cR1QArdtsSpxBGVXtH7tXSCMou5g+sxE6Rics1Lh7iq0sMw6VMqGadlokxeAXTJnQMzJbbv4QOcECGysMzhExMsDBIBiMqiXtTw+xaw9o2FWGZCX8edg1rNoW0dQS0lCACVUgkAjKsedCq0cqBfIU6a+tOKAaUbNOtOCqFIjCfF9KmmqM1NZuaa7VEpbZSlOfTceVVXq2DO/zqpeSDUKLDsoxTDqama2MmadZiPzmq80quhOTT22igJpIaVNFlNd3B8q1KdnrD4e0wvoLhRXCd7ZEljZLSWC5Mqve0JJm3voRWUA0npTrSm6LbLa3eBYRJazfy5EYZ++smSpxAa4UIkrNq0Mi6nvQR5x/1fwbF8uIMLce34rlgEBGcHEcs1rwp4F8Rz6GsgKsNYhVbSDP0pfFNM7LT2+CYEvkGIZfvGTOz2SsI9gF4AGjLeeNdDZJ1BIWdOz2H0PfBQAxdTdw7PbbJZKJMqrkl7mogeDWINZF8umWdtZ6+VT99MTGgjamE8pHAcK72jw6WbvdWyGVYYEMHPiAJDFQBm06dN968smjcjXT0objCfDMefWlTbJkaDI3FJ3JJJ3NGH8JWBvM86jAoqI2fYgRH49aC4xYknc05FKooCginp6VBBf/2Q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4" descr="data:image/jpeg;base64,/9j/4AAQSkZJRgABAQAAAQABAAD/2wCEAAkGBxMSEhUTEhMWFRUXFhcXGBgVFxcVGBgXFxcXGBcYFhcYHSggGBslHRUYITEhJSkrLi4uGB8zODMtNygtLi0BCgoKDg0OGhAQGy0lICUtLS0tLS0tLS0tLS0tLS0tLS0tLS0tLS0tLS0tLS0tLS8tLS0tLS0tLS0tLS0tLS0tLf/AABEIAK8BIQMBIgACEQEDEQH/xAAcAAABBQEBAQAAAAAAAAAAAAACAAEDBAYHBQj/xABFEAACAQIEAwYDBQQHCAIDAAABAhEAAwQSITEFQVEGEyJhcYEykaEHI7HB0RRCcvAVFjNSYuHxY4KSk6KywtIkcxdDU//EABoBAAIDAQEAAAAAAAAAAAAAAAECAAMEBQb/xAAzEQABAwIFAQUIAgIDAAAAAAABAAIRAyEEEjFBUWEFcYGh8BMiMpGxwdHhFPEVkiMzUv/aAAwDAQACEQMRAD8A4/SmnIpq1rKlQEUVKoio6VEaOwgZlBYKCwBY6hQTBYjnG9KUQoqatSewuIzESpAxgwk6zrEXo/8A56jnOtSDsPcNlrq3AxyXblsC3cKvatlvEboGRGYIWVSdRG01zf8AL4Eifajbnfw9QVZ7N3CyVIVtOMdl7TKjWLqLdGBtYk2Mryyi2GuPnPhDHU5fLlXn9kcAl7vB+x3cVdGXKofu7KLrma7cBBBMaTpvRp9p0alA1mzAiQYBGbSS4hsdc0WN7QpkMws+raERPQ9KjrZ4PhOG/pK/att3mFtpcutDBiy27YdkR+cNK5ugrzuL4TD3MImLw9o2P/kNYe3na6pPdi4rqzajSQRTjtCkXsbDveDTMCBnBLQbyCcp2IB1OimQwvBRZ568v9aStE/TyNNbInXUc6kS0Cd4EHf8K3JEDLz6iaS9aYGKmW6Yy8qgQQSJ8W3lRATpEnrSdNKa3TRdCZURWiI1g0d62QYO9RlYpUU9y1BjQ+m1A69B/rUoao2PSgQmBUYWaaiIoYpUUMUQq5wvC99et2S4QXLirmIkKWOUEgcpIr3rHYa+e6LMiLcvXrRJk5O47zOzCPh+5uRr+4ay18bQouy1HgGJvOl9PkfREuGkrLRRKK1F7sVdXCm/n8QsjEFMlwAWmiPviMneQQxTeJ6Ve7WdlrS3cQ2GupNhUuPhwrhktZUBYM2jQWDEDYN7VQ3tTCucGtfOt4MAgtF+AS4AO+E/+lMpWNUUYFaLshh8NdYWnsd7da4JL4gYdEtSqykMC9yTMa+QqTA8Gs/teKRxcaxhkxN3KZt3HWyQFQmJWcwkxMDlNM/tCmx9Rjg4Fgna4kARDiRJIjNlnXS4GXRZwCiAr3eM4KycPZxVi2bIuNdtvbLtcAe3BDIzeKCH1B2IrxQK10aoqtzAEXIIMSC0kEWJGo2JBSlNFKKKKVWQghilFHFNUUQxSoqVRRV6YijNHYgMCwkcx1q5UqCmo7kSY0HKgoJkNIinAmpsVhHtmGG4kRqDQlMvfHbzFiPg0w37N8J8vvvi/ttBrtptVEdoWNhbL2bFwpba1buXFZriIxJgeLISCTlYglZ0rx6GKwt7NwjRApgCQdTsCNZnQkRoRYgps5Wjftfd7sqLNlXOHXDd8FbvBZCBSoOaJMfFE6kdIr8J7RtYsPhzYsXrb3BcIvBz4guUfAwkDz514lKoOz8MKZphkAkGxIuNCCDIjaDA2GqOY6r3rHadrbq9jDYW0wuF5S22qtb7trLZmJNoiSR1M6UPF+Md/aS2EtWLSFnW1YDAF2gMzliSWgQOg0rx1skgsNhv1+VCBFNTwGHY8Pa243knYi8kzqYmYkxqZmcpoqVQT/PShJB8qeOVbAq00daeKRPWkKKBVlXJEkeUxp/rTKNCI16/lRpc/d2B5b69abQCOc/SiEkqC/JOup2oUWN43gg8vOpX1MA1C+poEJ2pttdDSKk7UKjXrUiEqfX+YpU6jY70A5ikae4OlKUQmXQ8x6aH2rV4ntvir3f5ltxesrZaFPhAzyy66M3fXZP+M1kwalA0mqKuGo1iDUaHRpPeD9Wj5cSC0kaL3Mdxs3LPdtasO4tLZF5lY3BbX4QJbIGA0zgTHzqfiXa67fF0GzYR74C3bttWDtbUjKhJYgDQAmJIAms0DUiiqv4GGkEM0Mi56baR7otGURopmK9nhnHjati0+Hw99Fc3EF5GJRzEwVYSpj4TIq4vay8bhum1YNxjd71jb1vJdADWruuqACAOUD3zq1IKDuz8M5xc5gJMzruINtLzeBc31gqZivU4rxdr4toLdu1atBslu0CFBcyzEsSWYkDU9K84UhT1pp0202hjBAHfuZNzJNyTJud0pKVKioadRPTU9NUUSpUqVRRQ5aU60dwf50JtkbgiRpNXqgKI01FQGgmCla7Khco05jc+tNcukxmJMba7UDIYmDHWNKGgmVnA4G5ecJaUux6ch1JOgFexd7FYtVzRab/Cr+L6gD61q/szwlsWVdtO8u+M8wqtlifISfeuncQ7O2cPh7lx2LtP3ZByjWAojWeZ9ByrY2lSa1vtCZdpHX8brG6tVc53s4hus9P6IEL5ocgAqyEOCZmRHUEcjSsWmc5VBJPIVpvtGwyrfR10Ny2c3mVIAPrBA/3RTdjLKHVzAa4quRuEAWSPYk+1YMWTQkax911uy6AxtRo0EEnmBx1n8ry/6v3QJ8M9ARPz2qicOZhjB5gjWu7YvAJGtpP2c4e+7MtpFW3lNxbBtXguZmlF3Y5s8xBgcf7SoA6nmRr7afn9Ky0K7i/K6PBdHHYCi2ga1GRlgEEg6kjixBFxpFxbXxygB60naSSBA6dKKJ/L1oLlpkOVgVPQiD8q2rhgyjuWGB2JnURrSQdR7U+HxBUgidPOmvXc0s25NCUSLJxIpmGtCjVNe9AI6UySFDzobixEGfypiaJmUzoRpp686BTgKK40mTRWnIkRNAwjekTSJwmpafz+dFlmSNq97sh2Xu4+4QhyW0jvLhEgTsFH7zGNvn5gogLwco1I0HzpW2jeuw3PslwxTN3mIE/v+DLPpk+k1zntV2Zu4C7kuEMjAm24EBwNxH7rCRI8xShwTEKHgfCTiboRTCxmduiA8vMzA/yrqOE+z0C0rrhFuIR8Ri4xHXefkKxP2dYgZ7qGMxRSOpAJzf8AcK792dxSXMGMrAPbDeqmSQfQiPI6iiTAsuPVmviXUHPcAGggAxOkzzwNPBcF7Udmltob1gEKPjSSYE/Gk66cx+lZYV2X7SsRay4hgAM1k5hyzvbgD1zMPea5FgcPnYA7RJ9KPVXdn1HkPY85spgO5/r9KIU9ajh2Aa462rKSzGFUQJPqdB6mp+2fZoYV1tm4j3e7DvkGilpOSf3vDBmBuNKEreVkqanpVFE1NT01RRKlSpVFFGTUjXSRBMwNPSohTjY1oWcKMivc7PYFSDcYTrCzyjc+v6V4hr3uzuLGU2ydQSR5g/nT0YzXROi2uP7Nm1greJuFpunS2bZy5TMFnmJIEgRqK5zx7BC04y6KwJA6EbgeWorf8R4oLmHw1kZpsi6GJOhzvmWNeQ01rFcZuLduZcwGRTBOxY7gfIVZWnJ72s+UotibKx2O7SDCkpcnuycwK6lG01jmDA26edbbiHbiwyhrmJ7yBoozMfZY094rkhFHbE5h5Tz5QeR6A70rMU+m2IBjSdlVUwrHumSJ1jdejxriL4y8bkQAIVZ+FB16nUk+tR8J4l3JMjMp3jl5jzrzRUuG+ITsNTvyE8iDy61kq/8AJOe8rbhqjsO5rqViNFssf2sS4BNwkKiIEAYf2aBF30mBM9SaynEMYbr5joNlHQdKjxroWm2CBGoPXyqtVVKgymZGvVbMX2lWxDBTdAaNhInvufwvoP7O+DYTh2AtY3EG2ly6i3Gu3I8K3AGREJ+HQiY3PtHk4zjy47HYjh+Nsd9hiwSxftoM1hmWVYvykNv5RBBNeLhuI/0lw/B2bbp+1YJl/wDj3iFXEW0TIDbzaMwWJG418p9vhF1OHJfxWOZEe6wKWEIZzkUKqqOZMCTsOcUxN1zadIe++ptYAEAn4Y3k6uPwwA27pIjjnEsG1i9dssZa3ce2SNiUYrI8jE1Guu9WuIX2u3Ll8jxO7Ow3EuxYgeWtUmUjcRVuiOqcNHL51Y78tExoI2/GqoGk1awbKs55gqQI61NLoESoJqM1PeC7jTbTeepmoTrURRM6nlBjfeT+VBn2nWNv550Br1OE8Av4i53dtdYBLE+BQdiT+W9Vve1jS5xgDcqxjXOMNEleeEzTHv0Fdo+yW2owAiJN25nPnIAn/dC1kLn2ZXcuYYhS3Q22Ck9MwJ6jlzqt2a47e4ReezftkoxBdARIOwuWydDIEecciKy0sXQxEik6SO/Tm4E+ErTUw1Wjeo2B64X0PxLDMLVu0iM0ayNgfMecmuVfa+q/sSkxmF5MvWSr5o9p+VX/AP8AJ2CyyL90mJy5Ls/MjL9YrnPbbtMcc9sgZbK/ADyJ3ZwP3tPSPerRrCqJss1gbz23V7RIZdQR9Z8q23DO15cRctjMAZNtpB06HafU1hjroTp5beoAqxbBUSPU/MAA+xPzqx2aLLFXwtGv/wBjZjvH0+69XjfG3xMDRUBkIDGvVydzVfhhyPB0zCBOmtUWEEjzNTYdSNyR5fkeQqOO6spU2025GCAundn+M4fBWC6fe4i6jAgyot66KYHjBIUxI231isjj8UTnuXGLM0kljJZjzJ6k15t7iDT4QNhAg66R89Cao3sQz/Ef0oNuJVqCirY9kuwF3FoL1x+5tN8PhzO46gHRV6EzPSINexxX7KoQnDXyzD9y6AM3kHWMvuD7ViqdqYWnU9m59/Id50+w3KsbhqhbmAXNqaivWmRmRwVZSVZToQQYINBW9VJ6VNSqKKGaKOm5IimMV63Arql1UqNCSDzmDFamtLnAcrK92RpdwJRWuzjkAswSdhBP1n8K8/iPD3skZtjsw2/yNdwscLtXMLZe9ndbeFv3QofLBW4NFMaAz51jPtK4basoO7BCXLVm6qscxUufhnnsfnV5bScCGzIny/XRZg+u1wc4gtMd4zfvqVzxsZcK5S7Eepp8KVYw8iAYIjXnB09TJPQVXoayG63hOx+VPa3E7bcuenPQevKpLgzAndtzuSdJzbknYk+oocKhLQs5t1CgkkjpGtKb2TDlQ0a7E+g+ft5dQdfWrd/h10EsbN0CT/8AruRHuJHvVYmFA6kn5aDn68h7zRe1zYzAieUlOox92EHuMqKnQSY/mBqT8qapDoI5mJ9NwNDHQ8iDpSlOE1+5mgHULoJj9BOvWoyef4CNqluXC0TGgjTSomXSoAjK3PZvsviMSbuHwiWWv2VRrzX/ABBWc/2VpSrW5WCGLiZDZYjU+0XY/E4QWhj1w699cNq3dsAIUcAZe9VFW2bRnpmGpG0HT/ZXxY2MdeAKlMe9u6i3PASDmZ+7fUM9s3CptmCRDAxu321ccbFYpOGFAlmyyYi7emYXu9WiPCFW4wjUsxUDWAaC4q7KFyF0KsVYEEEhgeRBgg+lDcbkCSBtVrid7vLty7Ed47vHTOxaPrVKr1RMos2lJflQ0YUtJA21MVFESBSDmmY0jmfOusfZvhguBRlHiuM5bmSQ5QD5KK5FW37A9rhhfubzFEzSjifu2O4Mawd5GxJ66cvteg+th4ZJggkDWL6Dm8ro9m1WU60v4i+k+hC77kVvumyGLM3AoK3cxCsSoUQfhT5CuMfarhwbFpx8feZPVWVmI9JQH51usV27tFS/7RYUEEFg6FiCdgfi0ECN9K5L2w7UJimVFU9wpMEyrFhHjjprsfPYxHOpZq+JY+kDDZkkRbYXMkxM9Z5W6qRSw7mvIl0QAZvuegWTJgQD6+f+X8+k9ttBHQ6eYMke4I9wKC5aUdY+Y12nmPrT27ZgZTMN+7qdQNY3/d6V37ELiKVRPi3Xf3/umOf+tTIkqSdJYSeu5PrypXMqHL8UmWA0E9PadPX2qVl2BMiSQdhGnTQRG1O0yqnWQ3fi000Bk77CfTWowRlJ2jRR67k+cfiKfF3QYjQa6ec/50CiXVRyIHvOv8+QqRA9bIgyjvtr6Mw+sj86ZQGIkxqM3pOrD2plQkGYGzamOvLfmKFYHMn0H5n9KAMabJl9S8MsgK1tQB93lQabCIA9quY5cqvIie7A9t4rlHZb7RLKolnGEo6qoF0gurQI8WUaHTeIPltXtce+0zBIpZbgvvHhS0pAP8TkQo9yegryjaVanSNA03F1wCNCDmBM9Mx3G0kEFdTO1xzBwA89vwuefataVeINlGrWrbN/F4l+eVVrHzVni3EnxN5790y7tJjYDYKPIAAe1U5r0uGpmlRZTcZIAHr6eC51R2Z5cN0c0qCaVXykU2DuBWBZcw6Uxuw+ZfDrIjl0pYeyzsEUSzEKB5kxXQuHdg1yKWa2C0gZu8Zny/EUS2jEKNpIFXjLngmFfgsBUxQdlIDRqT1GgABJMCe4XKzdjtawXK4fYrCN4YO4gnQHpXmcX41cxESTlUaBjm0ggEz0kwOVev2o7KnDgOpUqVzBkLZWEwdHhlIkaEDcdayc1prmoAGuIIO438ge9Y6vZzcLUuO65jwng86KQZT/AIf+3n7jSOs1HdQg6j+f5NJhVm3iGYJbCg6wBGrSRp7kDasl9kZGpUWHUllUasWCAHUSSAJnSJqxi8Xlm3ZJW2DBI0a4RuzEakHkuwEVLaa1ZcEZ7lxD+4QLYcCD4yCbkHWQAPM71BhOHG73aWvHdc5Qg305zsBAkk6Aa07yKbbmDv0A5Og3nzVLQKrpj3RpO55g8WgkckKmhIMqSp6gwfmKvrcF4EXGQXAJW45C5hIBW4eZgyDvoRUvHuAXsG4S7lIYSrocyNoJCt1EwQdduRBqli8E1sWy0feWxcWDPhLMuvQyhqijiabmNcxwLXacG027oPUQd5CtqUs3QjQ7j7wdxKnt8PM+FrVw8lt3AST/AAmCdJ212qk8yc0zJmd55zPOgivQvXc1tLhgvLWix1Ld3kZSeRMXMhJnRRVxDSCWiI+kgffqkBe1wa4yD0i8E/bpHjaolvmdB1PqJgc4zAxRLcj4Rrpqd58J06QQdehqM+f8xoKQquJ1Vsq9wvi9/Ctmw9woQQ2wYBhscrAifOK9PH38fj5u3S12SCSclsMQIVsoChoGgOtUOA4UXb6K2oliR1AUmPpXbuDdkkvYe1ee46942UKiZ8viZdY2Hh32FZcRXcx2VgBMTf1/S6uBwdKpSNWu4hubKIuSYng7dLrgeJtOjZXBUgbRGnL/AFqtXU/tN4AtoXLebMbQV0YiDBgsD8/oK5inWJHnVlCr7RpkQQYKz43CjDvGUy1wDgd4PPq4+Sip5pRRG2QAeR/KrljTBZr2uC9m8VeAuW7IKEaG4QqsPKdT6gRS7KYBcRiraPqolmHUKCY9CYHpXeeH9n7jC1cKg22ZZCmGCExMbAR0M1fTpMIzVDA0HUxKUudMNF1898W4Hfwx++tlQTowIZT5Zhz8jrVNvDkJAOkwdtSd/aK+gO1OEwt0tatDNaZMrDWM2vwzrpoZ61w7E4bumdA4YqSpgSPD4eex050mIYKYa68HnUJqbsxI+io2BMD4ZPh9+Uc19dPrU1pJLLlyldSDsSDABPqdtt9qitOA05Vb+JpPz0H0qyjOfATrlbSV1kSFjygfXyjG716/KtAUdpXJytudQHg6+QOuo6eVWkvIAEMxAkrtrrpm6T/PKisgZfCf99ZHkpnTzqzftasQARyhlGWNIIn+dKIIJ1+Xr5JCLKSFAJBEqQVzc8w038MjLPtUIzLlLaDUgbA5ddhSVDlKEaQG5GGkf+J/GordpwTAIEH01ED13FSReT69SiAhtnfzB/CR9QKK23Ppt6nb9fajtAhvGhIB3UEfhp9KNcOcwUBpB1lTvz1HQDy51HPCMJYm4W3PwsR7cvwNBYts05VLegJqbBYJnbKQQCQSd9t9esE10rhPYy/es2XtZFt3GKICxEFQ7FmGUwPu22k+WtU1K2SzRJ9cLpYHAMrtNSq/KwGJ3JiY4FhO/cuXXUZTDAg+Yio5rpnH+yN61ZD38pRrjWtGlldSRMRAPgYggnbWK5ndUqSp3BI+WlPRre0kEQQlx+Bbh4dTdmaZE9RqD+fLl5pUE0quXOXr9n8YtnE2Lj/AtxS3kpME+wJPtXfjZU2hDgAoVzC53bFTc71WR8rAg7EV833N69jhXarF4ZO7t3j3fJHCuo/hzCV9AQKz4zC1X1G1aJEgQQZgiZ1E3npBB2iVp7Px38ezpiZtzELoX2g4y33YllMNddjbkrN4qBbVmAlhkkmNz61ySV6GY8t4/WPavTxnGXvKxvzcY/CdAF6wBAFUFw8oWzCQfh5mtwe8sa1+33um7QxjMS5opiGtB11uZPTuF7akmUrNtWYKM2p6jr6dPrUuF8Bu7hktH2Zmt25Hp3jH5VR2qxg7wVjnnK6FGjUgGCGHUhgp9qenZwM+tj4GCuXWBNMgdPESJHiJHiqwqW1inthwjFc6FGjTMhIJWd4JAnrttUwwHTEYeP42H0KyKlxFguQTewwgRpcI/wDGoaJcILQR4Ec6IfyaY38j+F6PGeMo2KeZvYVntu1sEoGK2RbzKd1cSdecCZFWu0t3BC1Z7m4cQ/7OtpJBUWVF24+e7B8V2HChNhBJmVFZ79g/2+H/AOYf/WnGA638P/zD/wCtYR2SAaZaSMkaEDMQMoJiLxYkRIsZAEP/ADKZm/kfwoblkgKTHiEiPzq1hbiOEs3Bl8RCupM5nI/tJ0KkgCRBAA3oDgBP9vhyP/sI/wDGpcPh1Rg73bThSGC2yXZiNQvwwoJ3Y10W03i50300+vyVFSrTc05SZ2gGZ22+tubSqrAKSCDIJBBI3BYEbenyPXSVUDEBF182O/h/Q/8AF5CoLzEsxYeIkk8tSZP407ZYBUmefkfKqIC096nwWKNq4rqolfX/ABAjfmDHsPOejcK7bEWwtvFG2u+QsVidTH+VcwostUVsK2rBkg8hbsH2k/DAtyhzTeHXvyPva/Rantf2m78ModrjMRnczqBsBPoPKsrdUA+EkiBM9aZrdJ1p6NEUm5WqnFYx+Jfnd3ADQDgICKdk1ga+lS5csZhMjSD8qjkggjToatVCt8D4icNiEuwTlPiHMqQQw9YPzArtvCOO94lp7dzvbSsHCycsgzBH7p8jtXB77FjmOpO9DYvOhlHZDzKsVJ9Yq2jW9nYiR60SubmuDC7t267U2lm8VCtkhUkZrjCd45a79B7Vwi/cLHO3xEnMfOZn6/SnDuzTLOx3mWJ9edSNbMEMpUnUSCJI15+U1XUqZg0AQBoEzRBM7+tE2HZgS5AYJ/eg6nQa7/6GnRlDDcMSJ/eiTqNdZ67/AI0F0ZAB+9+BPM+fT586gczWcCfXqytlWbVosw2JBExuQNzB1kfX8XwN0hoI2kwevT3mPcVGfjY+TH5jT/uFGznKCN9yDrAGxA5Dnp5UpJ9bIorP3jRopM+QJIO/TWPL0plWMytpoPbxDbqDH5+o5llWiNQTGokHUQf15ip4hWWQ3iA3g/vbT6cpqE/b6oKuqQTI+HX9PmYowfEzc4J92Gv1apLiaBeYE66EDkG8td+U8qS2/DJ00g+UMSffQCpMqKXh17u3Vj7/AMO35z7CurcF7cPh7Ni0lpXW0zurZiM2fvBrGw+9PyFcgDgyZE9B/O1WMPjLiDwsQOnxD5Gq6tBziHNMFdHBY6lSYaVdmZhM2NwYjkSCLa213XTu0vbQ4jD93ctrbRbrXswJJJZrhyQR/tPpXJ7tzMxbqSfmZqbFYpnjMxPrt7AVXIo0qRZJcZKmPxrK4DKTcrASY5J3Nz5fMos4/uilQRSq1c5T70sh56etFauFWDDcGaO9fLEs0Sa1LNsonbpUVHpQx51CiE00opFaK1blgNpMSaU2RVvg2CF24EbnHlqxA/OtQOxqcyv/ABP+lePwCxkxSrIMFdv41roNbcFhqdYEuHEfJcvtTHVsM5gpkCQZsDus3/U611/6m/Sl/U611/6m/StJRqJ0Fbf8fhxsfmVyx2zjCYBH+oWP4l2Ws2rbP0n4SeQJ5+lZF8snKSROk11bj3CL72GVLRYkNAA6o0VzHiPCr9ggXrTWydRmG4rlYhlNlUhmlt5816HBvrVKAdVEGTtG9rKqR7049KZaICqlcU4NSBzEUANTm8ZJAA0iBt51EpQR1qO4N6NTNEV1poSzCgA0qSzYZ5AI0EwT+FCw5UBEUsKwFFbBGo33FN3BJ0jU/jTCnS4VIPQg0CjdbXsrwRbt5MOGCZg5LmN0ts8tPLw+wqbi/D7doW8lw3pkl+7K2yykaWmfVwDuYA2qTsZxBLeJt3mYBAt3VhIk2biqCOfiIEedVOJcTu32z37hcgaSYCjoqjwoPIACqYkwuUS3JLvjk33tHrRZHG2VFxlIgzMzEzruZ11/zqq1kdYPRhH61axl0XLhIOhMD20qbh3C719ilq01wjkNMs9WOi+9MGnQLrNecoLtd1XazIBiPCoJmRpudPJKhuNLZl06DeNIj0rSY/stibFnO9tlgnMQQ2VRqCchMbnfTSvFWNzDR1IHzjU/Oq7iQR9vqnDwRIKgW3IMc/o36H9OlT/s5MGND4idhEA7n1I96mslS0zln+6M0k8hzGvQ16V3hNyFIVmkSwByn0OaOgO3IUA17jDQT3Cf15olwGpXkFfFpckb7aCfXQe1dR+zvshZv20u3kRi5JQPOQgaBmXYk5dBERHtyu7bYHKwykcjpHtXdfsxxK3sLhQhE2wqNJ2NrefUAEeorl9r+0aym1oMOeGmLGDtI0ndbMGGlzidgSPz4L38f2TR7ZRrdm4oGqZQYHkI0NcM7ddnBgrw7snurgLJJkrBGZJO8SIPQ+U19JQEuXLrMuUqIAOukfz71w77XsYrPZsgjMoe43kGgKPeG+QrNhWHDYtlOnIDs4LSZEN+F/Sf0rax9pSLnaiIOlzqFzcge9Jl85/KiimIr0C56jilRxSowoninanXrQGtCzJqGiNNQTITVmw65WDAlj8J6VXNOtAor1+zbRfBI2ytoJ0V1rd/0pb/AMf/AAN+lYbsn2juYC8bttVclChDTEEqdCNjKitiPtaxJiMNaM6aF/bnV9HEVKUhkX5/sLNicFRxMGoTaYg8+BVj+lLf+P8A4G/SrXD8YrOIn4v7pHIVs+A3sTiMOlzEWTZuEsTb8akQxAkHXUAHXrXgcb7T4u1jP2R8OFs3TkS6Q4z+EMcpOhIJirf59V1iBfofys/+Gw7PeBdI6jX/AFRDEN1rCfaTeY3LKkkg2idOudq0+UftTB9u4BAYyubPvrzqbiGGsm25y2yQjQYUsPStVcCrTOUCxPlPRcTB1XYTENFTMS5oEQbZo1k7b2XHCsUQNXcbeGdwBszD6naqjVyl6q8wU0VNlg8j6VCKkFMlJSNvWnGlWEE61ETUVeZNkUzrryHWobu5j60T0LGhCsBUQYjanBkURUQdfagUxSqxTWcS6CFYj8PlUj49mVlfxSNOUeem9BZ3nlUowwYEgHTeKBASS0Oki/MLzlkbb8vXlX0d2T4IltFtclUs7aKXeBJJ2ksR6CvnQpM+XPpXe+yHaVMVhSVjvGCrdE6qy6mB/dY6g9Kso7ga+pSYm2UnS8/Ky0LcPjvCScirIMbycqqehmQR5GuFduuGJhsYyIIR1W4ANhmLAgeUqY6TXccbxYCwQ5CgHM7s0LCjcztyk+VcI7X8XGLxT3V+AAIk6Eqs6kcpLMfQijVnL72s+X7VeHDc/uaRfv48F7f2bcIs4jEr3jFVLlATEjw5oBOkkws+ddIx3ZLCrjbdj9oKhxPdkEvzgB4yiYO+unORXJuz+PtrFsmMw56DNtE+Yj5V17g+NwowGe5cX9ot27qKSR3qli+QW+ZEMII2k7a1YwuFNrmE8EAb3g/TrwVoIBcQ4DmenCxP2sdnbOHcdyxJCqxBILLLEZSR7ETr86xPAuOXsGzNZaCd1OqNH95fzEHzr1O0mOAXugZYkFvIDXXzJrM1nxlJjz7N8OtBka9/rrqnoucPebbjottf+0nFMsJatI394Bm+QJge81jcRee47O7FnYyzMdSfOmtMQZG46UJ1rBhsHh8NPsWBs6x+TfwmFoqVqlT4zKdVJ00/Co2HWipq0qtNlHX6U9NFKpCiT9KCiNDWlZgmoTRUxpSmQUqetThE4blXvCs90vPEg5stvvO8gEC5m73JklI+IHSQTCdolZVqJHitbZu8MJdcqBScoZv2hiUW5hWzAyStxlOJGgA8KgxPia3e4cqZ0yrcIurlC4hsoa3iVWe8LKTm/Z4YQdSesLm6Jsg5WdOLubi48fxt+tR3MUxjM7NG0kmPSdq1pfhhZi7W2zNdaQcYpg3hlVxBhu6DHMojMwGXw+LzuNLhTZtjDPbHdu7sD3ouutxcKi5s4hrgZbpKocoAJG+sDkMnVeA+JY7sT6kmmLnqfnWsxL8MvXWuEraBvMzKBiMrWu8xHwgAw7A4cxoBBjLqKhR+GEhSoRZYG5OIYgKlko2XNBzOb6kRsoiD4jM07JspGhWXU1Jt6VpeI/0aARahmK3JIOIARhZc2sgY6hroQHNm0J2GozCHlTAqtwhHHSiUUA0NTqOm9OqSprBp8VZyncHzocMASZMaH59KlLgggjlp5VN0kQqZGm9RkedSFYqMmKisagdY3oIo7jkmSZNCaRWIw2kVbwtwjYxIiqHOrVm6IKxrvP5VEHN4UF1AOesmRHyqTD4h0+B2Q7yrFT7Ea0JQFwCQoJALHZQTufIb1tr/AGWwwUr3wtlUJZrhVjPeYgC6wQkLbK2regI0uKZJjPWSrmgkWWRxWOvXdLt67cA5XLjuPkxNRCtfa7I2WJHfukXUSGFpmVS1tc75GIhg7FZK/AdCNagTgWF7lbouXCCHuNBt5kRcO9xUZZjMz2mUGRuNNKGZHKVlwKsLirgEC44HTM0fKa1v9WMPbRi11XJXw5m2KpcYkBWXMG8EbjSQWBpk7IWdnxDWiO7DZ8jBC+5LKQGTXKDIGZW1IgmB0aFAt5WOo7mXTLO2s9fKva7ScMFju+7RhbZFzFyrMLwL5lYqSAwXJoIH1rwmUjcUFCjAIE8jpTZPDMjeI5+tMKe4ddBHlRUQ0NHbiRMx5b0ltyYH10+dBQIIpVL3R/k0qkoquaGjNNWlZUJpqehNBMvX4ViMKlo97aW5cm8QW73QC0hsAZGAg3QwM8ug1r1bj8KghEEzcKm4cSVBJu5RcVBJtAd0BlJeRqIzE5I0JpMqtD+i2OPx/D7rX3bxErf7sEX1hmvY25byZTC/HhpUwILazmBLE4jhTM7BElrl1lgYlUGbObOZFH9kJthgpzSGygrE41aY0MqOfotNj8Rgzirl5sl209v7tE71SrqbduCNCDlW4wzGNVnepsfiuGAEWrSkkXADOJIEW7hsxmK6lxaDSD+9rBmslSqZUc3RatL/AA5r2KN0L3bXc1ru1vgi1LEpbTQKx8IliApGmZdKu2Mdwu3cR1QArdtsSpxBGVXtH7tXSCMou5g+sxE6Rics1Lh7iq0sMw6VMqGadlokxeAXTJnQMzJbbv4QOcECGysMzhExMsDBIBiMqiXtTw+xaw9o2FWGZCX8edg1rNoW0dQS0lCACVUgkAjKsedCq0cqBfIU6a+tOKAaUbNOtOCqFIjCfF9KmmqM1NZuaa7VEpbZSlOfTceVVXq2DO/zqpeSDUKLDsoxTDqama2MmadZiPzmq80quhOTT22igJpIaVNFlNd3B8q1KdnrD4e0wvoLhRXCd7ZEljZLSWC5Mqve0JJm3voRWUA0npTrSm6LbLa3eBYRJazfy5EYZ++smSpxAa4UIkrNq0Mi6nvQR5x/1fwbF8uIMLce34rlgEBGcHEcs1rwp4F8Rz6GsgKsNYhVbSDP0pfFNM7LT2+CYEvkGIZfvGTOz2SsI9gF4AGjLeeNdDZJ1BIWdOz2H0PfBQAxdTdw7PbbJZKJMqrkl7mogeDWINZF8umWdtZ6+VT99MTGgjamE8pHAcK72jw6WbvdWyGVYYEMHPiAJDFQBm06dN968smjcjXT0objCfDMefWlTbJkaDI3FJ3JJJ3NGH8JWBvM86jAoqI2fYgRH49aC4xYknc05FKooCginp6VBBf/2Q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AD25EE3-E3BE-4BE9-AB25-FB86CD179C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70" y="980079"/>
            <a:ext cx="7904886" cy="5905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4593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99392"/>
            <a:ext cx="7704667" cy="1981200"/>
          </a:xfrm>
        </p:spPr>
        <p:txBody>
          <a:bodyPr/>
          <a:lstStyle/>
          <a:p>
            <a:r>
              <a:rPr lang="en-US" dirty="0"/>
              <a:t>Web 3.0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2" y="1196752"/>
            <a:ext cx="7838340" cy="5256584"/>
          </a:xfrm>
        </p:spPr>
        <p:txBody>
          <a:bodyPr>
            <a:noAutofit/>
          </a:bodyPr>
          <a:lstStyle/>
          <a:p>
            <a:pPr algn="just"/>
            <a:r>
              <a:rPr lang="el-GR" sz="1800" dirty="0"/>
              <a:t>Είναι η εξέλιξη του διαδικτύου όπου τα δεδομένα δεν είναι απλώς αναγνώσιμα από τους ανθρώπους, αλλά και κατανοητά από τις μηχανές </a:t>
            </a:r>
            <a:r>
              <a:rPr lang="el-GR" sz="1800" dirty="0" smtClean="0"/>
              <a:t>με </a:t>
            </a:r>
            <a:r>
              <a:rPr lang="el-GR" sz="1800" dirty="0"/>
              <a:t>την βοήθεια των τεχνολογιών του </a:t>
            </a:r>
            <a:r>
              <a:rPr lang="el-GR" sz="1800" b="1" dirty="0"/>
              <a:t>Σημασιολογικού Ιστού</a:t>
            </a:r>
            <a:r>
              <a:rPr lang="el-GR" sz="1800" dirty="0"/>
              <a:t>.</a:t>
            </a:r>
            <a:endParaRPr lang="en-US" sz="1800" dirty="0"/>
          </a:p>
          <a:p>
            <a:pPr algn="just"/>
            <a:r>
              <a:rPr lang="el-GR" sz="1800" dirty="0"/>
              <a:t>Αξιοποιεί την τεχνολογία </a:t>
            </a:r>
            <a:r>
              <a:rPr lang="el-GR" sz="1800" b="1" dirty="0"/>
              <a:t>Blockchain</a:t>
            </a:r>
            <a:r>
              <a:rPr lang="el-GR" sz="1800" dirty="0"/>
              <a:t> και τα αποκεντρωμένα δίκτυα για να εξαλείψει την εξάρτηση από κεντρικούς μεσάζοντες.</a:t>
            </a:r>
            <a:endParaRPr lang="en-US" sz="1800" dirty="0"/>
          </a:p>
          <a:p>
            <a:pPr algn="just"/>
            <a:r>
              <a:rPr lang="el-GR" sz="1800" dirty="0"/>
              <a:t>Επιτρέπει την ευφυή ανάλυση των δεδομένων, την εξατομίκευση και την αυτοματοποίηση </a:t>
            </a:r>
            <a:r>
              <a:rPr lang="el-GR" sz="1800" dirty="0" smtClean="0"/>
              <a:t>με την </a:t>
            </a:r>
            <a:r>
              <a:rPr lang="el-GR" sz="1800" dirty="0"/>
              <a:t>βοήθεια της </a:t>
            </a:r>
            <a:r>
              <a:rPr lang="el-GR" sz="1800" b="1" dirty="0"/>
              <a:t>Τεχνητής Νοημοσύνης</a:t>
            </a:r>
            <a:endParaRPr lang="en-US" sz="1800" b="1" dirty="0"/>
          </a:p>
          <a:p>
            <a:pPr algn="just"/>
            <a:r>
              <a:rPr lang="en-US" sz="1800" dirty="0"/>
              <a:t>E</a:t>
            </a:r>
            <a:r>
              <a:rPr lang="el-GR" sz="1800" dirty="0"/>
              <a:t>πιτρέπει στους χρήστες να αλληλεπιδρούν με τρισδιάστατα, ψηφιακά περιβάλλοντα μέσω ειδικών </a:t>
            </a:r>
            <a:r>
              <a:rPr lang="el-GR" sz="1800" dirty="0" smtClean="0"/>
              <a:t>συσκευών, όπως </a:t>
            </a:r>
            <a:r>
              <a:rPr lang="el-GR" sz="1800" dirty="0"/>
              <a:t>γυαλιά </a:t>
            </a:r>
            <a:r>
              <a:rPr lang="el-GR" sz="1800" b="1" dirty="0"/>
              <a:t>εικονικής </a:t>
            </a:r>
            <a:r>
              <a:rPr lang="el-GR" sz="1800" b="1" dirty="0" smtClean="0"/>
              <a:t>πραγματικότητας</a:t>
            </a:r>
            <a:r>
              <a:rPr lang="el-GR" sz="1800" dirty="0" smtClean="0"/>
              <a:t> (</a:t>
            </a:r>
            <a:r>
              <a:rPr lang="en-US" sz="1800" dirty="0" smtClean="0"/>
              <a:t>VR</a:t>
            </a:r>
            <a:r>
              <a:rPr lang="el-GR" sz="1800" dirty="0"/>
              <a:t>)</a:t>
            </a:r>
            <a:endParaRPr lang="en-US" sz="1800" dirty="0"/>
          </a:p>
          <a:p>
            <a:pPr algn="just"/>
            <a:r>
              <a:rPr lang="el-GR" sz="1800" dirty="0"/>
              <a:t>Δίνει έμφαση στην </a:t>
            </a:r>
            <a:r>
              <a:rPr lang="el-GR" sz="1800" b="1" dirty="0"/>
              <a:t>ασφάλεια</a:t>
            </a:r>
            <a:r>
              <a:rPr lang="el-GR" sz="1800" dirty="0"/>
              <a:t> και την </a:t>
            </a:r>
            <a:r>
              <a:rPr lang="el-GR" sz="1800" b="1" dirty="0"/>
              <a:t>προστασία</a:t>
            </a:r>
            <a:r>
              <a:rPr lang="el-GR" sz="1800" dirty="0"/>
              <a:t> της ιδιωτικότητας των χρηστών. </a:t>
            </a:r>
            <a:endParaRPr lang="en-US" sz="1800" dirty="0"/>
          </a:p>
          <a:p>
            <a:pPr algn="just"/>
            <a:r>
              <a:rPr lang="el-GR" sz="1800" dirty="0"/>
              <a:t>Προωθεί τη </a:t>
            </a:r>
            <a:r>
              <a:rPr lang="el-GR" sz="1800" b="1" dirty="0"/>
              <a:t>διαλειτουργικότητα</a:t>
            </a:r>
            <a:r>
              <a:rPr lang="el-GR" sz="1800" dirty="0"/>
              <a:t> μεταξύ διαφορετικών πλατφορμών και εφαρμογών, επιτρέποντας με αυτόν τον τρόπο την απρόσκοπτη ανταλλαγή δεδομένων και τη μεταξύ τους συνεργασία. </a:t>
            </a:r>
            <a:endParaRPr lang="en-US" sz="180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897F9716-B59D-424E-A345-62E80ADEB4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6408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223664"/>
            <a:ext cx="7704667" cy="1981200"/>
          </a:xfrm>
        </p:spPr>
        <p:txBody>
          <a:bodyPr/>
          <a:lstStyle/>
          <a:p>
            <a:r>
              <a:rPr lang="en-US" dirty="0"/>
              <a:t>Cryptocurrencies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688" indent="0">
              <a:buNone/>
            </a:pPr>
            <a:r>
              <a:rPr lang="en-US" dirty="0"/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2390420" y="1311151"/>
            <a:ext cx="5766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sz="2800" dirty="0"/>
              <a:t>…</a:t>
            </a:r>
            <a:r>
              <a:rPr lang="el-GR" altLang="en-US" sz="2800" dirty="0"/>
              <a:t>και φυσικά τα  </a:t>
            </a:r>
            <a:r>
              <a:rPr lang="el-GR" altLang="en-US" sz="2800" dirty="0" err="1"/>
              <a:t>κρυπτονομίσματα</a:t>
            </a:r>
            <a:r>
              <a:rPr lang="el-GR" altLang="en-US" sz="2800" dirty="0"/>
              <a:t> !</a:t>
            </a:r>
            <a:r>
              <a:rPr lang="en-US" altLang="en-US" sz="2800" dirty="0"/>
              <a:t>!!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357212D2-32A8-4D73-BF3F-054BC54442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C2F02A4D-D8F4-4C29-A8B9-682C6DC9CD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7170" name="Picture 2" descr="How Bitcoin and other cryptocurrencies could kill off cash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036069"/>
            <a:ext cx="5761805" cy="3841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893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 noChangeArrowheads="1"/>
          </p:cNvSpPr>
          <p:nvPr>
            <p:ph type="title"/>
          </p:nvPr>
        </p:nvSpPr>
        <p:spPr>
          <a:xfrm>
            <a:off x="827584" y="313185"/>
            <a:ext cx="7704667" cy="811559"/>
          </a:xfrm>
        </p:spPr>
        <p:txBody>
          <a:bodyPr/>
          <a:lstStyle/>
          <a:p>
            <a:r>
              <a:rPr lang="el-GR" altLang="en-US" dirty="0"/>
              <a:t>Σελίδες</a:t>
            </a:r>
            <a:r>
              <a:rPr lang="en-US" altLang="en-US" dirty="0"/>
              <a:t> WWW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982133" y="1196753"/>
            <a:ext cx="7910347" cy="5616624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l-GR" altLang="en-US" sz="2100" dirty="0"/>
              <a:t>Στα πλαίσια του μαθήματος θα γίνει αναφορά στην </a:t>
            </a:r>
            <a:r>
              <a:rPr lang="el-GR" altLang="en-US" sz="2100" dirty="0" smtClean="0"/>
              <a:t>κατηγοριοποίηση </a:t>
            </a:r>
            <a:r>
              <a:rPr lang="el-GR" altLang="en-US" sz="2100" dirty="0"/>
              <a:t>των διαδικτυακών σελίδων</a:t>
            </a:r>
            <a:r>
              <a:rPr lang="el-GR" altLang="en-US" sz="2100" dirty="0" smtClean="0"/>
              <a:t>.</a:t>
            </a:r>
            <a:r>
              <a:rPr lang="en-US" altLang="en-US" sz="2100" dirty="0" smtClean="0"/>
              <a:t> </a:t>
            </a:r>
          </a:p>
          <a:p>
            <a:pPr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endParaRPr lang="en-US" altLang="en-US" sz="400" dirty="0" smtClean="0"/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l-GR" altLang="en-US" sz="2100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Στατικές </a:t>
            </a:r>
            <a:r>
              <a:rPr lang="el-GR" altLang="en-US" sz="21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σελίδες</a:t>
            </a:r>
          </a:p>
          <a:p>
            <a:pPr lvl="2">
              <a:lnSpc>
                <a:spcPct val="120000"/>
              </a:lnSpc>
              <a:defRPr/>
            </a:pPr>
            <a:r>
              <a:rPr lang="el-GR" altLang="en-US" sz="1900" dirty="0"/>
              <a:t>Στατική είναι μία σελίδα που το περιεχόμενό της δεν μπορεί να αλλάξει από σύνοδο σε σύνοδο </a:t>
            </a:r>
            <a:r>
              <a:rPr lang="en-US" altLang="en-US" sz="1900" dirty="0"/>
              <a:t>(session).</a:t>
            </a:r>
          </a:p>
          <a:p>
            <a:pPr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l-GR" altLang="en-US" sz="21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Δυναμικές σελίδες</a:t>
            </a:r>
          </a:p>
          <a:p>
            <a:pPr lvl="2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l-GR" altLang="en-US" sz="1900" dirty="0"/>
              <a:t>Δυναμική είναι μια σελίδα που το περιεχόμενό της μπορεί να αλλάξει από σύνοδο σε σύνοδο </a:t>
            </a:r>
            <a:r>
              <a:rPr lang="en-US" altLang="en-US" sz="1900" dirty="0"/>
              <a:t>(session).</a:t>
            </a:r>
          </a:p>
          <a:p>
            <a:pPr lvl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n-US" altLang="en-US" sz="2100" dirty="0" smtClean="0"/>
              <a:t>To</a:t>
            </a:r>
            <a:r>
              <a:rPr lang="el-GR" altLang="en-US" sz="2100" dirty="0" smtClean="0"/>
              <a:t> </a:t>
            </a:r>
            <a:r>
              <a:rPr lang="en-US" altLang="en-US" sz="2100" dirty="0"/>
              <a:t>Web 2.0 </a:t>
            </a:r>
            <a:r>
              <a:rPr lang="el-GR" altLang="en-US" sz="2100" dirty="0"/>
              <a:t>δημιούργησε μια νέα κατηγορία «δυναμικών σελίδων» γνωστή σαν </a:t>
            </a:r>
            <a:r>
              <a:rPr lang="en-US" altLang="en-US" sz="21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RIA</a:t>
            </a:r>
            <a:r>
              <a:rPr lang="en-US" altLang="en-US" sz="2100" dirty="0"/>
              <a:t> (</a:t>
            </a:r>
            <a:r>
              <a:rPr lang="en-US" altLang="en-US" sz="21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Rich Internet Applications</a:t>
            </a:r>
            <a:r>
              <a:rPr lang="el-GR" altLang="en-US" sz="2100" dirty="0"/>
              <a:t>) </a:t>
            </a:r>
          </a:p>
          <a:p>
            <a:pPr lvl="2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l-GR" altLang="en-US" sz="1900" dirty="0"/>
              <a:t>Δυναμικές </a:t>
            </a:r>
            <a:r>
              <a:rPr lang="el-GR" altLang="en-US" sz="1900" dirty="0" err="1"/>
              <a:t>Σελιδες</a:t>
            </a:r>
            <a:r>
              <a:rPr lang="el-GR" altLang="en-US" sz="1900" dirty="0"/>
              <a:t> / </a:t>
            </a:r>
            <a:r>
              <a:rPr lang="en-US" altLang="en-US" sz="1900" dirty="0"/>
              <a:t>Web Applications </a:t>
            </a:r>
            <a:r>
              <a:rPr lang="el-GR" altLang="en-US" sz="1900" dirty="0"/>
              <a:t>που μοιάζουν με </a:t>
            </a:r>
            <a:r>
              <a:rPr lang="en-US" altLang="en-US" sz="1900" dirty="0"/>
              <a:t>Desktop Applications.</a:t>
            </a:r>
            <a:endParaRPr lang="el-GR" altLang="en-US" sz="1900" dirty="0"/>
          </a:p>
          <a:p>
            <a:pPr lvl="2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defRPr/>
            </a:pPr>
            <a:r>
              <a:rPr lang="el-GR" altLang="en-US" sz="1900" dirty="0"/>
              <a:t>Τμήματα των σελίδων αλληλεπιδρούν με υπηρεσίες και αλλάζουν το περιεχόμενο και την εμφάνισή τους</a:t>
            </a:r>
            <a:r>
              <a:rPr lang="el-GR" altLang="en-US" sz="1900" dirty="0" smtClean="0"/>
              <a:t>.</a:t>
            </a:r>
            <a:endParaRPr lang="en-US" altLang="en-US" sz="19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7C8398EB-21C3-4C3E-840D-FA16AD50753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8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99392"/>
            <a:ext cx="7704667" cy="1584176"/>
          </a:xfrm>
        </p:spPr>
        <p:txBody>
          <a:bodyPr/>
          <a:lstStyle/>
          <a:p>
            <a:r>
              <a:rPr lang="en-US" altLang="en-US" dirty="0"/>
              <a:t>WWW </a:t>
            </a:r>
            <a:r>
              <a:rPr lang="el-GR" altLang="en-US" dirty="0"/>
              <a:t>και</a:t>
            </a:r>
            <a:r>
              <a:rPr lang="en-US" altLang="en-US" dirty="0"/>
              <a:t> HTML</a:t>
            </a:r>
          </a:p>
        </p:txBody>
      </p:sp>
      <p:sp>
        <p:nvSpPr>
          <p:cNvPr id="194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71600" y="936104"/>
            <a:ext cx="7982355" cy="5733256"/>
          </a:xfrm>
        </p:spPr>
        <p:txBody>
          <a:bodyPr>
            <a:normAutofit/>
          </a:bodyPr>
          <a:lstStyle/>
          <a:p>
            <a:r>
              <a:rPr lang="el-GR" altLang="en-US" sz="2200" dirty="0"/>
              <a:t>Μέρος των διαλέξεων θα αναφέρεται στο διαδίκτυο και την </a:t>
            </a:r>
            <a:r>
              <a:rPr lang="en-US" altLang="en-US" sz="2200" b="1" dirty="0"/>
              <a:t>HTML (HyperText Markup Language)</a:t>
            </a:r>
            <a:r>
              <a:rPr lang="en-US" altLang="en-US" sz="2200" dirty="0" smtClean="0"/>
              <a:t>:</a:t>
            </a:r>
            <a:endParaRPr lang="en-US" altLang="en-US" sz="2200" dirty="0"/>
          </a:p>
          <a:p>
            <a:pPr lvl="1">
              <a:lnSpc>
                <a:spcPct val="90000"/>
              </a:lnSpc>
            </a:pPr>
            <a:r>
              <a:rPr lang="el-GR" altLang="en-US" sz="2200" dirty="0"/>
              <a:t>Παγκόσμιος Ιστός </a:t>
            </a:r>
            <a:r>
              <a:rPr lang="en-US" altLang="en-US" sz="2200" dirty="0"/>
              <a:t>(World Wide Web)</a:t>
            </a:r>
          </a:p>
          <a:p>
            <a:pPr lvl="2">
              <a:lnSpc>
                <a:spcPct val="90000"/>
              </a:lnSpc>
            </a:pPr>
            <a:r>
              <a:rPr lang="el-GR" altLang="en-US" sz="2000" dirty="0"/>
              <a:t>Κατανεμημένο σύστημα παράδοσης αρχείων/σελίδων</a:t>
            </a:r>
          </a:p>
          <a:p>
            <a:pPr lvl="2">
              <a:lnSpc>
                <a:spcPct val="90000"/>
              </a:lnSpc>
            </a:pPr>
            <a:r>
              <a:rPr lang="el-GR" altLang="en-US" sz="2000" dirty="0"/>
              <a:t>Χρησιμοποιεί μοντέλο</a:t>
            </a:r>
            <a:r>
              <a:rPr lang="en-US" altLang="en-US" sz="2000" dirty="0"/>
              <a:t> client-server</a:t>
            </a:r>
          </a:p>
          <a:p>
            <a:pPr lvl="2">
              <a:lnSpc>
                <a:spcPct val="90000"/>
              </a:lnSpc>
            </a:pPr>
            <a:r>
              <a:rPr lang="el-GR" altLang="en-US" sz="2000" dirty="0"/>
              <a:t>Κύρια γλώσσα παρουσίασης</a:t>
            </a:r>
            <a:r>
              <a:rPr lang="en-US" altLang="en-US" sz="2000" dirty="0"/>
              <a:t>: HTML</a:t>
            </a:r>
          </a:p>
          <a:p>
            <a:pPr lvl="1">
              <a:lnSpc>
                <a:spcPct val="90000"/>
              </a:lnSpc>
            </a:pPr>
            <a:r>
              <a:rPr lang="el-GR" altLang="en-US" sz="2200" dirty="0"/>
              <a:t>Γλώσσα Σήμανσης Υπερκειμένου </a:t>
            </a:r>
            <a:r>
              <a:rPr lang="en-US" altLang="en-US" sz="2200" dirty="0" smtClean="0"/>
              <a:t>(HTML)</a:t>
            </a:r>
            <a:endParaRPr lang="en-US" altLang="en-US" sz="2200" dirty="0"/>
          </a:p>
          <a:p>
            <a:pPr lvl="2">
              <a:lnSpc>
                <a:spcPct val="90000"/>
              </a:lnSpc>
            </a:pPr>
            <a:r>
              <a:rPr lang="el-GR" altLang="en-US" sz="2200" dirty="0"/>
              <a:t>Σήμανση </a:t>
            </a:r>
            <a:r>
              <a:rPr lang="en-US" altLang="en-US" sz="2200" dirty="0"/>
              <a:t>(Markup):</a:t>
            </a:r>
          </a:p>
          <a:p>
            <a:pPr lvl="3">
              <a:lnSpc>
                <a:spcPct val="90000"/>
              </a:lnSpc>
            </a:pPr>
            <a:r>
              <a:rPr lang="el-GR" altLang="en-US" sz="1900" dirty="0"/>
              <a:t>Ενσωματωμένοι κωδικοί στα αρχεία/σελίδες</a:t>
            </a:r>
          </a:p>
          <a:p>
            <a:pPr lvl="3">
              <a:lnSpc>
                <a:spcPct val="90000"/>
              </a:lnSpc>
            </a:pPr>
            <a:r>
              <a:rPr lang="el-GR" altLang="en-US" sz="1900" dirty="0"/>
              <a:t>Οι κωδικοί ονομάζονται </a:t>
            </a:r>
            <a:r>
              <a:rPr lang="en-US" altLang="en-US" sz="1900" dirty="0"/>
              <a:t>`tags’ </a:t>
            </a:r>
            <a:r>
              <a:rPr lang="el-GR" altLang="en-US" sz="1900" dirty="0"/>
              <a:t>και</a:t>
            </a:r>
            <a:r>
              <a:rPr lang="en-US" altLang="en-US" sz="1900" dirty="0"/>
              <a:t>:</a:t>
            </a:r>
          </a:p>
          <a:p>
            <a:pPr lvl="4">
              <a:lnSpc>
                <a:spcPct val="90000"/>
              </a:lnSpc>
            </a:pPr>
            <a:r>
              <a:rPr lang="el-GR" altLang="en-US" sz="1900" dirty="0"/>
              <a:t>Περιγράφουν τη δομή των αρχείων/σελίδων</a:t>
            </a:r>
          </a:p>
          <a:p>
            <a:pPr lvl="4"/>
            <a:r>
              <a:rPr lang="el-GR" altLang="en-US" sz="1900" dirty="0"/>
              <a:t>Περιέχουν οδηγίες για την επεξεργασία των αρχείων/σελίδων από τους </a:t>
            </a:r>
            <a:r>
              <a:rPr lang="en-US" altLang="en-US" sz="1900" dirty="0"/>
              <a:t>browsers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C9A6885-D864-45EB-9199-7B76CE88E3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/>
              <a:t>Cascading Style </a:t>
            </a:r>
            <a:r>
              <a:rPr lang="en-US" altLang="en-US" dirty="0" smtClean="0"/>
              <a:t>Sheets</a:t>
            </a:r>
            <a:endParaRPr lang="el-GR" alt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982133" y="1196752"/>
            <a:ext cx="7910347" cy="475252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l-GR" altLang="en-US" sz="2400" dirty="0"/>
              <a:t>Τα </a:t>
            </a:r>
            <a:r>
              <a:rPr lang="el-GR" altLang="en-US" sz="24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CSS</a:t>
            </a:r>
            <a:r>
              <a:rPr lang="el-GR" altLang="en-US" sz="2400" dirty="0"/>
              <a:t> (</a:t>
            </a:r>
            <a:r>
              <a:rPr lang="el-GR" altLang="en-US" sz="2400" dirty="0" err="1"/>
              <a:t>Cascading</a:t>
            </a:r>
            <a:r>
              <a:rPr lang="el-GR" altLang="en-US" sz="2400" dirty="0"/>
              <a:t> </a:t>
            </a:r>
            <a:r>
              <a:rPr lang="el-GR" altLang="en-US" sz="2400" dirty="0" err="1"/>
              <a:t>Style</a:t>
            </a:r>
            <a:r>
              <a:rPr lang="el-GR" altLang="en-US" sz="2400" dirty="0"/>
              <a:t> </a:t>
            </a:r>
            <a:r>
              <a:rPr lang="el-GR" altLang="en-US" sz="2400" dirty="0" err="1"/>
              <a:t>Sheets</a:t>
            </a:r>
            <a:r>
              <a:rPr lang="el-GR" altLang="en-US" sz="2400" dirty="0"/>
              <a:t>-Διαδοχικά Φύλλα Στυλ) ή ( αλληλουχία φύλλων </a:t>
            </a:r>
            <a:r>
              <a:rPr lang="el-GR" altLang="en-US" sz="2400" dirty="0" err="1"/>
              <a:t>στύλ</a:t>
            </a:r>
            <a:r>
              <a:rPr lang="el-GR" altLang="en-US" sz="2400" dirty="0"/>
              <a:t> ) ανήκουν στην κατηγορία των γλωσσών φύλλων στυλ (</a:t>
            </a:r>
            <a:r>
              <a:rPr lang="en-US" altLang="en-US" sz="2400" dirty="0"/>
              <a:t>style sheet language) </a:t>
            </a:r>
            <a:endParaRPr lang="el-GR" altLang="en-US" sz="2400" dirty="0"/>
          </a:p>
          <a:p>
            <a:pPr>
              <a:defRPr/>
            </a:pPr>
            <a:r>
              <a:rPr lang="el-GR" altLang="en-US" sz="2400" dirty="0"/>
              <a:t>Χρησιμοποιείται για τον </a:t>
            </a:r>
            <a:r>
              <a:rPr lang="el-GR" altLang="en-US" sz="2400" i="1" dirty="0"/>
              <a:t>έλεγχο της εμφάνισης </a:t>
            </a:r>
            <a:r>
              <a:rPr lang="el-GR" altLang="en-US" sz="2400" dirty="0"/>
              <a:t>ενός εγγράφου που έχει γραφτεί με μια γλώσσα σήμανσης. </a:t>
            </a:r>
          </a:p>
          <a:p>
            <a:pPr>
              <a:defRPr/>
            </a:pPr>
            <a:r>
              <a:rPr lang="el-GR" altLang="en-US" sz="2400" dirty="0"/>
              <a:t>Πιο πρακτικά χρησιμοποιούνται για τον έλεγχο της εμφάνισης ενός εγγράφου </a:t>
            </a:r>
            <a:r>
              <a:rPr lang="el-GR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HTML</a:t>
            </a:r>
            <a:r>
              <a:rPr lang="el-GR" altLang="en-US" sz="2400" dirty="0"/>
              <a:t>, δηλαδή για τον έλεγχο της εμφάνισης μιας ιστοσελίδας και γενικότερα ενός </a:t>
            </a:r>
            <a:r>
              <a:rPr lang="el-GR" altLang="en-US" sz="2400" dirty="0" err="1"/>
              <a:t>ιστοτόπου</a:t>
            </a:r>
            <a:r>
              <a:rPr lang="el-GR" altLang="en-US" sz="2400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E44A908B-65AB-420B-92A1-B58E834F5B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BA870EF-1572-4B2C-9E87-76721715D7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/>
              <a:t>JavaScript</a:t>
            </a: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268760"/>
            <a:ext cx="7766331" cy="4896544"/>
          </a:xfrm>
        </p:spPr>
        <p:txBody>
          <a:bodyPr>
            <a:normAutofit/>
          </a:bodyPr>
          <a:lstStyle/>
          <a:p>
            <a:r>
              <a:rPr lang="el-GR" altLang="en-US" sz="2400" dirty="0"/>
              <a:t>Κυρίαρχη τάση αποτελεί η χρήση </a:t>
            </a:r>
            <a:r>
              <a:rPr lang="en-US" altLang="en-US" sz="2400" dirty="0"/>
              <a:t>JavaScript</a:t>
            </a:r>
            <a:r>
              <a:rPr lang="el-GR" altLang="en-US" sz="2400" dirty="0"/>
              <a:t> παράλληλα με την HTML στις διαδικτυακές σελίδες για την ενσωμάτωση και παρουσίαση επιπλέον λειτουργιών.</a:t>
            </a:r>
            <a:endParaRPr lang="en-US" altLang="en-US" sz="2400" dirty="0"/>
          </a:p>
          <a:p>
            <a:r>
              <a:rPr lang="el-GR" altLang="en-US" sz="2400" dirty="0"/>
              <a:t>Μπορεί να χρησιμοποιηθεί ως επέκταση της HTML που επιτρέπει να ενσωματώνεται στις σελίδες κάποια λειτουργικότητα</a:t>
            </a:r>
            <a:r>
              <a:rPr lang="en-US" altLang="en-US" sz="2400" dirty="0"/>
              <a:t>.</a:t>
            </a:r>
          </a:p>
          <a:p>
            <a:r>
              <a:rPr lang="el-GR" altLang="en-US" sz="2400" dirty="0"/>
              <a:t>Η </a:t>
            </a:r>
            <a:r>
              <a:rPr lang="en-US" altLang="en-US" sz="2400" dirty="0"/>
              <a:t>JavaScript</a:t>
            </a:r>
            <a:r>
              <a:rPr lang="el-GR" altLang="en-US" sz="2400" dirty="0"/>
              <a:t> είναι </a:t>
            </a:r>
            <a:r>
              <a:rPr lang="el-GR" altLang="en-US" sz="2400" dirty="0" err="1"/>
              <a:t>ενσωματώσιμη</a:t>
            </a:r>
            <a:r>
              <a:rPr lang="el-GR" altLang="en-US" sz="2400" dirty="0"/>
              <a:t> στο HTML και μεταφράζεται από έναν </a:t>
            </a:r>
            <a:r>
              <a:rPr lang="en-US" altLang="en-US" sz="2400" dirty="0" err="1"/>
              <a:t>JavaScrip</a:t>
            </a:r>
            <a:r>
              <a:rPr lang="el-GR" altLang="en-US" sz="2400" dirty="0"/>
              <a:t>t-ικανό φυλλομετρητή</a:t>
            </a:r>
            <a:r>
              <a:rPr lang="en-US" altLang="en-US" sz="2400" dirty="0"/>
              <a:t>.</a:t>
            </a:r>
            <a:endParaRPr lang="el-GR" altLang="en-US" sz="2400" dirty="0"/>
          </a:p>
          <a:p>
            <a:pPr>
              <a:lnSpc>
                <a:spcPct val="90000"/>
              </a:lnSpc>
            </a:pPr>
            <a:r>
              <a:rPr lang="el-GR" altLang="en-US" sz="2400" u="sng" dirty="0"/>
              <a:t>Η </a:t>
            </a:r>
            <a:r>
              <a:rPr lang="en-US" altLang="en-US" sz="2400" u="sng" dirty="0"/>
              <a:t>JavaScript</a:t>
            </a:r>
            <a:r>
              <a:rPr lang="el-GR" altLang="en-US" sz="2400" u="sng" dirty="0"/>
              <a:t> είναι τελείως διαφορετική από τη </a:t>
            </a:r>
            <a:r>
              <a:rPr lang="en-US" altLang="en-US" sz="2400" u="sng" dirty="0"/>
              <a:t>Java.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57A29D72-FE1D-4535-AD40-FB026DA1FB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AE2C26B-7E3F-41BB-AD3C-477EDCA3B73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0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/>
              <a:t>JavaScript</a:t>
            </a:r>
            <a:endParaRPr lang="el-GR" altLang="en-US" dirty="0"/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124744"/>
            <a:ext cx="7704667" cy="4443024"/>
          </a:xfrm>
        </p:spPr>
        <p:txBody>
          <a:bodyPr>
            <a:noAutofit/>
          </a:bodyPr>
          <a:lstStyle/>
          <a:p>
            <a:r>
              <a:rPr lang="el-GR" altLang="en-US" sz="2400" dirty="0"/>
              <a:t>H </a:t>
            </a:r>
            <a:r>
              <a:rPr lang="en-US" altLang="en-US" sz="2400" dirty="0"/>
              <a:t>JavaScript</a:t>
            </a:r>
            <a:r>
              <a:rPr lang="el-GR" altLang="en-US" sz="2400" dirty="0"/>
              <a:t> είναι </a:t>
            </a:r>
            <a:endParaRPr lang="en-US" altLang="en-US" sz="2400" dirty="0"/>
          </a:p>
          <a:p>
            <a:pPr lvl="1"/>
            <a:r>
              <a:rPr lang="el-GR" altLang="en-US" sz="2400" dirty="0"/>
              <a:t>αντικειμενοστραφής, </a:t>
            </a:r>
            <a:endParaRPr lang="en-US" altLang="en-US" sz="2400" dirty="0"/>
          </a:p>
          <a:p>
            <a:pPr lvl="1"/>
            <a:r>
              <a:rPr lang="el-GR" altLang="en-US" sz="2400" dirty="0"/>
              <a:t>δια-συστημική (</a:t>
            </a:r>
            <a:r>
              <a:rPr lang="en-US" altLang="en-US" sz="2400" dirty="0"/>
              <a:t>cross-platform</a:t>
            </a:r>
            <a:r>
              <a:rPr lang="el-GR" altLang="en-US" sz="2400" dirty="0"/>
              <a:t>) και </a:t>
            </a:r>
            <a:endParaRPr lang="en-US" altLang="en-US" sz="2400" dirty="0"/>
          </a:p>
          <a:p>
            <a:pPr lvl="1"/>
            <a:r>
              <a:rPr lang="el-GR" altLang="en-US" sz="2400" dirty="0"/>
              <a:t>γεγονο-οδηγούμενη (</a:t>
            </a:r>
            <a:r>
              <a:rPr lang="en-US" altLang="en-US" sz="2400" dirty="0"/>
              <a:t>event-driven</a:t>
            </a:r>
            <a:r>
              <a:rPr lang="el-GR" altLang="en-US" sz="2400" dirty="0"/>
              <a:t>) γλώσσα </a:t>
            </a:r>
            <a:endParaRPr lang="en-US" altLang="en-US" sz="2400" dirty="0"/>
          </a:p>
          <a:p>
            <a:pPr lvl="1"/>
            <a:r>
              <a:rPr lang="el-GR" altLang="en-US" sz="2400" dirty="0"/>
              <a:t>σχεδιασμένη για να προσθέτει διαδραστικότητα σε ιστοσελίδες</a:t>
            </a:r>
            <a:r>
              <a:rPr lang="en-US" altLang="en-US" sz="2400" dirty="0"/>
              <a:t>.</a:t>
            </a:r>
          </a:p>
          <a:p>
            <a:r>
              <a:rPr lang="el-GR" altLang="en-US" sz="2400" dirty="0" smtClean="0"/>
              <a:t>Βασική </a:t>
            </a:r>
            <a:r>
              <a:rPr lang="el-GR" altLang="en-US" sz="2400" dirty="0"/>
              <a:t>γλώσσα στη δημιουργία </a:t>
            </a:r>
            <a:r>
              <a:rPr lang="en-US" altLang="en-US" sz="2400" dirty="0"/>
              <a:t>RIA</a:t>
            </a:r>
            <a:r>
              <a:rPr lang="el-GR" altLang="en-US" sz="2400" dirty="0"/>
              <a:t> είτε άμεσα είτε έμμεσα μέσω βιβλιοθηκών </a:t>
            </a:r>
            <a:r>
              <a:rPr lang="en-US" altLang="en-US" sz="2400" dirty="0"/>
              <a:t>(AJAX </a:t>
            </a:r>
            <a:r>
              <a:rPr lang="el-GR" altLang="en-US" sz="2400" dirty="0"/>
              <a:t>κτλ.</a:t>
            </a:r>
            <a:r>
              <a:rPr lang="en-US" altLang="en-US" sz="2400" dirty="0" smtClean="0"/>
              <a:t>)</a:t>
            </a:r>
            <a:endParaRPr lang="el-GR" alt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DE41D4E8-5A9D-4613-B998-A9793F313D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19936ED-6FDA-42C5-9835-07CBB870CE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altLang="en-US" dirty="0"/>
              <a:t>HTML, CSS </a:t>
            </a:r>
            <a:r>
              <a:rPr lang="el-GR" altLang="en-US" dirty="0"/>
              <a:t>και </a:t>
            </a:r>
            <a:r>
              <a:rPr lang="en-US" altLang="en-US" dirty="0" smtClean="0"/>
              <a:t>JavaScript</a:t>
            </a:r>
            <a:endParaRPr lang="el-GR" altLang="en-US" dirty="0"/>
          </a:p>
        </p:txBody>
      </p:sp>
      <p:pic>
        <p:nvPicPr>
          <p:cNvPr id="235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1628800"/>
            <a:ext cx="5472608" cy="4493299"/>
          </a:xfrm>
        </p:spPr>
      </p:pic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854226A9-DD98-4B08-AC27-047DC56716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1C2479A-BF3C-4043-AD3E-D3DEB3FE5CF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dirty="0" smtClean="0"/>
              <a:t>HTTP </a:t>
            </a:r>
            <a:r>
              <a:rPr lang="en-US" dirty="0"/>
              <a:t>vs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6832"/>
            <a:ext cx="7704667" cy="4082984"/>
          </a:xfrm>
        </p:spPr>
        <p:txBody>
          <a:bodyPr>
            <a:normAutofit/>
          </a:bodyPr>
          <a:lstStyle/>
          <a:p>
            <a:r>
              <a:rPr lang="en-US" sz="2400" b="1" dirty="0"/>
              <a:t>HTTP</a:t>
            </a:r>
            <a:r>
              <a:rPr lang="en-US" sz="2400" dirty="0"/>
              <a:t> (</a:t>
            </a:r>
            <a:r>
              <a:rPr lang="en-US" sz="2400" b="1" dirty="0"/>
              <a:t>Hypertext Transfer Protocol</a:t>
            </a:r>
            <a:r>
              <a:rPr lang="en-US" sz="2400" dirty="0"/>
              <a:t>) </a:t>
            </a:r>
          </a:p>
          <a:p>
            <a:pPr lvl="1"/>
            <a:r>
              <a:rPr lang="el-GR" sz="2000" dirty="0"/>
              <a:t>Είναι ένα πρωτόκολλο επιπέδου εφαρμογής</a:t>
            </a:r>
            <a:endParaRPr lang="en-US" sz="2000" dirty="0"/>
          </a:p>
          <a:p>
            <a:pPr lvl="1"/>
            <a:r>
              <a:rPr lang="el-GR" sz="2000" dirty="0"/>
              <a:t>Καθορίζει την δομή και την σημασία των δεδομένων που ανταλλάσσονται</a:t>
            </a:r>
            <a:r>
              <a:rPr lang="el-GR" sz="2000" dirty="0" smtClean="0"/>
              <a:t>.</a:t>
            </a:r>
          </a:p>
          <a:p>
            <a:pPr lvl="1"/>
            <a:endParaRPr lang="en-US" sz="600" dirty="0"/>
          </a:p>
          <a:p>
            <a:r>
              <a:rPr lang="en-US" sz="2400" b="1" dirty="0"/>
              <a:t>HTML</a:t>
            </a:r>
            <a:r>
              <a:rPr lang="en-US" sz="2400" dirty="0"/>
              <a:t> (</a:t>
            </a:r>
            <a:r>
              <a:rPr lang="en-US" sz="2400" b="1" dirty="0"/>
              <a:t>Hypertext Markup Language</a:t>
            </a:r>
            <a:r>
              <a:rPr lang="en-US" sz="2400" dirty="0" smtClean="0"/>
              <a:t>)</a:t>
            </a:r>
            <a:endParaRPr lang="el-GR" sz="2400" dirty="0" smtClean="0"/>
          </a:p>
          <a:p>
            <a:pPr lvl="1"/>
            <a:r>
              <a:rPr lang="el-GR" sz="2000" dirty="0"/>
              <a:t>Είναι μια γλώσσα σήμανσης για τα έγγραφα του διαδικτύου</a:t>
            </a:r>
            <a:endParaRPr lang="en-US" sz="2000" dirty="0"/>
          </a:p>
          <a:p>
            <a:pPr lvl="1"/>
            <a:r>
              <a:rPr lang="el-GR" sz="2000" dirty="0"/>
              <a:t>Καθορίζει τον τρόπο εμφάνισης των δεδομένων στον φυλλομετρητή. </a:t>
            </a:r>
            <a:endParaRPr lang="en-US" sz="2000" dirty="0"/>
          </a:p>
          <a:p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84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dirty="0" smtClean="0"/>
              <a:t>HTTP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23</a:t>
            </a:fld>
            <a:endParaRPr lang="en-US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88840"/>
            <a:ext cx="9144000" cy="34315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4509120"/>
            <a:ext cx="442798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HTTP request message generated by the Mozilla web browser to retrieve an </a:t>
            </a:r>
            <a:r>
              <a:rPr lang="en-US" sz="1400" dirty="0" smtClean="0">
                <a:solidFill>
                  <a:srgbClr val="002060"/>
                </a:solidFill>
              </a:rPr>
              <a:t>“example-page” </a:t>
            </a:r>
            <a:r>
              <a:rPr lang="en-US" sz="1400" dirty="0">
                <a:solidFill>
                  <a:srgbClr val="002060"/>
                </a:solidFill>
              </a:rPr>
              <a:t>residing on the web server </a:t>
            </a:r>
            <a:r>
              <a:rPr lang="en-US" sz="1400" dirty="0" smtClean="0">
                <a:solidFill>
                  <a:srgbClr val="002060"/>
                </a:solidFill>
              </a:rPr>
              <a:t>“www.example.com”  using the HTTP/1.1 protocol.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55976" y="5570656"/>
            <a:ext cx="468052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HTTP response message generated by an Apache Server that indicates that the document was found and that it is an HTML page placed in the body of the HTTP response.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403648" y="1340768"/>
            <a:ext cx="763284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2060"/>
                </a:solidFill>
              </a:rPr>
              <a:t>HTTP response messages have the same format, i.e., the </a:t>
            </a:r>
            <a:r>
              <a:rPr lang="en-US" sz="1400" b="1" dirty="0">
                <a:solidFill>
                  <a:srgbClr val="002060"/>
                </a:solidFill>
              </a:rPr>
              <a:t>first line </a:t>
            </a:r>
            <a:r>
              <a:rPr lang="en-US" sz="1400" dirty="0">
                <a:solidFill>
                  <a:srgbClr val="002060"/>
                </a:solidFill>
              </a:rPr>
              <a:t>(used to distinguish HTTP requests from responses), one or more </a:t>
            </a:r>
            <a:r>
              <a:rPr lang="en-US" sz="1400" b="1" dirty="0">
                <a:solidFill>
                  <a:srgbClr val="002060"/>
                </a:solidFill>
              </a:rPr>
              <a:t>headers</a:t>
            </a:r>
            <a:r>
              <a:rPr lang="en-US" sz="1400" dirty="0">
                <a:solidFill>
                  <a:srgbClr val="002060"/>
                </a:solidFill>
              </a:rPr>
              <a:t>, and optionally a </a:t>
            </a:r>
            <a:r>
              <a:rPr lang="en-US" sz="1400" b="1" dirty="0">
                <a:solidFill>
                  <a:srgbClr val="002060"/>
                </a:solidFill>
              </a:rPr>
              <a:t>body</a:t>
            </a:r>
            <a:r>
              <a:rPr lang="en-US" sz="1400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24928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l-GR" altLang="en-US" sz="2800" dirty="0"/>
              <a:t>Βασικές Κατηγορίες Προγραμματισμού</a:t>
            </a:r>
          </a:p>
        </p:txBody>
      </p:sp>
      <p:sp>
        <p:nvSpPr>
          <p:cNvPr id="2457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412776"/>
            <a:ext cx="7704667" cy="4464496"/>
          </a:xfrm>
        </p:spPr>
        <p:txBody>
          <a:bodyPr>
            <a:normAutofit/>
          </a:bodyPr>
          <a:lstStyle/>
          <a:p>
            <a:r>
              <a:rPr lang="el-GR" altLang="en-US" sz="2400" dirty="0"/>
              <a:t>Εκτός από την </a:t>
            </a:r>
            <a:r>
              <a:rPr lang="en-US" altLang="en-US" sz="2400" dirty="0" smtClean="0"/>
              <a:t>HTML/CSS </a:t>
            </a:r>
            <a:r>
              <a:rPr lang="el-GR" altLang="en-US" sz="2400" dirty="0"/>
              <a:t>και τη </a:t>
            </a:r>
            <a:r>
              <a:rPr lang="en-US" altLang="en-US" sz="2400" dirty="0" smtClean="0"/>
              <a:t>JavaScript, </a:t>
            </a:r>
            <a:r>
              <a:rPr lang="el-GR" altLang="en-US" sz="2400" dirty="0"/>
              <a:t>μέρος του μαθήματος αποτελεί ο διαδικτυακός προγραμματισμός με αναφορά σε βασικά πρότυπα, τεχνικές υλοποίησης, αρχιτεκτονικές και τεχνολογίες.</a:t>
            </a:r>
          </a:p>
          <a:p>
            <a:endParaRPr lang="en-US" altLang="en-US" sz="600" dirty="0" smtClean="0"/>
          </a:p>
          <a:p>
            <a:r>
              <a:rPr lang="el-GR" altLang="en-US" sz="2400" dirty="0" smtClean="0"/>
              <a:t>Η </a:t>
            </a:r>
            <a:r>
              <a:rPr lang="el-GR" altLang="en-US" sz="2400" dirty="0"/>
              <a:t>συγκεκριμένη ενότητα θα αρχίσει με αναφορά στις βασικές κατηγορίες προγραμματισμού και με ανάλυση ανά κατηγορία:</a:t>
            </a:r>
          </a:p>
          <a:p>
            <a:pPr lvl="2"/>
            <a:r>
              <a:rPr lang="el-GR" altLang="en-US" sz="2000" dirty="0"/>
              <a:t>Προγραμματισμός Πλευράς Χρήστη </a:t>
            </a:r>
            <a:r>
              <a:rPr lang="en-US" altLang="en-US" sz="2000" dirty="0"/>
              <a:t>(</a:t>
            </a:r>
            <a:r>
              <a:rPr lang="en-US" altLang="en-US" sz="2000" b="1" dirty="0"/>
              <a:t>Client-side</a:t>
            </a:r>
            <a:r>
              <a:rPr lang="en-US" altLang="en-US" sz="2000" dirty="0"/>
              <a:t>)</a:t>
            </a:r>
          </a:p>
          <a:p>
            <a:pPr lvl="2"/>
            <a:r>
              <a:rPr lang="el-GR" altLang="en-US" sz="2000" dirty="0"/>
              <a:t>Προγραμματισμός Πλευράς Εξυπηρετητή </a:t>
            </a:r>
            <a:r>
              <a:rPr lang="en-US" altLang="en-US" sz="2000" dirty="0"/>
              <a:t>(</a:t>
            </a:r>
            <a:r>
              <a:rPr lang="en-US" altLang="en-US" sz="2000" b="1" dirty="0"/>
              <a:t>Server-side</a:t>
            </a:r>
            <a:r>
              <a:rPr lang="en-US" altLang="en-US" sz="2000" dirty="0"/>
              <a:t>)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91AEE048-2AA7-44F0-B485-E32391677B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4E97DFD-1762-4D59-B7F3-09C11E0FFE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 noChangeArrowheads="1"/>
          </p:cNvSpPr>
          <p:nvPr>
            <p:ph type="title"/>
          </p:nvPr>
        </p:nvSpPr>
        <p:spPr>
          <a:xfrm>
            <a:off x="899592" y="529209"/>
            <a:ext cx="7704667" cy="379511"/>
          </a:xfrm>
        </p:spPr>
        <p:txBody>
          <a:bodyPr/>
          <a:lstStyle/>
          <a:p>
            <a:r>
              <a:rPr lang="en-US" altLang="en-US" sz="3600" dirty="0"/>
              <a:t>Client-side </a:t>
            </a:r>
            <a:r>
              <a:rPr lang="en-US" altLang="en-US" sz="3600" dirty="0" err="1"/>
              <a:t>Προγρ</a:t>
            </a:r>
            <a:r>
              <a:rPr lang="en-US" altLang="en-US" sz="3600" dirty="0"/>
              <a:t>αμματισμός</a:t>
            </a:r>
          </a:p>
        </p:txBody>
      </p:sp>
      <p:sp>
        <p:nvSpPr>
          <p:cNvPr id="25603" name="Rectangle 21"/>
          <p:cNvSpPr>
            <a:spLocks/>
          </p:cNvSpPr>
          <p:nvPr/>
        </p:nvSpPr>
        <p:spPr bwMode="auto">
          <a:xfrm>
            <a:off x="982133" y="1196752"/>
            <a:ext cx="7625292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SzPct val="100000"/>
              <a:buFont typeface="Arial" pitchFamily="34" charset="0"/>
              <a:buChar char="•"/>
              <a:defRPr sz="29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1pPr>
            <a:lvl2pPr marL="742950" indent="-285750">
              <a:spcBef>
                <a:spcPts val="600"/>
              </a:spcBef>
              <a:buSzPct val="100000"/>
              <a:buFont typeface="Arial" pitchFamily="34" charset="0"/>
              <a:buChar char="–"/>
              <a:defRPr sz="25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2pPr>
            <a:lvl3pPr marL="1143000" indent="-228600">
              <a:spcBef>
                <a:spcPts val="500"/>
              </a:spcBef>
              <a:buSzPct val="100000"/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3pPr>
            <a:lvl4pPr marL="1600200" indent="-228600">
              <a:spcBef>
                <a:spcPts val="400"/>
              </a:spcBef>
              <a:buSzPct val="10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4pPr>
            <a:lvl5pPr marL="2057400" indent="-228600">
              <a:spcBef>
                <a:spcPts val="400"/>
              </a:spcBef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9pPr>
          </a:lstStyle>
          <a:p>
            <a:pPr eaLnBrk="1" hangingPunct="1">
              <a:spcBef>
                <a:spcPts val="1300"/>
              </a:spcBef>
              <a:buSzTx/>
              <a:buFontTx/>
              <a:buNone/>
            </a:pPr>
            <a:r>
              <a:rPr lang="en-US" altLang="en-US" sz="2200" dirty="0" err="1">
                <a:cs typeface="Arial" pitchFamily="34" charset="0"/>
              </a:rPr>
              <a:t>Γι</a:t>
            </a:r>
            <a:r>
              <a:rPr lang="en-US" altLang="en-US" sz="2200" dirty="0">
                <a:cs typeface="Arial" pitchFamily="34" charset="0"/>
              </a:rPr>
              <a:t>α τον client-side προγραμματισμό τα βήματα αίτησης / απάντησης περιγράφονται στη συνέχεια:</a:t>
            </a:r>
          </a:p>
        </p:txBody>
      </p:sp>
      <p:grpSp>
        <p:nvGrpSpPr>
          <p:cNvPr id="25604" name="Group 5"/>
          <p:cNvGrpSpPr>
            <a:grpSpLocks/>
          </p:cNvGrpSpPr>
          <p:nvPr/>
        </p:nvGrpSpPr>
        <p:grpSpPr bwMode="auto">
          <a:xfrm>
            <a:off x="534193" y="2101691"/>
            <a:ext cx="2808288" cy="3870325"/>
            <a:chOff x="0" y="0"/>
            <a:chExt cx="1769" cy="2438"/>
          </a:xfrm>
        </p:grpSpPr>
        <p:sp>
          <p:nvSpPr>
            <p:cNvPr id="25621" name="Rectangle 6"/>
            <p:cNvSpPr>
              <a:spLocks/>
            </p:cNvSpPr>
            <p:nvPr/>
          </p:nvSpPr>
          <p:spPr bwMode="auto">
            <a:xfrm>
              <a:off x="0" y="0"/>
              <a:ext cx="1769" cy="2438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l-GR" altLang="en-US" sz="2400">
                <a:solidFill>
                  <a:srgbClr val="000000"/>
                </a:solidFill>
                <a:latin typeface="Times New Roman" pitchFamily="18" charset="0"/>
                <a:ea typeface="ヒラギノ明朝 ProN W3"/>
                <a:cs typeface="ヒラギノ明朝 ProN W3"/>
                <a:sym typeface="Times New Roman" pitchFamily="18" charset="0"/>
              </a:endParaRPr>
            </a:p>
          </p:txBody>
        </p:sp>
        <p:sp>
          <p:nvSpPr>
            <p:cNvPr id="25622" name="Rectangle 7"/>
            <p:cNvSpPr>
              <a:spLocks/>
            </p:cNvSpPr>
            <p:nvPr/>
          </p:nvSpPr>
          <p:spPr bwMode="auto">
            <a:xfrm>
              <a:off x="0" y="0"/>
              <a:ext cx="1769" cy="1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dirty="0" err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Πελάτης</a:t>
              </a: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( Browser)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1. </a:t>
              </a:r>
              <a:r>
                <a:rPr lang="en-US" altLang="en-US" sz="2400" dirty="0" err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Αίτηση</a:t>
              </a: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</a:t>
              </a:r>
              <a:r>
                <a:rPr lang="en-US" altLang="en-US" sz="2400" dirty="0" err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χρήστη</a:t>
              </a:r>
              <a:endParaRPr lang="en-US" altLang="en-US" sz="24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 dirty="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4. Επ</a:t>
              </a:r>
              <a:r>
                <a:rPr lang="en-US" altLang="en-US" sz="2400" dirty="0" err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εξεργ</a:t>
              </a: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ασία του 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	HTML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5. Απ</a:t>
              </a:r>
              <a:r>
                <a:rPr lang="en-US" altLang="en-US" sz="2400" dirty="0" err="1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εικόνιση</a:t>
              </a:r>
              <a:r>
                <a:rPr lang="en-US" altLang="en-US" sz="2400" dirty="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HTML</a:t>
              </a:r>
            </a:p>
          </p:txBody>
        </p:sp>
      </p:grpSp>
      <p:grpSp>
        <p:nvGrpSpPr>
          <p:cNvPr id="25605" name="Group 8"/>
          <p:cNvGrpSpPr>
            <a:grpSpLocks/>
          </p:cNvGrpSpPr>
          <p:nvPr/>
        </p:nvGrpSpPr>
        <p:grpSpPr bwMode="auto">
          <a:xfrm>
            <a:off x="5469731" y="2101691"/>
            <a:ext cx="3633787" cy="3870325"/>
            <a:chOff x="0" y="0"/>
            <a:chExt cx="2289" cy="2438"/>
          </a:xfrm>
        </p:grpSpPr>
        <p:sp>
          <p:nvSpPr>
            <p:cNvPr id="25619" name="Rectangle 9"/>
            <p:cNvSpPr>
              <a:spLocks/>
            </p:cNvSpPr>
            <p:nvPr/>
          </p:nvSpPr>
          <p:spPr bwMode="auto">
            <a:xfrm>
              <a:off x="0" y="0"/>
              <a:ext cx="2289" cy="2438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l-GR" altLang="en-US" sz="2400">
                <a:solidFill>
                  <a:srgbClr val="000000"/>
                </a:solidFill>
                <a:latin typeface="Times New Roman" pitchFamily="18" charset="0"/>
                <a:ea typeface="ヒラギノ明朝 ProN W3"/>
                <a:cs typeface="ヒラギノ明朝 ProN W3"/>
                <a:sym typeface="Times New Roman" pitchFamily="18" charset="0"/>
              </a:endParaRPr>
            </a:p>
          </p:txBody>
        </p:sp>
        <p:sp>
          <p:nvSpPr>
            <p:cNvPr id="25620" name="Rectangle 10"/>
            <p:cNvSpPr>
              <a:spLocks/>
            </p:cNvSpPr>
            <p:nvPr/>
          </p:nvSpPr>
          <p:spPr bwMode="auto">
            <a:xfrm>
              <a:off x="0" y="0"/>
              <a:ext cx="2288" cy="13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Εξυπηρετητής  (Web server)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2. Λήψη HTTP αίτησης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3. Αποστολή </a:t>
              </a:r>
            </a:p>
          </p:txBody>
        </p:sp>
      </p:grpSp>
      <p:sp>
        <p:nvSpPr>
          <p:cNvPr id="25606" name="Line 11"/>
          <p:cNvSpPr>
            <a:spLocks noChangeShapeType="1"/>
          </p:cNvSpPr>
          <p:nvPr/>
        </p:nvSpPr>
        <p:spPr bwMode="auto">
          <a:xfrm>
            <a:off x="3342481" y="3452654"/>
            <a:ext cx="21272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7" name="Line 12"/>
          <p:cNvSpPr>
            <a:spLocks noChangeShapeType="1"/>
          </p:cNvSpPr>
          <p:nvPr/>
        </p:nvSpPr>
        <p:spPr bwMode="auto">
          <a:xfrm rot="10800000">
            <a:off x="3342481" y="4244816"/>
            <a:ext cx="2127250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5608" name="Rectangle 13"/>
          <p:cNvSpPr>
            <a:spLocks/>
          </p:cNvSpPr>
          <p:nvPr/>
        </p:nvSpPr>
        <p:spPr bwMode="auto">
          <a:xfrm>
            <a:off x="3604418" y="3813016"/>
            <a:ext cx="15081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ts val="700"/>
              </a:spcBef>
              <a:buSzPct val="100000"/>
              <a:buFont typeface="Arial" pitchFamily="34" charset="0"/>
              <a:buChar char="•"/>
              <a:defRPr sz="29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1pPr>
            <a:lvl2pPr marL="742950" indent="-285750">
              <a:spcBef>
                <a:spcPts val="600"/>
              </a:spcBef>
              <a:buSzPct val="100000"/>
              <a:buFont typeface="Arial" pitchFamily="34" charset="0"/>
              <a:buChar char="–"/>
              <a:defRPr sz="25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2pPr>
            <a:lvl3pPr marL="1143000" indent="-228600">
              <a:spcBef>
                <a:spcPts val="500"/>
              </a:spcBef>
              <a:buSzPct val="100000"/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3pPr>
            <a:lvl4pPr marL="1600200" indent="-228600">
              <a:spcBef>
                <a:spcPts val="400"/>
              </a:spcBef>
              <a:buSzPct val="10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4pPr>
            <a:lvl5pPr marL="2057400" indent="-228600">
              <a:spcBef>
                <a:spcPts val="400"/>
              </a:spcBef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Απάντηση </a:t>
            </a:r>
          </a:p>
        </p:txBody>
      </p:sp>
      <p:sp>
        <p:nvSpPr>
          <p:cNvPr id="25609" name="Rectangle 14"/>
          <p:cNvSpPr>
            <a:spLocks/>
          </p:cNvSpPr>
          <p:nvPr/>
        </p:nvSpPr>
        <p:spPr bwMode="auto">
          <a:xfrm>
            <a:off x="3486943" y="3016091"/>
            <a:ext cx="18129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spcBef>
                <a:spcPts val="700"/>
              </a:spcBef>
              <a:buSzPct val="100000"/>
              <a:buFont typeface="Arial" pitchFamily="34" charset="0"/>
              <a:buChar char="•"/>
              <a:defRPr sz="29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1pPr>
            <a:lvl2pPr marL="742950" indent="-285750">
              <a:spcBef>
                <a:spcPts val="600"/>
              </a:spcBef>
              <a:buSzPct val="100000"/>
              <a:buFont typeface="Arial" pitchFamily="34" charset="0"/>
              <a:buChar char="–"/>
              <a:defRPr sz="25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2pPr>
            <a:lvl3pPr marL="1143000" indent="-228600">
              <a:spcBef>
                <a:spcPts val="500"/>
              </a:spcBef>
              <a:buSzPct val="100000"/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3pPr>
            <a:lvl4pPr marL="1600200" indent="-228600">
              <a:spcBef>
                <a:spcPts val="400"/>
              </a:spcBef>
              <a:buSzPct val="10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4pPr>
            <a:lvl5pPr marL="2057400" indent="-228600">
              <a:spcBef>
                <a:spcPts val="400"/>
              </a:spcBef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Αίτηση URL </a:t>
            </a:r>
          </a:p>
        </p:txBody>
      </p:sp>
      <p:grpSp>
        <p:nvGrpSpPr>
          <p:cNvPr id="25610" name="Group 15"/>
          <p:cNvGrpSpPr>
            <a:grpSpLocks/>
          </p:cNvGrpSpPr>
          <p:nvPr/>
        </p:nvGrpSpPr>
        <p:grpSpPr bwMode="auto">
          <a:xfrm rot="10800000" flipH="1">
            <a:off x="7303293" y="3813016"/>
            <a:ext cx="762000" cy="796925"/>
            <a:chOff x="0" y="0"/>
            <a:chExt cx="480" cy="502"/>
          </a:xfrm>
        </p:grpSpPr>
        <p:sp>
          <p:nvSpPr>
            <p:cNvPr id="25614" name="AutoShape 16"/>
            <p:cNvSpPr>
              <a:spLocks/>
            </p:cNvSpPr>
            <p:nvPr/>
          </p:nvSpPr>
          <p:spPr bwMode="auto">
            <a:xfrm>
              <a:off x="0" y="0"/>
              <a:ext cx="480" cy="5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600"/>
                <a:gd name="T40" fmla="*/ 0 h 21600"/>
                <a:gd name="T41" fmla="*/ 21600 w 21600"/>
                <a:gd name="T42" fmla="*/ 21600 h 2160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600" h="21600">
                  <a:moveTo>
                    <a:pt x="4050" y="0"/>
                  </a:moveTo>
                  <a:cubicBezTo>
                    <a:pt x="3304" y="0"/>
                    <a:pt x="2700" y="578"/>
                    <a:pt x="2700" y="1291"/>
                  </a:cubicBezTo>
                  <a:lnTo>
                    <a:pt x="2700" y="19018"/>
                  </a:lnTo>
                  <a:lnTo>
                    <a:pt x="1350" y="19018"/>
                  </a:lnTo>
                  <a:cubicBezTo>
                    <a:pt x="604" y="19018"/>
                    <a:pt x="0" y="19596"/>
                    <a:pt x="0" y="20309"/>
                  </a:cubicBezTo>
                  <a:cubicBezTo>
                    <a:pt x="0" y="21022"/>
                    <a:pt x="604" y="21600"/>
                    <a:pt x="1350" y="21600"/>
                  </a:cubicBezTo>
                  <a:lnTo>
                    <a:pt x="17550" y="21600"/>
                  </a:lnTo>
                  <a:cubicBezTo>
                    <a:pt x="18296" y="21600"/>
                    <a:pt x="18900" y="21022"/>
                    <a:pt x="18900" y="20309"/>
                  </a:cubicBezTo>
                  <a:lnTo>
                    <a:pt x="18900" y="2582"/>
                  </a:lnTo>
                  <a:lnTo>
                    <a:pt x="20250" y="2582"/>
                  </a:lnTo>
                  <a:cubicBezTo>
                    <a:pt x="20996" y="2582"/>
                    <a:pt x="21600" y="2004"/>
                    <a:pt x="21600" y="1291"/>
                  </a:cubicBezTo>
                  <a:cubicBezTo>
                    <a:pt x="21600" y="578"/>
                    <a:pt x="20996" y="0"/>
                    <a:pt x="20250" y="0"/>
                  </a:cubicBezTo>
                  <a:lnTo>
                    <a:pt x="4050" y="0"/>
                  </a:lnTo>
                  <a:close/>
                  <a:moveTo>
                    <a:pt x="4050" y="0"/>
                  </a:move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15" name="AutoShape 17"/>
            <p:cNvSpPr>
              <a:spLocks/>
            </p:cNvSpPr>
            <p:nvPr/>
          </p:nvSpPr>
          <p:spPr bwMode="auto">
            <a:xfrm>
              <a:off x="75" y="30"/>
              <a:ext cx="45" cy="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1600"/>
                <a:gd name="T23" fmla="*/ 21600 w 21600"/>
                <a:gd name="T24" fmla="*/ 21600 h 21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1600">
                  <a:moveTo>
                    <a:pt x="21600" y="0"/>
                  </a:moveTo>
                  <a:lnTo>
                    <a:pt x="21600" y="0"/>
                  </a:lnTo>
                  <a:cubicBezTo>
                    <a:pt x="21600" y="11929"/>
                    <a:pt x="15153" y="21600"/>
                    <a:pt x="7200" y="21600"/>
                  </a:cubicBezTo>
                  <a:cubicBezTo>
                    <a:pt x="3224" y="21600"/>
                    <a:pt x="0" y="16765"/>
                    <a:pt x="0" y="10800"/>
                  </a:cubicBezTo>
                  <a:cubicBezTo>
                    <a:pt x="0" y="4835"/>
                    <a:pt x="3224" y="0"/>
                    <a:pt x="7200" y="0"/>
                  </a:cubicBezTo>
                  <a:lnTo>
                    <a:pt x="21600" y="0"/>
                  </a:lnTo>
                  <a:close/>
                  <a:moveTo>
                    <a:pt x="21600" y="0"/>
                  </a:move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16" name="AutoShape 18"/>
            <p:cNvSpPr>
              <a:spLocks/>
            </p:cNvSpPr>
            <p:nvPr/>
          </p:nvSpPr>
          <p:spPr bwMode="auto">
            <a:xfrm>
              <a:off x="0" y="442"/>
              <a:ext cx="60" cy="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21600"/>
                  </a:moveTo>
                  <a:cubicBezTo>
                    <a:pt x="16765" y="21600"/>
                    <a:pt x="21600" y="16765"/>
                    <a:pt x="21600" y="10800"/>
                  </a:cubicBezTo>
                  <a:lnTo>
                    <a:pt x="10800" y="10800"/>
                  </a:lnTo>
                  <a:cubicBezTo>
                    <a:pt x="13782" y="10800"/>
                    <a:pt x="16200" y="8382"/>
                    <a:pt x="16200" y="5400"/>
                  </a:cubicBezTo>
                  <a:cubicBezTo>
                    <a:pt x="16200" y="2418"/>
                    <a:pt x="13782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lose/>
                  <a:moveTo>
                    <a:pt x="10800" y="21600"/>
                  </a:move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17" name="AutoShape 19"/>
            <p:cNvSpPr>
              <a:spLocks/>
            </p:cNvSpPr>
            <p:nvPr/>
          </p:nvSpPr>
          <p:spPr bwMode="auto">
            <a:xfrm>
              <a:off x="30" y="0"/>
              <a:ext cx="390" cy="5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600"/>
                <a:gd name="T46" fmla="*/ 0 h 21600"/>
                <a:gd name="T47" fmla="*/ 21600 w 21600"/>
                <a:gd name="T48" fmla="*/ 21600 h 216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600" h="21600">
                  <a:moveTo>
                    <a:pt x="3323" y="0"/>
                  </a:moveTo>
                  <a:cubicBezTo>
                    <a:pt x="4241" y="0"/>
                    <a:pt x="4985" y="578"/>
                    <a:pt x="4985" y="1291"/>
                  </a:cubicBezTo>
                  <a:cubicBezTo>
                    <a:pt x="4985" y="2004"/>
                    <a:pt x="4241" y="2582"/>
                    <a:pt x="3323" y="2582"/>
                  </a:cubicBezTo>
                  <a:cubicBezTo>
                    <a:pt x="2864" y="2582"/>
                    <a:pt x="2492" y="2293"/>
                    <a:pt x="2492" y="1936"/>
                  </a:cubicBezTo>
                  <a:cubicBezTo>
                    <a:pt x="2492" y="1580"/>
                    <a:pt x="2864" y="1291"/>
                    <a:pt x="3323" y="1291"/>
                  </a:cubicBezTo>
                  <a:lnTo>
                    <a:pt x="4985" y="1291"/>
                  </a:lnTo>
                  <a:moveTo>
                    <a:pt x="3323" y="2582"/>
                  </a:moveTo>
                  <a:lnTo>
                    <a:pt x="21600" y="2582"/>
                  </a:lnTo>
                  <a:moveTo>
                    <a:pt x="0" y="21600"/>
                  </a:moveTo>
                  <a:cubicBezTo>
                    <a:pt x="918" y="21600"/>
                    <a:pt x="1662" y="21022"/>
                    <a:pt x="1662" y="20309"/>
                  </a:cubicBezTo>
                  <a:lnTo>
                    <a:pt x="1662" y="19018"/>
                  </a:lnTo>
                  <a:moveTo>
                    <a:pt x="0" y="19018"/>
                  </a:moveTo>
                  <a:cubicBezTo>
                    <a:pt x="459" y="19018"/>
                    <a:pt x="831" y="19307"/>
                    <a:pt x="831" y="19664"/>
                  </a:cubicBezTo>
                  <a:cubicBezTo>
                    <a:pt x="831" y="20020"/>
                    <a:pt x="459" y="20309"/>
                    <a:pt x="0" y="20309"/>
                  </a:cubicBezTo>
                  <a:lnTo>
                    <a:pt x="1662" y="2030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5618" name="Rectangle 20"/>
            <p:cNvSpPr>
              <a:spLocks/>
            </p:cNvSpPr>
            <p:nvPr/>
          </p:nvSpPr>
          <p:spPr bwMode="auto">
            <a:xfrm rot="10800000" flipH="1">
              <a:off x="77" y="128"/>
              <a:ext cx="37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80010" bIns="38100" anchor="ctr">
              <a:spAutoFit/>
            </a:bodyPr>
            <a:lstStyle>
              <a:lvl1pPr marL="3175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html</a:t>
              </a:r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5A7B4C85-B795-4C53-B071-A820D5E396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0426B10-1F60-4D09-A350-BBAA0CAC57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 noChangeArrowheads="1"/>
          </p:cNvSpPr>
          <p:nvPr>
            <p:ph type="title"/>
          </p:nvPr>
        </p:nvSpPr>
        <p:spPr>
          <a:xfrm>
            <a:off x="899592" y="-27384"/>
            <a:ext cx="7704667" cy="1512168"/>
          </a:xfrm>
        </p:spPr>
        <p:txBody>
          <a:bodyPr/>
          <a:lstStyle/>
          <a:p>
            <a:r>
              <a:rPr lang="en-US" altLang="en-US" sz="3600" dirty="0"/>
              <a:t>Client-side </a:t>
            </a:r>
            <a:r>
              <a:rPr lang="en-US" altLang="en-US" sz="3600" dirty="0" err="1"/>
              <a:t>Προγρ</a:t>
            </a:r>
            <a:r>
              <a:rPr lang="en-US" altLang="en-US" sz="3600" dirty="0"/>
              <a:t>αμματισμός</a:t>
            </a:r>
          </a:p>
        </p:txBody>
      </p:sp>
      <p:sp>
        <p:nvSpPr>
          <p:cNvPr id="266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908720"/>
            <a:ext cx="7704667" cy="5472608"/>
          </a:xfrm>
        </p:spPr>
        <p:txBody>
          <a:bodyPr>
            <a:normAutofit/>
          </a:bodyPr>
          <a:lstStyle/>
          <a:p>
            <a:r>
              <a:rPr lang="el-GR" altLang="en-US" sz="2400" dirty="0"/>
              <a:t>Μέθοδος:</a:t>
            </a:r>
          </a:p>
          <a:p>
            <a:pPr lvl="1"/>
            <a:r>
              <a:rPr lang="el-GR" altLang="en-US" sz="2000" dirty="0"/>
              <a:t>Κατέβασμα και εκτέλεση προγράμματος στον πελάτη</a:t>
            </a:r>
          </a:p>
          <a:p>
            <a:r>
              <a:rPr lang="el-GR" altLang="en-US" sz="2400" dirty="0"/>
              <a:t>Παραδείγματα:</a:t>
            </a:r>
          </a:p>
          <a:p>
            <a:pPr lvl="1"/>
            <a:r>
              <a:rPr lang="en-US" altLang="en-US" sz="2000" dirty="0"/>
              <a:t>JavaScript code</a:t>
            </a:r>
          </a:p>
          <a:p>
            <a:r>
              <a:rPr lang="el-GR" altLang="en-US" sz="2400" dirty="0"/>
              <a:t>Πλεονεκτήματα:</a:t>
            </a:r>
          </a:p>
          <a:p>
            <a:pPr lvl="1"/>
            <a:r>
              <a:rPr lang="el-GR" altLang="en-US" sz="2000" dirty="0"/>
              <a:t>Δυναμική αλληλεπίδραση </a:t>
            </a:r>
          </a:p>
          <a:p>
            <a:pPr lvl="1"/>
            <a:r>
              <a:rPr lang="el-GR" altLang="en-US" sz="2000" dirty="0"/>
              <a:t>Μείωση του φορτίου του </a:t>
            </a:r>
            <a:r>
              <a:rPr lang="en-US" altLang="en-US" sz="2000" dirty="0"/>
              <a:t>server</a:t>
            </a:r>
          </a:p>
          <a:p>
            <a:pPr lvl="1"/>
            <a:r>
              <a:rPr lang="el-GR" altLang="en-US" sz="2000" dirty="0"/>
              <a:t>Βολικό για περιπτώσεις εφαρμογών με υψηλές υπολογιστικές απαιτήσεις (π.χ. κινούμενα σχέδια)</a:t>
            </a:r>
          </a:p>
          <a:p>
            <a:pPr lvl="1"/>
            <a:r>
              <a:rPr lang="el-GR" altLang="en-US" sz="2000" dirty="0"/>
              <a:t>Ασφάλεια Εξυπηρετητή, προστασία από σφάλματα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0A9CD765-FBA0-4085-A281-37D2FF78D3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AA3D55F-6B1C-43E9-9719-8A07F6138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 noChangeArrowheads="1"/>
          </p:cNvSpPr>
          <p:nvPr>
            <p:ph type="title"/>
          </p:nvPr>
        </p:nvSpPr>
        <p:spPr>
          <a:xfrm>
            <a:off x="899592" y="529209"/>
            <a:ext cx="7704667" cy="379511"/>
          </a:xfrm>
        </p:spPr>
        <p:txBody>
          <a:bodyPr/>
          <a:lstStyle/>
          <a:p>
            <a:r>
              <a:rPr lang="en-US" altLang="en-US" sz="3600" dirty="0"/>
              <a:t>Server-side </a:t>
            </a:r>
            <a:r>
              <a:rPr lang="en-US" altLang="en-US" sz="3600" dirty="0" err="1"/>
              <a:t>Προγρ</a:t>
            </a:r>
            <a:r>
              <a:rPr lang="en-US" altLang="en-US" sz="3600" dirty="0"/>
              <a:t>αμματισμός</a:t>
            </a:r>
          </a:p>
        </p:txBody>
      </p:sp>
      <p:grpSp>
        <p:nvGrpSpPr>
          <p:cNvPr id="27651" name="Group 5"/>
          <p:cNvGrpSpPr>
            <a:grpSpLocks/>
          </p:cNvGrpSpPr>
          <p:nvPr/>
        </p:nvGrpSpPr>
        <p:grpSpPr bwMode="auto">
          <a:xfrm>
            <a:off x="534987" y="2212930"/>
            <a:ext cx="2808288" cy="3870325"/>
            <a:chOff x="0" y="0"/>
            <a:chExt cx="1769" cy="2438"/>
          </a:xfrm>
        </p:grpSpPr>
        <p:sp>
          <p:nvSpPr>
            <p:cNvPr id="27669" name="Rectangle 6"/>
            <p:cNvSpPr>
              <a:spLocks/>
            </p:cNvSpPr>
            <p:nvPr/>
          </p:nvSpPr>
          <p:spPr bwMode="auto">
            <a:xfrm>
              <a:off x="0" y="0"/>
              <a:ext cx="1769" cy="2438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l-GR" altLang="en-US" sz="2400">
                <a:solidFill>
                  <a:srgbClr val="000000"/>
                </a:solidFill>
                <a:latin typeface="Times New Roman" pitchFamily="18" charset="0"/>
                <a:ea typeface="ヒラギノ明朝 ProN W3"/>
                <a:cs typeface="ヒラギノ明朝 ProN W3"/>
                <a:sym typeface="Times New Roman" pitchFamily="18" charset="0"/>
              </a:endParaRPr>
            </a:p>
          </p:txBody>
        </p:sp>
        <p:sp>
          <p:nvSpPr>
            <p:cNvPr id="27670" name="Rectangle 7"/>
            <p:cNvSpPr>
              <a:spLocks/>
            </p:cNvSpPr>
            <p:nvPr/>
          </p:nvSpPr>
          <p:spPr bwMode="auto">
            <a:xfrm>
              <a:off x="0" y="0"/>
              <a:ext cx="1769" cy="1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Πελάτης ( Browser)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1. Αίτηση χρήστη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5. Απεικόνιση HTML</a:t>
              </a:r>
            </a:p>
          </p:txBody>
        </p:sp>
      </p:grpSp>
      <p:grpSp>
        <p:nvGrpSpPr>
          <p:cNvPr id="27652" name="Group 8"/>
          <p:cNvGrpSpPr>
            <a:grpSpLocks/>
          </p:cNvGrpSpPr>
          <p:nvPr/>
        </p:nvGrpSpPr>
        <p:grpSpPr bwMode="auto">
          <a:xfrm>
            <a:off x="5468937" y="2212930"/>
            <a:ext cx="3635375" cy="3870325"/>
            <a:chOff x="0" y="0"/>
            <a:chExt cx="2289" cy="2438"/>
          </a:xfrm>
        </p:grpSpPr>
        <p:sp>
          <p:nvSpPr>
            <p:cNvPr id="27667" name="Rectangle 9"/>
            <p:cNvSpPr>
              <a:spLocks/>
            </p:cNvSpPr>
            <p:nvPr/>
          </p:nvSpPr>
          <p:spPr bwMode="auto">
            <a:xfrm>
              <a:off x="0" y="0"/>
              <a:ext cx="2289" cy="2438"/>
            </a:xfrm>
            <a:prstGeom prst="rect">
              <a:avLst/>
            </a:prstGeom>
            <a:solidFill>
              <a:srgbClr val="B2B2B2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>
              <a:lvl1pPr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l-GR" altLang="en-US" sz="2400">
                <a:solidFill>
                  <a:srgbClr val="000000"/>
                </a:solidFill>
                <a:latin typeface="Times New Roman" pitchFamily="18" charset="0"/>
                <a:ea typeface="ヒラギノ明朝 ProN W3"/>
                <a:cs typeface="ヒラギノ明朝 ProN W3"/>
                <a:sym typeface="Times New Roman" pitchFamily="18" charset="0"/>
              </a:endParaRPr>
            </a:p>
          </p:txBody>
        </p:sp>
        <p:sp>
          <p:nvSpPr>
            <p:cNvPr id="27668" name="Rectangle 10"/>
            <p:cNvSpPr>
              <a:spLocks/>
            </p:cNvSpPr>
            <p:nvPr/>
          </p:nvSpPr>
          <p:spPr bwMode="auto">
            <a:xfrm>
              <a:off x="0" y="0"/>
              <a:ext cx="2274" cy="18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l-GR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Εξυπηρετητής</a:t>
              </a: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 (Web server)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2. </a:t>
              </a:r>
              <a:r>
                <a:rPr lang="el-GR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Λήψη</a:t>
              </a: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HTTP </a:t>
              </a:r>
              <a:r>
                <a:rPr lang="el-GR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αίτησης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3. </a:t>
              </a:r>
              <a:r>
                <a:rPr lang="el-GR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Ανάκτηση</a:t>
              </a: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 HTML </a:t>
              </a:r>
              <a:r>
                <a:rPr lang="el-GR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σελίδας</a:t>
              </a: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endParaRPr>
            </a:p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4. </a:t>
              </a:r>
              <a:r>
                <a:rPr lang="el-GR" altLang="en-US" sz="24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Αποστολή </a:t>
              </a:r>
            </a:p>
          </p:txBody>
        </p:sp>
      </p:grpSp>
      <p:sp>
        <p:nvSpPr>
          <p:cNvPr id="27653" name="Line 11"/>
          <p:cNvSpPr>
            <a:spLocks noChangeShapeType="1"/>
          </p:cNvSpPr>
          <p:nvPr/>
        </p:nvSpPr>
        <p:spPr bwMode="auto">
          <a:xfrm>
            <a:off x="3343275" y="3563893"/>
            <a:ext cx="2127250" cy="47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4" name="Line 12"/>
          <p:cNvSpPr>
            <a:spLocks noChangeShapeType="1"/>
          </p:cNvSpPr>
          <p:nvPr/>
        </p:nvSpPr>
        <p:spPr bwMode="auto">
          <a:xfrm rot="10800000">
            <a:off x="3343275" y="5003755"/>
            <a:ext cx="2127250" cy="127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55" name="Rectangle 13"/>
          <p:cNvSpPr>
            <a:spLocks/>
          </p:cNvSpPr>
          <p:nvPr/>
        </p:nvSpPr>
        <p:spPr bwMode="auto">
          <a:xfrm>
            <a:off x="3565525" y="4575130"/>
            <a:ext cx="150812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ts val="700"/>
              </a:spcBef>
              <a:buSzPct val="100000"/>
              <a:buFont typeface="Arial" pitchFamily="34" charset="0"/>
              <a:buChar char="•"/>
              <a:defRPr sz="29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1pPr>
            <a:lvl2pPr marL="742950" indent="-285750">
              <a:spcBef>
                <a:spcPts val="600"/>
              </a:spcBef>
              <a:buSzPct val="100000"/>
              <a:buFont typeface="Arial" pitchFamily="34" charset="0"/>
              <a:buChar char="–"/>
              <a:defRPr sz="25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2pPr>
            <a:lvl3pPr marL="1143000" indent="-228600">
              <a:spcBef>
                <a:spcPts val="500"/>
              </a:spcBef>
              <a:buSzPct val="100000"/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3pPr>
            <a:lvl4pPr marL="1600200" indent="-228600">
              <a:spcBef>
                <a:spcPts val="400"/>
              </a:spcBef>
              <a:buSzPct val="10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4pPr>
            <a:lvl5pPr marL="2057400" indent="-228600">
              <a:spcBef>
                <a:spcPts val="400"/>
              </a:spcBef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Απάντηση </a:t>
            </a:r>
          </a:p>
        </p:txBody>
      </p:sp>
      <p:sp>
        <p:nvSpPr>
          <p:cNvPr id="27656" name="Rectangle 14"/>
          <p:cNvSpPr>
            <a:spLocks/>
          </p:cNvSpPr>
          <p:nvPr/>
        </p:nvSpPr>
        <p:spPr bwMode="auto">
          <a:xfrm>
            <a:off x="3336925" y="3127330"/>
            <a:ext cx="1978025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spcBef>
                <a:spcPts val="700"/>
              </a:spcBef>
              <a:buSzPct val="100000"/>
              <a:buFont typeface="Arial" pitchFamily="34" charset="0"/>
              <a:buChar char="•"/>
              <a:defRPr sz="29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1pPr>
            <a:lvl2pPr marL="742950" indent="-285750">
              <a:spcBef>
                <a:spcPts val="600"/>
              </a:spcBef>
              <a:buSzPct val="100000"/>
              <a:buFont typeface="Arial" pitchFamily="34" charset="0"/>
              <a:buChar char="–"/>
              <a:defRPr sz="25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2pPr>
            <a:lvl3pPr marL="1143000" indent="-228600">
              <a:spcBef>
                <a:spcPts val="500"/>
              </a:spcBef>
              <a:buSzPct val="100000"/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3pPr>
            <a:lvl4pPr marL="1600200" indent="-228600">
              <a:spcBef>
                <a:spcPts val="400"/>
              </a:spcBef>
              <a:buSzPct val="10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4pPr>
            <a:lvl5pPr marL="2057400" indent="-228600">
              <a:spcBef>
                <a:spcPts val="400"/>
              </a:spcBef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t>Αίτηση URL </a:t>
            </a:r>
            <a:br>
              <a:rPr lang="en-US" altLang="en-US" sz="2400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</a:br>
            <a:endParaRPr lang="en-US" altLang="en-US" sz="2400">
              <a:latin typeface="Times New Roman" pitchFamily="18" charset="0"/>
              <a:cs typeface="Times New Roman" pitchFamily="18" charset="0"/>
              <a:sym typeface="Times New Roman" pitchFamily="18" charset="0"/>
            </a:endParaRPr>
          </a:p>
        </p:txBody>
      </p:sp>
      <p:grpSp>
        <p:nvGrpSpPr>
          <p:cNvPr id="27657" name="Group 15"/>
          <p:cNvGrpSpPr>
            <a:grpSpLocks/>
          </p:cNvGrpSpPr>
          <p:nvPr/>
        </p:nvGrpSpPr>
        <p:grpSpPr bwMode="auto">
          <a:xfrm rot="10800000" flipH="1">
            <a:off x="7231062" y="4714830"/>
            <a:ext cx="762000" cy="796925"/>
            <a:chOff x="0" y="0"/>
            <a:chExt cx="480" cy="502"/>
          </a:xfrm>
        </p:grpSpPr>
        <p:sp>
          <p:nvSpPr>
            <p:cNvPr id="27662" name="AutoShape 16"/>
            <p:cNvSpPr>
              <a:spLocks/>
            </p:cNvSpPr>
            <p:nvPr/>
          </p:nvSpPr>
          <p:spPr bwMode="auto">
            <a:xfrm>
              <a:off x="0" y="0"/>
              <a:ext cx="480" cy="5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21600"/>
                <a:gd name="T40" fmla="*/ 0 h 21600"/>
                <a:gd name="T41" fmla="*/ 21600 w 21600"/>
                <a:gd name="T42" fmla="*/ 21600 h 2160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21600" h="21600">
                  <a:moveTo>
                    <a:pt x="4050" y="0"/>
                  </a:moveTo>
                  <a:cubicBezTo>
                    <a:pt x="3304" y="0"/>
                    <a:pt x="2700" y="578"/>
                    <a:pt x="2700" y="1291"/>
                  </a:cubicBezTo>
                  <a:lnTo>
                    <a:pt x="2700" y="19018"/>
                  </a:lnTo>
                  <a:lnTo>
                    <a:pt x="1350" y="19018"/>
                  </a:lnTo>
                  <a:cubicBezTo>
                    <a:pt x="604" y="19018"/>
                    <a:pt x="0" y="19596"/>
                    <a:pt x="0" y="20309"/>
                  </a:cubicBezTo>
                  <a:cubicBezTo>
                    <a:pt x="0" y="21022"/>
                    <a:pt x="604" y="21600"/>
                    <a:pt x="1350" y="21600"/>
                  </a:cubicBezTo>
                  <a:lnTo>
                    <a:pt x="17550" y="21600"/>
                  </a:lnTo>
                  <a:cubicBezTo>
                    <a:pt x="18296" y="21600"/>
                    <a:pt x="18900" y="21022"/>
                    <a:pt x="18900" y="20309"/>
                  </a:cubicBezTo>
                  <a:lnTo>
                    <a:pt x="18900" y="2582"/>
                  </a:lnTo>
                  <a:lnTo>
                    <a:pt x="20250" y="2582"/>
                  </a:lnTo>
                  <a:cubicBezTo>
                    <a:pt x="20996" y="2582"/>
                    <a:pt x="21600" y="2004"/>
                    <a:pt x="21600" y="1291"/>
                  </a:cubicBezTo>
                  <a:cubicBezTo>
                    <a:pt x="21600" y="578"/>
                    <a:pt x="20996" y="0"/>
                    <a:pt x="20250" y="0"/>
                  </a:cubicBezTo>
                  <a:lnTo>
                    <a:pt x="4050" y="0"/>
                  </a:lnTo>
                  <a:close/>
                  <a:moveTo>
                    <a:pt x="4050" y="0"/>
                  </a:moveTo>
                </a:path>
              </a:pathLst>
            </a:cu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63" name="AutoShape 17"/>
            <p:cNvSpPr>
              <a:spLocks/>
            </p:cNvSpPr>
            <p:nvPr/>
          </p:nvSpPr>
          <p:spPr bwMode="auto">
            <a:xfrm>
              <a:off x="75" y="30"/>
              <a:ext cx="45" cy="3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1600"/>
                <a:gd name="T22" fmla="*/ 0 h 21600"/>
                <a:gd name="T23" fmla="*/ 21600 w 21600"/>
                <a:gd name="T24" fmla="*/ 21600 h 2160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1600" h="21600">
                  <a:moveTo>
                    <a:pt x="21600" y="0"/>
                  </a:moveTo>
                  <a:lnTo>
                    <a:pt x="21600" y="0"/>
                  </a:lnTo>
                  <a:cubicBezTo>
                    <a:pt x="21600" y="11929"/>
                    <a:pt x="15153" y="21600"/>
                    <a:pt x="7200" y="21600"/>
                  </a:cubicBezTo>
                  <a:cubicBezTo>
                    <a:pt x="3224" y="21600"/>
                    <a:pt x="0" y="16765"/>
                    <a:pt x="0" y="10800"/>
                  </a:cubicBezTo>
                  <a:cubicBezTo>
                    <a:pt x="0" y="4835"/>
                    <a:pt x="3224" y="0"/>
                    <a:pt x="7200" y="0"/>
                  </a:cubicBezTo>
                  <a:lnTo>
                    <a:pt x="21600" y="0"/>
                  </a:lnTo>
                  <a:close/>
                  <a:moveTo>
                    <a:pt x="21600" y="0"/>
                  </a:move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64" name="AutoShape 18"/>
            <p:cNvSpPr>
              <a:spLocks/>
            </p:cNvSpPr>
            <p:nvPr/>
          </p:nvSpPr>
          <p:spPr bwMode="auto">
            <a:xfrm>
              <a:off x="0" y="442"/>
              <a:ext cx="60" cy="6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1600"/>
                <a:gd name="T25" fmla="*/ 0 h 21600"/>
                <a:gd name="T26" fmla="*/ 21600 w 21600"/>
                <a:gd name="T27" fmla="*/ 21600 h 2160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1600" h="21600">
                  <a:moveTo>
                    <a:pt x="10800" y="21600"/>
                  </a:moveTo>
                  <a:cubicBezTo>
                    <a:pt x="16765" y="21600"/>
                    <a:pt x="21600" y="16765"/>
                    <a:pt x="21600" y="10800"/>
                  </a:cubicBezTo>
                  <a:lnTo>
                    <a:pt x="10800" y="10800"/>
                  </a:lnTo>
                  <a:cubicBezTo>
                    <a:pt x="13782" y="10800"/>
                    <a:pt x="16200" y="8382"/>
                    <a:pt x="16200" y="5400"/>
                  </a:cubicBezTo>
                  <a:cubicBezTo>
                    <a:pt x="16200" y="2418"/>
                    <a:pt x="13782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6765"/>
                    <a:pt x="4835" y="21600"/>
                    <a:pt x="10800" y="21600"/>
                  </a:cubicBezTo>
                  <a:close/>
                  <a:moveTo>
                    <a:pt x="10800" y="21600"/>
                  </a:moveTo>
                </a:path>
              </a:pathLst>
            </a:custGeom>
            <a:solidFill>
              <a:srgbClr val="CC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65" name="AutoShape 19"/>
            <p:cNvSpPr>
              <a:spLocks/>
            </p:cNvSpPr>
            <p:nvPr/>
          </p:nvSpPr>
          <p:spPr bwMode="auto">
            <a:xfrm>
              <a:off x="30" y="0"/>
              <a:ext cx="390" cy="50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w 21600"/>
                <a:gd name="T13" fmla="*/ 0 h 21600"/>
                <a:gd name="T14" fmla="*/ 0 w 21600"/>
                <a:gd name="T15" fmla="*/ 0 h 21600"/>
                <a:gd name="T16" fmla="*/ 0 w 21600"/>
                <a:gd name="T17" fmla="*/ 0 h 21600"/>
                <a:gd name="T18" fmla="*/ 0 w 21600"/>
                <a:gd name="T19" fmla="*/ 0 h 21600"/>
                <a:gd name="T20" fmla="*/ 0 w 21600"/>
                <a:gd name="T21" fmla="*/ 0 h 21600"/>
                <a:gd name="T22" fmla="*/ 0 w 21600"/>
                <a:gd name="T23" fmla="*/ 0 h 21600"/>
                <a:gd name="T24" fmla="*/ 0 w 21600"/>
                <a:gd name="T25" fmla="*/ 0 h 21600"/>
                <a:gd name="T26" fmla="*/ 0 w 21600"/>
                <a:gd name="T27" fmla="*/ 0 h 21600"/>
                <a:gd name="T28" fmla="*/ 0 w 21600"/>
                <a:gd name="T29" fmla="*/ 0 h 2160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w 21600"/>
                <a:gd name="T46" fmla="*/ 0 h 21600"/>
                <a:gd name="T47" fmla="*/ 21600 w 21600"/>
                <a:gd name="T48" fmla="*/ 21600 h 21600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T45" t="T46" r="T47" b="T48"/>
              <a:pathLst>
                <a:path w="21600" h="21600">
                  <a:moveTo>
                    <a:pt x="3323" y="0"/>
                  </a:moveTo>
                  <a:cubicBezTo>
                    <a:pt x="4241" y="0"/>
                    <a:pt x="4985" y="578"/>
                    <a:pt x="4985" y="1291"/>
                  </a:cubicBezTo>
                  <a:cubicBezTo>
                    <a:pt x="4985" y="2004"/>
                    <a:pt x="4241" y="2582"/>
                    <a:pt x="3323" y="2582"/>
                  </a:cubicBezTo>
                  <a:cubicBezTo>
                    <a:pt x="2864" y="2582"/>
                    <a:pt x="2492" y="2293"/>
                    <a:pt x="2492" y="1936"/>
                  </a:cubicBezTo>
                  <a:cubicBezTo>
                    <a:pt x="2492" y="1580"/>
                    <a:pt x="2864" y="1291"/>
                    <a:pt x="3323" y="1291"/>
                  </a:cubicBezTo>
                  <a:lnTo>
                    <a:pt x="4985" y="1291"/>
                  </a:lnTo>
                  <a:moveTo>
                    <a:pt x="3323" y="2582"/>
                  </a:moveTo>
                  <a:lnTo>
                    <a:pt x="21600" y="2582"/>
                  </a:lnTo>
                  <a:moveTo>
                    <a:pt x="0" y="21600"/>
                  </a:moveTo>
                  <a:cubicBezTo>
                    <a:pt x="918" y="21600"/>
                    <a:pt x="1662" y="21022"/>
                    <a:pt x="1662" y="20309"/>
                  </a:cubicBezTo>
                  <a:lnTo>
                    <a:pt x="1662" y="19018"/>
                  </a:lnTo>
                  <a:moveTo>
                    <a:pt x="0" y="19018"/>
                  </a:moveTo>
                  <a:cubicBezTo>
                    <a:pt x="459" y="19018"/>
                    <a:pt x="831" y="19307"/>
                    <a:pt x="831" y="19664"/>
                  </a:cubicBezTo>
                  <a:cubicBezTo>
                    <a:pt x="831" y="20020"/>
                    <a:pt x="459" y="20309"/>
                    <a:pt x="0" y="20309"/>
                  </a:cubicBezTo>
                  <a:lnTo>
                    <a:pt x="1662" y="20309"/>
                  </a:lnTo>
                </a:path>
              </a:pathLst>
            </a:cu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27666" name="Rectangle 20"/>
            <p:cNvSpPr>
              <a:spLocks/>
            </p:cNvSpPr>
            <p:nvPr/>
          </p:nvSpPr>
          <p:spPr bwMode="auto">
            <a:xfrm rot="10800000" flipH="1">
              <a:off x="54" y="145"/>
              <a:ext cx="37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38100" tIns="38100" rIns="80010" bIns="38100" anchor="ctr">
              <a:spAutoFit/>
            </a:bodyPr>
            <a:lstStyle>
              <a:lvl1pPr marL="3175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2000">
                  <a:latin typeface="Times New Roman" pitchFamily="18" charset="0"/>
                  <a:cs typeface="Times New Roman" pitchFamily="18" charset="0"/>
                  <a:sym typeface="Times New Roman" pitchFamily="18" charset="0"/>
                </a:rPr>
                <a:t>html</a:t>
              </a:r>
            </a:p>
          </p:txBody>
        </p:sp>
      </p:grpSp>
      <p:sp>
        <p:nvSpPr>
          <p:cNvPr id="27658" name="Rectangle 21"/>
          <p:cNvSpPr>
            <a:spLocks/>
          </p:cNvSpPr>
          <p:nvPr/>
        </p:nvSpPr>
        <p:spPr bwMode="auto">
          <a:xfrm>
            <a:off x="827583" y="1341438"/>
            <a:ext cx="7779841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40639" bIns="0"/>
          <a:lstStyle>
            <a:lvl1pPr marL="39688">
              <a:spcBef>
                <a:spcPts val="700"/>
              </a:spcBef>
              <a:buSzPct val="100000"/>
              <a:buFont typeface="Arial" pitchFamily="34" charset="0"/>
              <a:buChar char="•"/>
              <a:defRPr sz="29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1pPr>
            <a:lvl2pPr marL="742950" indent="-285750">
              <a:spcBef>
                <a:spcPts val="600"/>
              </a:spcBef>
              <a:buSzPct val="100000"/>
              <a:buFont typeface="Arial" pitchFamily="34" charset="0"/>
              <a:buChar char="–"/>
              <a:defRPr sz="25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2pPr>
            <a:lvl3pPr marL="1143000" indent="-228600">
              <a:spcBef>
                <a:spcPts val="500"/>
              </a:spcBef>
              <a:buSzPct val="100000"/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3pPr>
            <a:lvl4pPr marL="1600200" indent="-228600">
              <a:spcBef>
                <a:spcPts val="400"/>
              </a:spcBef>
              <a:buSzPct val="100000"/>
              <a:buFont typeface="Arial" pitchFamily="34" charset="0"/>
              <a:buChar char="–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4pPr>
            <a:lvl5pPr marL="2057400" indent="-228600">
              <a:spcBef>
                <a:spcPts val="400"/>
              </a:spcBef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5pPr>
            <a:lvl6pPr marL="25146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6pPr>
            <a:lvl7pPr marL="29718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7pPr>
            <a:lvl8pPr marL="34290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8pPr>
            <a:lvl9pPr marL="3886200" indent="-228600" eaLnBrk="0" fontAlgn="base" hangingPunct="0">
              <a:spcBef>
                <a:spcPts val="400"/>
              </a:spcBef>
              <a:spcAft>
                <a:spcPct val="0"/>
              </a:spcAft>
              <a:buSzPct val="100000"/>
              <a:buFont typeface="Arial" pitchFamily="34" charset="0"/>
              <a:buChar char="»"/>
              <a:defRPr>
                <a:solidFill>
                  <a:schemeClr val="tx1"/>
                </a:solidFill>
                <a:latin typeface="Arial" pitchFamily="34" charset="0"/>
                <a:ea typeface="ヒラギノ角ゴ ProN W3"/>
                <a:cs typeface="ヒラギノ角ゴ ProN W3"/>
                <a:sym typeface="Arial" pitchFamily="34" charset="0"/>
              </a:defRPr>
            </a:lvl9pPr>
          </a:lstStyle>
          <a:p>
            <a:pPr eaLnBrk="1" hangingPunct="1">
              <a:spcBef>
                <a:spcPts val="1300"/>
              </a:spcBef>
              <a:buSzTx/>
              <a:buFontTx/>
              <a:buNone/>
            </a:pPr>
            <a:r>
              <a:rPr lang="en-US" altLang="en-US" sz="2200" dirty="0" err="1">
                <a:cs typeface="Arial" pitchFamily="34" charset="0"/>
              </a:rPr>
              <a:t>Γι</a:t>
            </a:r>
            <a:r>
              <a:rPr lang="en-US" altLang="en-US" sz="2200" dirty="0">
                <a:cs typeface="Arial" pitchFamily="34" charset="0"/>
              </a:rPr>
              <a:t>α τον server-side προγραμματισμό τα βήματα αίτησης / απάντησης περιγράφονται στη συνέχεια: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830E1D9C-6E16-4A49-8D84-85E11ACCD9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C7A8B7B-9962-459D-AC42-B21A2541B04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 noChangeArrowheads="1"/>
          </p:cNvSpPr>
          <p:nvPr>
            <p:ph type="title"/>
          </p:nvPr>
        </p:nvSpPr>
        <p:spPr>
          <a:xfrm>
            <a:off x="899592" y="260648"/>
            <a:ext cx="7704667" cy="883567"/>
          </a:xfrm>
        </p:spPr>
        <p:txBody>
          <a:bodyPr/>
          <a:lstStyle/>
          <a:p>
            <a:r>
              <a:rPr lang="en-US" altLang="en-US" sz="3600" dirty="0"/>
              <a:t>Server-side </a:t>
            </a:r>
            <a:r>
              <a:rPr lang="en-US" altLang="en-US" sz="3600" dirty="0" err="1"/>
              <a:t>Προγρ</a:t>
            </a:r>
            <a:r>
              <a:rPr lang="en-US" altLang="en-US" sz="3600" dirty="0"/>
              <a:t>αμματισμός</a:t>
            </a:r>
          </a:p>
        </p:txBody>
      </p:sp>
      <p:sp>
        <p:nvSpPr>
          <p:cNvPr id="286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332656"/>
            <a:ext cx="7704667" cy="6525344"/>
          </a:xfrm>
        </p:spPr>
        <p:txBody>
          <a:bodyPr>
            <a:normAutofit/>
          </a:bodyPr>
          <a:lstStyle/>
          <a:p>
            <a:r>
              <a:rPr lang="el-GR" altLang="en-US" sz="2000" dirty="0" smtClean="0"/>
              <a:t>Μέθοδος :</a:t>
            </a:r>
          </a:p>
          <a:p>
            <a:pPr lvl="1"/>
            <a:r>
              <a:rPr lang="el-GR" altLang="en-US" sz="2000" dirty="0" smtClean="0"/>
              <a:t>Οι σελίδες δημιουργούνται δυναμικά στον server και γίνονται </a:t>
            </a:r>
            <a:r>
              <a:rPr lang="el-GR" altLang="en-US" sz="2000" dirty="0" err="1" smtClean="0"/>
              <a:t>download</a:t>
            </a:r>
            <a:r>
              <a:rPr lang="el-GR" altLang="en-US" sz="2000" dirty="0" smtClean="0"/>
              <a:t> στον client</a:t>
            </a:r>
          </a:p>
          <a:p>
            <a:pPr>
              <a:lnSpc>
                <a:spcPct val="80000"/>
              </a:lnSpc>
            </a:pPr>
            <a:r>
              <a:rPr lang="el-GR" altLang="en-US" sz="2000" dirty="0" smtClean="0"/>
              <a:t>Παραδείγματα: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smtClean="0"/>
              <a:t>Python, </a:t>
            </a:r>
            <a:r>
              <a:rPr lang="el-GR" altLang="en-US" sz="2000" dirty="0" smtClean="0"/>
              <a:t>Java </a:t>
            </a:r>
            <a:r>
              <a:rPr lang="el-GR" altLang="en-US" sz="2000" dirty="0" smtClean="0"/>
              <a:t>Servlets, </a:t>
            </a:r>
            <a:r>
              <a:rPr lang="en-US" altLang="en-US" sz="2000" dirty="0" smtClean="0"/>
              <a:t>JSP, </a:t>
            </a:r>
            <a:r>
              <a:rPr lang="el-GR" altLang="en-US" sz="2000" dirty="0" smtClean="0"/>
              <a:t>PHP</a:t>
            </a:r>
          </a:p>
          <a:p>
            <a:pPr>
              <a:lnSpc>
                <a:spcPct val="80000"/>
              </a:lnSpc>
            </a:pPr>
            <a:r>
              <a:rPr lang="el-GR" altLang="en-US" sz="2000" dirty="0" smtClean="0"/>
              <a:t>Πλεονεκτήματα:</a:t>
            </a:r>
          </a:p>
          <a:p>
            <a:pPr lvl="1">
              <a:lnSpc>
                <a:spcPct val="80000"/>
              </a:lnSpc>
            </a:pPr>
            <a:r>
              <a:rPr lang="el-GR" altLang="en-US" sz="1800" dirty="0" smtClean="0"/>
              <a:t>Επικοινωνία </a:t>
            </a:r>
            <a:r>
              <a:rPr lang="el-GR" altLang="en-US" sz="1800" dirty="0" smtClean="0"/>
              <a:t>με βάσεις δεδομένων</a:t>
            </a:r>
          </a:p>
          <a:p>
            <a:pPr lvl="1"/>
            <a:r>
              <a:rPr lang="el-GR" altLang="en-US" sz="1800" dirty="0" smtClean="0"/>
              <a:t>Συμβατότητα με κάθε τύπο πελάτη, ανεξαρτησία από τύπο λειτουργικού συστήματος/φυλλομετρητή</a:t>
            </a:r>
          </a:p>
          <a:p>
            <a:pPr lvl="1">
              <a:lnSpc>
                <a:spcPct val="80000"/>
              </a:lnSpc>
            </a:pPr>
            <a:r>
              <a:rPr lang="el-GR" altLang="en-US" sz="1800" dirty="0" smtClean="0"/>
              <a:t>Συγχρονισμός δεδομένων, συνεργατικές εφαρμογές</a:t>
            </a:r>
          </a:p>
          <a:p>
            <a:pPr lvl="1">
              <a:lnSpc>
                <a:spcPct val="80000"/>
              </a:lnSpc>
            </a:pPr>
            <a:r>
              <a:rPr lang="el-GR" altLang="en-US" sz="1800" dirty="0" smtClean="0"/>
              <a:t>Έλεγχος Πρόσβασης</a:t>
            </a:r>
          </a:p>
          <a:p>
            <a:pPr lvl="1">
              <a:lnSpc>
                <a:spcPct val="80000"/>
              </a:lnSpc>
            </a:pPr>
            <a:r>
              <a:rPr lang="el-GR" altLang="en-US" sz="1800" dirty="0" smtClean="0"/>
              <a:t>Δε χρειάζεται κάποια εγκατάσταση στον client</a:t>
            </a:r>
          </a:p>
          <a:p>
            <a:pPr lvl="1"/>
            <a:r>
              <a:rPr lang="el-GR" altLang="en-US" sz="1800" dirty="0" smtClean="0"/>
              <a:t>Ασφάλεια κώδικα, προστασία από παραβίαση, προστασία </a:t>
            </a:r>
            <a:r>
              <a:rPr lang="el-GR" altLang="en-US" sz="1800" dirty="0" err="1" smtClean="0"/>
              <a:t>πελάτου</a:t>
            </a:r>
            <a:r>
              <a:rPr lang="el-GR" altLang="en-US" sz="1800" dirty="0" smtClean="0"/>
              <a:t> (διότι δεν έχουμε κώδικα εκτελούμενο στην πλευρά του πελάτη)</a:t>
            </a:r>
            <a:endParaRPr lang="el-GR" altLang="en-US" sz="1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30266ECC-B7D3-48F0-AF53-F8D444518E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D83D0BD-3BA2-463D-B68C-91B9933D19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sz="3200" dirty="0"/>
              <a:t>Client–Server vs P2P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916832"/>
            <a:ext cx="7704667" cy="40829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dirty="0"/>
              <a:t>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  <p:pic>
        <p:nvPicPr>
          <p:cNvPr id="6" name="Picture 2" descr="Client Server Architecture VS P2P Architectur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844824"/>
            <a:ext cx="7920880" cy="3724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9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457201"/>
            <a:ext cx="7704667" cy="739551"/>
          </a:xfrm>
        </p:spPr>
        <p:txBody>
          <a:bodyPr/>
          <a:lstStyle/>
          <a:p>
            <a:r>
              <a:rPr lang="en-US" altLang="en-US" dirty="0"/>
              <a:t>Rich Web Applications</a:t>
            </a:r>
            <a:endParaRPr lang="el-GR" altLang="en-US" dirty="0"/>
          </a:p>
        </p:txBody>
      </p:sp>
      <p:sp>
        <p:nvSpPr>
          <p:cNvPr id="2969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708720" y="1340768"/>
            <a:ext cx="8255768" cy="244827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l-GR" altLang="en-US" sz="2400" dirty="0"/>
              <a:t>Συνδυάζουν </a:t>
            </a:r>
            <a:r>
              <a:rPr lang="en-US" altLang="en-US" sz="2400" dirty="0"/>
              <a:t>client-side </a:t>
            </a:r>
            <a:r>
              <a:rPr lang="el-GR" altLang="en-US" sz="2400" dirty="0"/>
              <a:t>και </a:t>
            </a:r>
            <a:r>
              <a:rPr lang="en-US" altLang="en-US" sz="2400" dirty="0"/>
              <a:t>server-side </a:t>
            </a:r>
            <a:r>
              <a:rPr lang="el-GR" altLang="en-US" sz="2400" dirty="0"/>
              <a:t>προγραμματισμό</a:t>
            </a:r>
            <a:r>
              <a:rPr lang="en-US" altLang="en-US" sz="2400" dirty="0"/>
              <a:t> </a:t>
            </a:r>
            <a:r>
              <a:rPr lang="el-GR" altLang="en-US" sz="2400" dirty="0"/>
              <a:t>και τα πλεονεκτήματά τους!</a:t>
            </a:r>
          </a:p>
          <a:p>
            <a:pPr>
              <a:lnSpc>
                <a:spcPct val="120000"/>
              </a:lnSpc>
            </a:pPr>
            <a:r>
              <a:rPr lang="el-GR" altLang="en-US" sz="2400" dirty="0"/>
              <a:t>Υπάρχουν διαθέσιμές δεκάδες τεχνολογίες</a:t>
            </a:r>
            <a:r>
              <a:rPr lang="en-US" altLang="en-US" sz="2400" dirty="0"/>
              <a:t> </a:t>
            </a:r>
            <a:r>
              <a:rPr lang="el-GR" altLang="en-US" sz="2400" dirty="0"/>
              <a:t>και τεχνικές για την υλοποίησή τους όπως </a:t>
            </a:r>
            <a:r>
              <a:rPr lang="en-US" altLang="en-US" sz="2400" dirty="0"/>
              <a:t>React </a:t>
            </a:r>
            <a:r>
              <a:rPr lang="en-US" altLang="en-US" sz="2400" dirty="0" smtClean="0"/>
              <a:t>, Angular, </a:t>
            </a:r>
            <a:r>
              <a:rPr lang="el-GR" altLang="en-US" sz="2400" dirty="0" smtClean="0"/>
              <a:t>κ.α</a:t>
            </a:r>
            <a:r>
              <a:rPr lang="el-GR" altLang="en-US" sz="2400" dirty="0"/>
              <a:t>.</a:t>
            </a:r>
            <a:endParaRPr lang="en-US" altLang="en-US" sz="2400" dirty="0"/>
          </a:p>
        </p:txBody>
      </p:sp>
      <p:pic>
        <p:nvPicPr>
          <p:cNvPr id="29703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9832" y="3844320"/>
            <a:ext cx="3710974" cy="2969056"/>
          </a:xfrm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A99CF569-2764-4779-84F6-560FFA3F23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30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altLang="en-US" dirty="0"/>
              <a:t>Web Servers</a:t>
            </a:r>
          </a:p>
        </p:txBody>
      </p:sp>
      <p:sp>
        <p:nvSpPr>
          <p:cNvPr id="3891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2" y="1412776"/>
            <a:ext cx="7704667" cy="4680520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Μέρος </a:t>
            </a:r>
            <a:r>
              <a:rPr lang="en-US" altLang="en-US" sz="2400" dirty="0" err="1" smtClean="0"/>
              <a:t>του</a:t>
            </a:r>
            <a:r>
              <a:rPr lang="en-US" altLang="en-US" sz="2400" dirty="0" smtClean="0"/>
              <a:t> μα</a:t>
            </a:r>
            <a:r>
              <a:rPr lang="en-US" altLang="en-US" sz="2400" dirty="0" err="1" smtClean="0"/>
              <a:t>θήμ</a:t>
            </a:r>
            <a:r>
              <a:rPr lang="en-US" altLang="en-US" sz="2400" dirty="0" smtClean="0"/>
              <a:t>ατος θα αποτελέσει η διαχείριση και λειτουργικότητα των εξυπηρετητών που «απαντάνε» όταν γράφουμε μια διεύθυνση σε ένα browser για την απεικόνιση μιας web σελίδας, οι Web Servers. </a:t>
            </a:r>
          </a:p>
          <a:p>
            <a:r>
              <a:rPr lang="en-US" altLang="en-US" sz="2400" dirty="0" err="1" smtClean="0"/>
              <a:t>Έν</a:t>
            </a:r>
            <a:r>
              <a:rPr lang="en-US" altLang="en-US" sz="2400" dirty="0" smtClean="0"/>
              <a:t>ας </a:t>
            </a:r>
            <a:r>
              <a:rPr lang="en-US" altLang="en-US" sz="2400" b="1" dirty="0" smtClean="0"/>
              <a:t>Web Server </a:t>
            </a:r>
            <a:r>
              <a:rPr lang="en-US" altLang="en-US" sz="2400" dirty="0" smtClean="0"/>
              <a:t>είναι ένα πρόγραμμα που δέχεται αιτήσεις </a:t>
            </a:r>
            <a:r>
              <a:rPr lang="en-US" altLang="en-US" sz="2400" b="1" dirty="0" smtClean="0"/>
              <a:t>HTTP</a:t>
            </a:r>
            <a:r>
              <a:rPr lang="en-US" altLang="en-US" sz="2400" dirty="0" smtClean="0"/>
              <a:t> και επιστρέφει ως απάντηση </a:t>
            </a:r>
            <a:r>
              <a:rPr lang="el-GR" altLang="en-US" sz="2400" dirty="0" smtClean="0"/>
              <a:t>συνήθως </a:t>
            </a:r>
            <a:r>
              <a:rPr lang="en-US" altLang="en-US" sz="2400" dirty="0" smtClean="0"/>
              <a:t>HTML α</a:t>
            </a:r>
            <a:r>
              <a:rPr lang="en-US" altLang="en-US" sz="2400" dirty="0" err="1" smtClean="0"/>
              <a:t>ρχεί</a:t>
            </a:r>
            <a:r>
              <a:rPr lang="en-US" altLang="en-US" sz="2400" dirty="0" smtClean="0"/>
              <a:t>α.</a:t>
            </a:r>
          </a:p>
          <a:p>
            <a:r>
              <a:rPr lang="el-GR" altLang="en-US" sz="2400" dirty="0" smtClean="0"/>
              <a:t>Δύο ευρέως διαδεδομένοι </a:t>
            </a:r>
            <a:r>
              <a:rPr lang="en-US" altLang="en-US" sz="2400" dirty="0" smtClean="0"/>
              <a:t>Web Servers </a:t>
            </a:r>
            <a:r>
              <a:rPr lang="en-US" altLang="en-US" sz="2400" dirty="0" err="1" smtClean="0"/>
              <a:t>είν</a:t>
            </a:r>
            <a:r>
              <a:rPr lang="en-US" altLang="en-US" sz="2400" dirty="0" smtClean="0"/>
              <a:t>αι ο 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Apache </a:t>
            </a:r>
            <a:r>
              <a:rPr lang="el-GR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ΗΤΤΠ 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 </a:t>
            </a:r>
            <a:r>
              <a:rPr lang="en-US" altLang="en-US" sz="2400" dirty="0" smtClean="0"/>
              <a:t>(της Apache Foundation) και ο </a:t>
            </a:r>
            <a:r>
              <a:rPr lang="en-US" altLang="en-US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IIS</a:t>
            </a:r>
            <a:r>
              <a:rPr lang="en-US" altLang="en-US" sz="2400" dirty="0" smtClean="0"/>
              <a:t> (της Microsoft).</a:t>
            </a:r>
            <a:endParaRPr lang="en-US" alt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BE3755BE-A3C4-425A-9D88-F2FF9CD96A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3C00586-172E-45E9-8B26-79672A60AB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7640"/>
            <a:ext cx="7704667" cy="1981200"/>
          </a:xfrm>
        </p:spPr>
        <p:txBody>
          <a:bodyPr/>
          <a:lstStyle/>
          <a:p>
            <a:r>
              <a:rPr lang="en-US" altLang="en-US" dirty="0"/>
              <a:t>Apache Tomcat</a:t>
            </a:r>
          </a:p>
        </p:txBody>
      </p:sp>
      <p:sp>
        <p:nvSpPr>
          <p:cNvPr id="3993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412776"/>
            <a:ext cx="7704667" cy="4608512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Ο Apache Tomcat </a:t>
            </a:r>
            <a:r>
              <a:rPr lang="el-GR" altLang="en-US" sz="2400" dirty="0"/>
              <a:t>είναι</a:t>
            </a:r>
            <a:r>
              <a:rPr lang="en-US" altLang="en-US" sz="2400" dirty="0"/>
              <a:t> </a:t>
            </a:r>
            <a:r>
              <a:rPr lang="el-GR" altLang="en-US" sz="2400" dirty="0"/>
              <a:t>ένας</a:t>
            </a:r>
            <a:r>
              <a:rPr lang="en-US" altLang="en-US" sz="2400" dirty="0"/>
              <a:t> Servlet Container / Java Application Server.</a:t>
            </a:r>
          </a:p>
          <a:p>
            <a:r>
              <a:rPr lang="el-GR" altLang="en-US" sz="2400" dirty="0"/>
              <a:t>Είναι ένας εξυπηρετητής που «ακούει» </a:t>
            </a:r>
            <a:r>
              <a:rPr lang="el-GR" altLang="en-US" sz="2400" dirty="0" err="1"/>
              <a:t>εξ’ορισμού</a:t>
            </a:r>
            <a:r>
              <a:rPr lang="el-GR" altLang="en-US" sz="2400" dirty="0"/>
              <a:t> στην πόρτα</a:t>
            </a:r>
            <a:r>
              <a:rPr lang="en-US" altLang="en-US" sz="2400" dirty="0"/>
              <a:t> </a:t>
            </a:r>
            <a:r>
              <a:rPr lang="en-US" altLang="en-US" sz="2400" b="1" dirty="0"/>
              <a:t>8080</a:t>
            </a:r>
            <a:r>
              <a:rPr lang="en-US" altLang="en-US" sz="2400" dirty="0"/>
              <a:t>.</a:t>
            </a:r>
          </a:p>
          <a:p>
            <a:r>
              <a:rPr lang="el-GR" altLang="en-US" sz="2400" dirty="0"/>
              <a:t>Μπορεί να διαχειρίζεται και στατικές σελίδες (απλές</a:t>
            </a:r>
            <a:r>
              <a:rPr lang="en-US" altLang="en-US" sz="2400" dirty="0"/>
              <a:t> </a:t>
            </a:r>
            <a:r>
              <a:rPr lang="en-US" altLang="en-US" sz="2400" b="1" dirty="0"/>
              <a:t>HTML</a:t>
            </a:r>
            <a:r>
              <a:rPr lang="en-US" altLang="en-US" sz="2400" dirty="0"/>
              <a:t>).</a:t>
            </a:r>
          </a:p>
          <a:p>
            <a:r>
              <a:rPr lang="en-US" altLang="en-US" sz="2400" dirty="0"/>
              <a:t>Ο Tomcat </a:t>
            </a:r>
            <a:r>
              <a:rPr lang="el-GR" altLang="en-US" sz="2400" dirty="0"/>
              <a:t>υποστηρίζει</a:t>
            </a:r>
            <a:r>
              <a:rPr lang="en-US" altLang="en-US" sz="2400" dirty="0"/>
              <a:t> Java Servlets </a:t>
            </a:r>
            <a:r>
              <a:rPr lang="el-GR" altLang="en-US" sz="2400" dirty="0"/>
              <a:t>και</a:t>
            </a:r>
            <a:r>
              <a:rPr lang="en-US" altLang="en-US" sz="2400" dirty="0"/>
              <a:t> JSPs.</a:t>
            </a:r>
          </a:p>
          <a:p>
            <a:r>
              <a:rPr lang="el-GR" altLang="en-US" sz="2400" dirty="0"/>
              <a:t>Μπορεί να υποστηρίξει και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SOAP</a:t>
            </a:r>
            <a:r>
              <a:rPr lang="en-US" altLang="en-US" sz="2400" dirty="0"/>
              <a:t> / </a:t>
            </a:r>
            <a:r>
              <a:rPr lang="en-US" altLang="en-US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REST</a:t>
            </a:r>
            <a:r>
              <a:rPr lang="en-US" altLang="en-US" sz="2400" dirty="0"/>
              <a:t> web services </a:t>
            </a:r>
            <a:r>
              <a:rPr lang="el-GR" altLang="en-US" sz="2400" dirty="0"/>
              <a:t>μέσω των κατάλληλων βιβλιοθηκών</a:t>
            </a:r>
            <a:endParaRPr lang="en-US" alt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AFDA9B09-5177-4C24-8743-6877989D86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3B83438-C0A7-4CDE-8E88-C9C9CF5637A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dirty="0" smtClean="0"/>
              <a:t>Java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700808"/>
            <a:ext cx="7704667" cy="4299008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altLang="en-US" sz="2400" dirty="0" err="1" smtClean="0"/>
              <a:t>Πρόκειτ</a:t>
            </a:r>
            <a:r>
              <a:rPr lang="en-US" altLang="en-US" sz="2400" dirty="0" smtClean="0"/>
              <a:t>αι </a:t>
            </a:r>
            <a:r>
              <a:rPr lang="en-US" altLang="en-US" sz="2400" dirty="0"/>
              <a:t>για μια γλώσσα προγραμματισμού: 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απ</a:t>
            </a:r>
            <a:r>
              <a:rPr lang="en-US" altLang="en-US" sz="2000" dirty="0" err="1"/>
              <a:t>λή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α</a:t>
            </a:r>
            <a:r>
              <a:rPr lang="en-US" altLang="en-US" sz="2000" dirty="0" err="1"/>
              <a:t>ντικειμενοστρεφή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κατα</a:t>
            </a:r>
            <a:r>
              <a:rPr lang="en-US" altLang="en-US" sz="2000" dirty="0" err="1"/>
              <a:t>νεμημένη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α</a:t>
            </a:r>
            <a:r>
              <a:rPr lang="en-US" altLang="en-US" sz="2000" dirty="0" err="1"/>
              <a:t>σφ</a:t>
            </a:r>
            <a:r>
              <a:rPr lang="en-US" altLang="en-US" sz="2000" dirty="0"/>
              <a:t>αλή 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err="1"/>
              <a:t>μετ</a:t>
            </a:r>
            <a:r>
              <a:rPr lang="en-US" altLang="en-US" sz="2000" dirty="0"/>
              <a:t>αφραζομένη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 err="1"/>
              <a:t>εύρωστη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α</a:t>
            </a:r>
            <a:r>
              <a:rPr lang="en-US" altLang="en-US" sz="2000" dirty="0" err="1"/>
              <a:t>νεξάρτητη</a:t>
            </a:r>
            <a:r>
              <a:rPr lang="en-US" altLang="en-US" sz="2000" dirty="0"/>
              <a:t> α</a:t>
            </a:r>
            <a:r>
              <a:rPr lang="en-US" altLang="en-US" sz="2000" dirty="0" err="1"/>
              <a:t>ρχιτεκτονικής</a:t>
            </a:r>
            <a:endParaRPr lang="en-US" altLang="en-US" sz="2000" dirty="0"/>
          </a:p>
          <a:p>
            <a:pPr lvl="1">
              <a:lnSpc>
                <a:spcPct val="80000"/>
              </a:lnSpc>
            </a:pPr>
            <a:r>
              <a:rPr lang="en-US" altLang="en-US" sz="2000" dirty="0" err="1"/>
              <a:t>φορητή</a:t>
            </a:r>
            <a:r>
              <a:rPr lang="el-GR" altLang="en-US" sz="2000" dirty="0"/>
              <a:t> </a:t>
            </a:r>
            <a:r>
              <a:rPr lang="en-US" altLang="en-US" sz="2000" dirty="0"/>
              <a:t>(portable)</a:t>
            </a:r>
          </a:p>
          <a:p>
            <a:pPr lvl="1">
              <a:lnSpc>
                <a:spcPct val="80000"/>
              </a:lnSpc>
            </a:pPr>
            <a:r>
              <a:rPr lang="en-US" altLang="en-US" sz="2000" dirty="0"/>
              <a:t>π</a:t>
            </a:r>
            <a:r>
              <a:rPr lang="en-US" altLang="en-US" sz="2000" dirty="0" err="1"/>
              <a:t>ολυνημ</a:t>
            </a:r>
            <a:r>
              <a:rPr lang="en-US" altLang="en-US" sz="2000" dirty="0"/>
              <a:t>ατική (multithreaded</a:t>
            </a:r>
            <a:r>
              <a:rPr lang="en-US" altLang="en-US" sz="2000" dirty="0" smtClean="0"/>
              <a:t>)</a:t>
            </a:r>
            <a:endParaRPr lang="en-US" altLang="en-US" sz="2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33</a:t>
            </a:fld>
            <a:endParaRPr lang="en-US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9129" y="2540297"/>
            <a:ext cx="3695359" cy="3120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005559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b="1" dirty="0" smtClean="0"/>
              <a:t>Java </a:t>
            </a:r>
            <a:r>
              <a:rPr lang="en-US" b="1" dirty="0"/>
              <a:t>Servlet </a:t>
            </a:r>
            <a:r>
              <a:rPr lang="en-US" b="1" dirty="0" smtClean="0"/>
              <a:t>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l-GR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34</a:t>
            </a:fld>
            <a:endParaRPr lang="en-US" alt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104" y="1527174"/>
            <a:ext cx="9153103" cy="4028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063601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dirty="0"/>
              <a:t>Server-side Programming </a:t>
            </a:r>
            <a:br>
              <a:rPr lang="en-US" dirty="0"/>
            </a:br>
            <a:r>
              <a:rPr lang="en-US" dirty="0" smtClean="0"/>
              <a:t>Java Frameworks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904496"/>
            <a:ext cx="7704667" cy="333281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35</a:t>
            </a:fld>
            <a:endParaRPr lang="en-US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786979"/>
            <a:ext cx="5256584" cy="4327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5536" y="4728032"/>
            <a:ext cx="2172568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Hibernate</a:t>
            </a:r>
            <a:r>
              <a:rPr lang="en-US" sz="1400" dirty="0">
                <a:solidFill>
                  <a:srgbClr val="002060"/>
                </a:solidFill>
              </a:rPr>
              <a:t> is an Object Relational Mapping </a:t>
            </a:r>
            <a:r>
              <a:rPr lang="en-US" sz="1400" b="1" dirty="0" smtClean="0">
                <a:solidFill>
                  <a:srgbClr val="002060"/>
                </a:solidFill>
              </a:rPr>
              <a:t>ORM</a:t>
            </a:r>
            <a:r>
              <a:rPr lang="en-US" sz="1400" dirty="0">
                <a:solidFill>
                  <a:srgbClr val="002060"/>
                </a:solidFill>
              </a:rPr>
              <a:t>) framework for Java</a:t>
            </a:r>
          </a:p>
        </p:txBody>
      </p:sp>
      <p:sp>
        <p:nvSpPr>
          <p:cNvPr id="8" name="Rectangle 7"/>
          <p:cNvSpPr/>
          <p:nvPr/>
        </p:nvSpPr>
        <p:spPr>
          <a:xfrm>
            <a:off x="7020272" y="4945217"/>
            <a:ext cx="2141984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Apache Hadoop </a:t>
            </a:r>
            <a:r>
              <a:rPr lang="en-US" sz="1400" dirty="0">
                <a:solidFill>
                  <a:srgbClr val="002060"/>
                </a:solidFill>
              </a:rPr>
              <a:t>is a framework for </a:t>
            </a:r>
            <a:r>
              <a:rPr lang="en-US" sz="1400" b="1" dirty="0">
                <a:solidFill>
                  <a:srgbClr val="002060"/>
                </a:solidFill>
              </a:rPr>
              <a:t>distributed processing </a:t>
            </a:r>
            <a:r>
              <a:rPr lang="en-US" sz="1400" dirty="0">
                <a:solidFill>
                  <a:srgbClr val="002060"/>
                </a:solidFill>
              </a:rPr>
              <a:t>of large data sets across clusters of nodes.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5576" y="2154328"/>
            <a:ext cx="257403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002060"/>
                </a:solidFill>
              </a:rPr>
              <a:t>JavaServer</a:t>
            </a:r>
            <a:r>
              <a:rPr lang="en-US" sz="1400" b="1" dirty="0">
                <a:solidFill>
                  <a:srgbClr val="002060"/>
                </a:solidFill>
              </a:rPr>
              <a:t> Faces</a:t>
            </a:r>
            <a:r>
              <a:rPr lang="en-US" sz="1400" dirty="0">
                <a:solidFill>
                  <a:srgbClr val="002060"/>
                </a:solidFill>
              </a:rPr>
              <a:t> (</a:t>
            </a:r>
            <a:r>
              <a:rPr lang="en-US" sz="1400" b="1" dirty="0">
                <a:solidFill>
                  <a:srgbClr val="002060"/>
                </a:solidFill>
              </a:rPr>
              <a:t>JSF</a:t>
            </a:r>
            <a:r>
              <a:rPr lang="en-US" sz="1400" dirty="0">
                <a:solidFill>
                  <a:srgbClr val="002060"/>
                </a:solidFill>
              </a:rPr>
              <a:t>) is a Java framework for building Web applications (especially </a:t>
            </a:r>
            <a:r>
              <a:rPr lang="en-US" sz="1400" b="1" dirty="0">
                <a:solidFill>
                  <a:srgbClr val="002060"/>
                </a:solidFill>
              </a:rPr>
              <a:t>UI</a:t>
            </a:r>
            <a:r>
              <a:rPr lang="en-US" sz="1400" dirty="0">
                <a:solidFill>
                  <a:srgbClr val="002060"/>
                </a:solidFill>
              </a:rPr>
              <a:t>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91680" y="6165304"/>
            <a:ext cx="669674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1600" dirty="0"/>
              <a:t>Υπάρχουν αρκετά </a:t>
            </a:r>
            <a:r>
              <a:rPr lang="en-US" sz="1600" dirty="0" smtClean="0"/>
              <a:t>Java </a:t>
            </a:r>
            <a:r>
              <a:rPr lang="en-US" sz="1600" dirty="0"/>
              <a:t>Frameworks</a:t>
            </a:r>
            <a:r>
              <a:rPr lang="el-GR" sz="1600" dirty="0"/>
              <a:t>, που εξυπηρετούν διαφορετικούς σκοπούς και μπορούν να βοηθήσουν στην ανάπτυξη των Διαδικτυακών Εφαρμογών.</a:t>
            </a:r>
            <a:endParaRPr lang="en-US" sz="1600" dirty="0"/>
          </a:p>
        </p:txBody>
      </p:sp>
      <p:sp>
        <p:nvSpPr>
          <p:cNvPr id="11" name="Rectangle 10"/>
          <p:cNvSpPr/>
          <p:nvPr/>
        </p:nvSpPr>
        <p:spPr>
          <a:xfrm>
            <a:off x="6444208" y="1755393"/>
            <a:ext cx="266429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Spring Framework </a:t>
            </a:r>
            <a:r>
              <a:rPr lang="en-US" sz="1400" dirty="0">
                <a:solidFill>
                  <a:srgbClr val="002060"/>
                </a:solidFill>
              </a:rPr>
              <a:t>provides a comprehensive programming and configuration model for modern Java-based enterprise applications (</a:t>
            </a:r>
            <a:r>
              <a:rPr lang="en-US" sz="1400" dirty="0" smtClean="0">
                <a:solidFill>
                  <a:srgbClr val="002060"/>
                </a:solidFill>
              </a:rPr>
              <a:t>including </a:t>
            </a:r>
            <a:r>
              <a:rPr lang="en-US" sz="1400" b="1" dirty="0">
                <a:solidFill>
                  <a:srgbClr val="002060"/>
                </a:solidFill>
              </a:rPr>
              <a:t>Web Services</a:t>
            </a:r>
            <a:r>
              <a:rPr lang="en-US" sz="1400" dirty="0">
                <a:solidFill>
                  <a:srgbClr val="002060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162431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l-GR" dirty="0" smtClean="0"/>
              <a:t>Τεχνολογίες</a:t>
            </a:r>
            <a:r>
              <a:rPr lang="en-US" dirty="0" smtClean="0"/>
              <a:t> &amp; </a:t>
            </a:r>
            <a:r>
              <a:rPr lang="el-GR" dirty="0" smtClean="0"/>
              <a:t>Πλαίσια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484784"/>
            <a:ext cx="7721977" cy="37673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995936" y="5301208"/>
            <a:ext cx="50405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Server-side </a:t>
            </a:r>
            <a:r>
              <a:rPr lang="el-GR" sz="1400" dirty="0"/>
              <a:t>περιλαμβάνει: </a:t>
            </a:r>
            <a:endParaRPr lang="en-US" sz="1400" dirty="0"/>
          </a:p>
          <a:p>
            <a:pPr marL="2857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l-G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Εξυπηρετητές </a:t>
            </a:r>
            <a:r>
              <a:rPr lang="el-GR" sz="1400" dirty="0"/>
              <a:t>όπως  </a:t>
            </a:r>
            <a:r>
              <a:rPr lang="en-US" sz="1400" dirty="0"/>
              <a:t>Apache Tomcat Server </a:t>
            </a:r>
            <a:r>
              <a:rPr lang="el-GR" sz="1400" dirty="0"/>
              <a:t>και </a:t>
            </a:r>
            <a:r>
              <a:rPr lang="en-US" sz="1400" dirty="0"/>
              <a:t>Nginx </a:t>
            </a:r>
          </a:p>
          <a:p>
            <a:pPr marL="2857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l-G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Γλώσσες Προγραμματισμού </a:t>
            </a:r>
            <a:r>
              <a:rPr lang="el-GR" sz="1400" dirty="0"/>
              <a:t>όπως </a:t>
            </a:r>
            <a:r>
              <a:rPr lang="en-US" sz="1400" dirty="0"/>
              <a:t>Java</a:t>
            </a:r>
            <a:r>
              <a:rPr lang="el-GR" sz="1400" dirty="0"/>
              <a:t> και </a:t>
            </a:r>
            <a:r>
              <a:rPr lang="en-US" sz="1400" dirty="0" smtClean="0"/>
              <a:t>Python </a:t>
            </a:r>
            <a:r>
              <a:rPr lang="el-GR" sz="1400" dirty="0" smtClean="0"/>
              <a:t>και σχετικές </a:t>
            </a:r>
            <a:r>
              <a:rPr lang="el-G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Βιβλιοθήκες/Πλασια</a:t>
            </a:r>
            <a:r>
              <a:rPr lang="el-GR" sz="1400" dirty="0" smtClean="0"/>
              <a:t> (</a:t>
            </a:r>
            <a:r>
              <a:rPr lang="en-US" sz="1400" dirty="0" smtClean="0"/>
              <a:t>next slides</a:t>
            </a:r>
            <a:r>
              <a:rPr lang="el-GR" sz="1400" dirty="0" smtClean="0"/>
              <a:t>)</a:t>
            </a:r>
            <a:endParaRPr lang="en-US" sz="1400" dirty="0"/>
          </a:p>
          <a:p>
            <a:pPr marL="2857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l-GR" sz="1400" b="1" dirty="0" smtClean="0"/>
              <a:t>Βάσεις</a:t>
            </a:r>
            <a:r>
              <a:rPr lang="el-GR" sz="1400" dirty="0" smtClean="0"/>
              <a:t> </a:t>
            </a:r>
            <a:r>
              <a:rPr lang="el-GR" sz="1400" dirty="0"/>
              <a:t>όπως </a:t>
            </a:r>
            <a:r>
              <a:rPr lang="en-US" sz="1400" dirty="0"/>
              <a:t>MySQL </a:t>
            </a:r>
            <a:r>
              <a:rPr lang="el-GR" sz="1400" dirty="0" smtClean="0"/>
              <a:t>(σχεσιακή) και </a:t>
            </a:r>
            <a:r>
              <a:rPr lang="en-US" sz="1400" dirty="0" smtClean="0"/>
              <a:t>MongoDB</a:t>
            </a:r>
            <a:r>
              <a:rPr lang="el-GR" sz="1400" dirty="0" smtClean="0"/>
              <a:t> (μη-σχεσιακή)</a:t>
            </a:r>
            <a:endParaRPr lang="en-US" sz="1400" dirty="0"/>
          </a:p>
        </p:txBody>
      </p:sp>
      <p:sp>
        <p:nvSpPr>
          <p:cNvPr id="8" name="Rectangle 7"/>
          <p:cNvSpPr/>
          <p:nvPr/>
        </p:nvSpPr>
        <p:spPr>
          <a:xfrm>
            <a:off x="1043608" y="5301208"/>
            <a:ext cx="324036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Client Side </a:t>
            </a:r>
            <a:r>
              <a:rPr lang="el-GR" sz="1400" dirty="0"/>
              <a:t>περιλαμβάνει: </a:t>
            </a:r>
            <a:endParaRPr lang="en-US" sz="1400" dirty="0"/>
          </a:p>
          <a:p>
            <a:pPr marL="285750" indent="-1714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l-G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Γλώσσες </a:t>
            </a:r>
            <a:r>
              <a:rPr lang="el-GR" sz="1400" dirty="0" smtClean="0"/>
              <a:t>όπως </a:t>
            </a:r>
            <a:r>
              <a:rPr lang="en-US" sz="1400" dirty="0"/>
              <a:t>HTML</a:t>
            </a:r>
            <a:r>
              <a:rPr lang="el-GR" sz="1400" dirty="0"/>
              <a:t>, </a:t>
            </a:r>
            <a:r>
              <a:rPr lang="en-US" sz="1400" dirty="0" smtClean="0"/>
              <a:t>CSS</a:t>
            </a:r>
            <a:r>
              <a:rPr lang="el-GR" sz="1400" dirty="0" smtClean="0"/>
              <a:t>, </a:t>
            </a:r>
            <a:r>
              <a:rPr lang="en-US" sz="1400" dirty="0" smtClean="0"/>
              <a:t>JS</a:t>
            </a:r>
            <a:r>
              <a:rPr lang="el-GR" sz="1400" dirty="0" smtClean="0"/>
              <a:t> και σχετικές </a:t>
            </a:r>
            <a:r>
              <a:rPr lang="en-US" sz="1400" dirty="0" smtClean="0"/>
              <a:t>JavaScript (JS)</a:t>
            </a:r>
            <a:r>
              <a:rPr lang="en-US" sz="1400" dirty="0"/>
              <a:t> </a:t>
            </a:r>
            <a:r>
              <a:rPr lang="el-GR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Βιβλιοθήκες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/</a:t>
            </a:r>
            <a:r>
              <a:rPr lang="el-GR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Πλαίσια</a:t>
            </a:r>
            <a:r>
              <a:rPr lang="el-GR" sz="1400" dirty="0"/>
              <a:t> όπως </a:t>
            </a:r>
            <a:r>
              <a:rPr lang="en-US" sz="1400" dirty="0"/>
              <a:t>React, </a:t>
            </a:r>
            <a:r>
              <a:rPr lang="en-US" sz="1400" dirty="0" smtClean="0"/>
              <a:t>Angular</a:t>
            </a:r>
            <a:r>
              <a:rPr lang="el-GR" sz="1400" dirty="0" smtClean="0"/>
              <a:t> και</a:t>
            </a:r>
            <a:r>
              <a:rPr lang="en-US" sz="1400" dirty="0" smtClean="0"/>
              <a:t> Bootstrap (next slides)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102505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sz="3600" dirty="0" smtClean="0"/>
              <a:t>Client-side </a:t>
            </a:r>
            <a:r>
              <a:rPr lang="en-US" sz="3600" dirty="0"/>
              <a:t>Programming </a:t>
            </a:r>
            <a:br>
              <a:rPr lang="en-US" sz="3600" dirty="0"/>
            </a:br>
            <a:r>
              <a:rPr lang="en-US" sz="3600" dirty="0"/>
              <a:t>JS </a:t>
            </a:r>
            <a:r>
              <a:rPr lang="en-US" sz="3600" dirty="0"/>
              <a:t>Libraries &amp; Frameworks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BED019F9-29C8-055F-A8E0-F0C7518C6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879" y="2584294"/>
            <a:ext cx="6772513" cy="307695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318875" y="1700808"/>
            <a:ext cx="3253125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React</a:t>
            </a:r>
            <a:r>
              <a:rPr lang="en-US" sz="1400" dirty="0">
                <a:solidFill>
                  <a:srgbClr val="002060"/>
                </a:solidFill>
              </a:rPr>
              <a:t> is the library for web and native UIs. Build UIs out of individual pieces called </a:t>
            </a:r>
            <a:r>
              <a:rPr lang="en-US" sz="1400" b="1" dirty="0">
                <a:solidFill>
                  <a:srgbClr val="002060"/>
                </a:solidFill>
              </a:rPr>
              <a:t>components</a:t>
            </a:r>
            <a:r>
              <a:rPr lang="en-US" sz="1400" dirty="0">
                <a:solidFill>
                  <a:srgbClr val="002060"/>
                </a:solidFill>
              </a:rPr>
              <a:t> written in JavaScript.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860032" y="1700808"/>
            <a:ext cx="3654152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002060"/>
                </a:solidFill>
              </a:rPr>
              <a:t>Angular</a:t>
            </a:r>
            <a:r>
              <a:rPr lang="en-US" sz="1400" dirty="0">
                <a:solidFill>
                  <a:srgbClr val="002060"/>
                </a:solidFill>
              </a:rPr>
              <a:t> is a framework and development platform, built on </a:t>
            </a:r>
            <a:r>
              <a:rPr lang="en-US" sz="1400" b="1" dirty="0" err="1">
                <a:solidFill>
                  <a:srgbClr val="002060"/>
                </a:solidFill>
              </a:rPr>
              <a:t>TypeScript</a:t>
            </a:r>
            <a:r>
              <a:rPr lang="en-US" sz="1400" dirty="0">
                <a:solidFill>
                  <a:srgbClr val="002060"/>
                </a:solidFill>
              </a:rPr>
              <a:t>. It is used for creating single-page web applications. </a:t>
            </a:r>
          </a:p>
        </p:txBody>
      </p:sp>
    </p:spTree>
    <p:extLst>
      <p:ext uri="{BB962C8B-B14F-4D97-AF65-F5344CB8AC3E}">
        <p14:creationId xmlns:p14="http://schemas.microsoft.com/office/powerpoint/2010/main" val="3570242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dirty="0"/>
              <a:t>Server-side Programming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Python </a:t>
            </a:r>
            <a:r>
              <a:rPr lang="en-US" dirty="0" smtClean="0"/>
              <a:t>Libraries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38</a:t>
            </a:fld>
            <a:endParaRPr lang="en-US" altLang="en-US"/>
          </a:p>
        </p:txBody>
      </p:sp>
      <p:pic>
        <p:nvPicPr>
          <p:cNvPr id="1026" name="Picture 2" descr="Django vs Flask vs FastAPI: Which Python Web Framework is Right for You?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608108"/>
            <a:ext cx="5328592" cy="319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683568" y="2968148"/>
            <a:ext cx="23474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Django</a:t>
            </a:r>
            <a:r>
              <a:rPr lang="en-US" sz="1600" dirty="0">
                <a:solidFill>
                  <a:srgbClr val="002060"/>
                </a:solidFill>
              </a:rPr>
              <a:t> is a Python framework that simplifies </a:t>
            </a:r>
            <a:r>
              <a:rPr lang="en-US" sz="1600" b="1" dirty="0">
                <a:solidFill>
                  <a:srgbClr val="002060"/>
                </a:solidFill>
              </a:rPr>
              <a:t>web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30984" y="1844824"/>
            <a:ext cx="5357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002060"/>
                </a:solidFill>
              </a:rPr>
              <a:t>Flask</a:t>
            </a:r>
            <a:r>
              <a:rPr lang="en-US" sz="1600" dirty="0">
                <a:solidFill>
                  <a:srgbClr val="002060"/>
                </a:solidFill>
              </a:rPr>
              <a:t> is a lightweight WSGI web application framework that facilitates the development of </a:t>
            </a:r>
            <a:r>
              <a:rPr lang="en-US" sz="1600" b="1" dirty="0">
                <a:solidFill>
                  <a:srgbClr val="002060"/>
                </a:solidFill>
              </a:rPr>
              <a:t>REST services</a:t>
            </a:r>
            <a:r>
              <a:rPr lang="en-US" sz="1600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3568" y="4480316"/>
            <a:ext cx="23762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>
                <a:solidFill>
                  <a:srgbClr val="002060"/>
                </a:solidFill>
              </a:rPr>
              <a:t>FastAPI</a:t>
            </a:r>
            <a:r>
              <a:rPr lang="en-US" sz="1600" dirty="0">
                <a:solidFill>
                  <a:srgbClr val="002060"/>
                </a:solidFill>
              </a:rPr>
              <a:t> is a modern, fast (high-performance), web framework for building </a:t>
            </a:r>
            <a:r>
              <a:rPr lang="en-US" sz="1600" b="1" dirty="0">
                <a:solidFill>
                  <a:srgbClr val="002060"/>
                </a:solidFill>
              </a:rPr>
              <a:t>APIs</a:t>
            </a:r>
            <a:r>
              <a:rPr lang="en-US" sz="1600" dirty="0">
                <a:solidFill>
                  <a:srgbClr val="002060"/>
                </a:solidFill>
              </a:rPr>
              <a:t> with Python</a:t>
            </a:r>
          </a:p>
        </p:txBody>
      </p:sp>
    </p:spTree>
    <p:extLst>
      <p:ext uri="{BB962C8B-B14F-4D97-AF65-F5344CB8AC3E}">
        <p14:creationId xmlns:p14="http://schemas.microsoft.com/office/powerpoint/2010/main" val="228247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 smtClean="0"/>
              <a:t>XML</a:t>
            </a:r>
            <a:endParaRPr lang="en-US" altLang="en-US" dirty="0"/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982133" y="1412776"/>
            <a:ext cx="7704667" cy="46085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XML: </a:t>
            </a:r>
            <a:r>
              <a:rPr lang="en-US" altLang="en-US" sz="24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eXtensive</a:t>
            </a: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Markup Language</a:t>
            </a:r>
          </a:p>
          <a:p>
            <a:pPr>
              <a:defRPr/>
            </a:pPr>
            <a:endParaRPr lang="en-US" altLang="en-US" sz="600" dirty="0"/>
          </a:p>
          <a:p>
            <a:pPr>
              <a:lnSpc>
                <a:spcPct val="120000"/>
              </a:lnSpc>
              <a:defRPr/>
            </a:pPr>
            <a:r>
              <a:rPr lang="en-US" altLang="en-US" sz="2400" dirty="0"/>
              <a:t>Η XML </a:t>
            </a:r>
            <a:r>
              <a:rPr lang="el-GR" altLang="en-US" sz="2400" dirty="0"/>
              <a:t>είναι μια γλώσσα που χρησιμοποιείται ευρέως </a:t>
            </a:r>
            <a:r>
              <a:rPr lang="el-GR" altLang="en-US" sz="2400" i="1" dirty="0"/>
              <a:t>για τη δόμηση πληροφορίας </a:t>
            </a:r>
            <a:r>
              <a:rPr lang="el-GR" altLang="en-US" sz="2400" dirty="0"/>
              <a:t>ενώ παράλληλα έχει καταστεί ως ένας από τους πιο δημοφιλείς τρόπους </a:t>
            </a:r>
            <a:r>
              <a:rPr lang="el-GR" altLang="en-US" sz="2400" i="1" dirty="0"/>
              <a:t>για την ανταλλαγή πληροφοριών</a:t>
            </a:r>
            <a:r>
              <a:rPr lang="el-GR" altLang="en-US" sz="2400" dirty="0"/>
              <a:t> μεταξύ εφαρμογών. </a:t>
            </a:r>
          </a:p>
          <a:p>
            <a:pPr>
              <a:lnSpc>
                <a:spcPct val="110000"/>
              </a:lnSpc>
              <a:defRPr/>
            </a:pPr>
            <a:r>
              <a:rPr lang="el-GR" altLang="en-US" sz="2400" dirty="0"/>
              <a:t>Περιέχει μόνο δομημένη πληροφορία, χωρίς πληροφορία που να αφορά την εμφάνιση (σε αντίθεση με την </a:t>
            </a:r>
            <a:r>
              <a:rPr lang="en-US" altLang="en-US" sz="2400" dirty="0"/>
              <a:t>HTML)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92515DCE-3538-4F64-8297-F74AED3E2D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323C9715-1DEC-4213-8C44-04CB9BB741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BB6CA5F-52C6-119A-4A7D-51ED0ABAD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40768"/>
            <a:ext cx="6562986" cy="53285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dirty="0" smtClean="0"/>
              <a:t>XML 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611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 smtClean="0"/>
              <a:t>XML</a:t>
            </a:r>
            <a:endParaRPr lang="en-US" altLang="en-US" dirty="0"/>
          </a:p>
        </p:txBody>
      </p:sp>
      <p:sp>
        <p:nvSpPr>
          <p:cNvPr id="4198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412776"/>
            <a:ext cx="7704667" cy="4824536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l-GR" altLang="en-US" sz="2400" dirty="0"/>
              <a:t>Χρησιμοποιείται για:</a:t>
            </a:r>
          </a:p>
          <a:p>
            <a:pPr lvl="1">
              <a:lnSpc>
                <a:spcPct val="90000"/>
              </a:lnSpc>
            </a:pPr>
            <a:r>
              <a:rPr lang="el-GR" altLang="en-US" sz="2400" dirty="0"/>
              <a:t>Ανταλλαγή πληροφοριών μεταξύ εφαρμογών</a:t>
            </a:r>
            <a:r>
              <a:rPr lang="en-US" altLang="en-US" sz="2400" dirty="0"/>
              <a:t>.</a:t>
            </a:r>
            <a:endParaRPr lang="el-GR" altLang="en-US" sz="2400" dirty="0"/>
          </a:p>
          <a:p>
            <a:pPr lvl="1">
              <a:lnSpc>
                <a:spcPct val="90000"/>
              </a:lnSpc>
            </a:pPr>
            <a:r>
              <a:rPr lang="en-US" altLang="en-US" sz="2400" i="1" dirty="0"/>
              <a:t>“Write once, view anywhere applications</a:t>
            </a:r>
            <a:r>
              <a:rPr lang="en-US" altLang="en-US" sz="2400" dirty="0"/>
              <a:t>”</a:t>
            </a:r>
          </a:p>
          <a:p>
            <a:pPr lvl="1">
              <a:lnSpc>
                <a:spcPct val="90000"/>
              </a:lnSpc>
            </a:pPr>
            <a:r>
              <a:rPr lang="el-GR" altLang="en-US" sz="2400" dirty="0"/>
              <a:t>Ορισμός νέων πιο ειδικευμένων γλωσσών σήμανσης</a:t>
            </a:r>
            <a:r>
              <a:rPr lang="en-US" altLang="en-US" sz="2400" dirty="0"/>
              <a:t> (WML, NewsML, </a:t>
            </a:r>
            <a:r>
              <a:rPr lang="en-US" altLang="en-US" sz="2400" dirty="0" err="1"/>
              <a:t>κλ</a:t>
            </a:r>
            <a:r>
              <a:rPr lang="en-US" altLang="en-US" sz="2400" dirty="0"/>
              <a:t>π</a:t>
            </a:r>
            <a:r>
              <a:rPr lang="en-US" altLang="en-US" sz="2400" dirty="0" smtClean="0"/>
              <a:t>.).</a:t>
            </a:r>
          </a:p>
          <a:p>
            <a:pPr lvl="1">
              <a:lnSpc>
                <a:spcPct val="90000"/>
              </a:lnSpc>
            </a:pPr>
            <a:endParaRPr lang="en-US" altLang="en-US" sz="600" dirty="0"/>
          </a:p>
          <a:p>
            <a:pPr>
              <a:lnSpc>
                <a:spcPct val="90000"/>
              </a:lnSpc>
            </a:pPr>
            <a:r>
              <a:rPr lang="el-GR" altLang="en-US" sz="2400" dirty="0"/>
              <a:t>Πλεονεκτήματα της </a:t>
            </a:r>
            <a:r>
              <a:rPr lang="en-US" altLang="en-US" sz="2400" dirty="0"/>
              <a:t>XML:</a:t>
            </a:r>
          </a:p>
          <a:p>
            <a:pPr lvl="1">
              <a:lnSpc>
                <a:spcPct val="90000"/>
              </a:lnSpc>
            </a:pPr>
            <a:r>
              <a:rPr lang="el-GR" altLang="en-US" sz="2400" dirty="0"/>
              <a:t>Διαχωρισμός των δεδομένων από τον τρόπο εμφάνισής τους και τον χειρισμό τους</a:t>
            </a:r>
            <a:r>
              <a:rPr lang="en-US" altLang="en-US" sz="2400" dirty="0"/>
              <a:t>.</a:t>
            </a:r>
            <a:endParaRPr lang="el-GR" altLang="en-US" sz="2400" dirty="0"/>
          </a:p>
          <a:p>
            <a:pPr lvl="1">
              <a:lnSpc>
                <a:spcPct val="90000"/>
              </a:lnSpc>
            </a:pPr>
            <a:r>
              <a:rPr lang="el-GR" altLang="en-US" sz="2400" dirty="0"/>
              <a:t>Τα δεδομένα είναι οργανωμένα ως δεδομένα και όχι για τον τρόπο εμφάνισης τους (σε αντίθεση με την </a:t>
            </a:r>
            <a:r>
              <a:rPr lang="en-US" altLang="en-US" sz="2400" dirty="0"/>
              <a:t>HTML).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DF6968F5-12CF-44F0-8BE9-3790E7B59B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C332E81C-BB0A-4C05-9FB7-E5975E5A2B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41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/>
              <a:t>XML Validation &amp; Display</a:t>
            </a:r>
          </a:p>
        </p:txBody>
      </p:sp>
      <p:graphicFrame>
        <p:nvGraphicFramePr>
          <p:cNvPr id="11" name="Content Placeholder 1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4372845"/>
              </p:ext>
            </p:extLst>
          </p:nvPr>
        </p:nvGraphicFramePr>
        <p:xfrm>
          <a:off x="982663" y="1700808"/>
          <a:ext cx="7704137" cy="4226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DFFD54A4-8255-4783-8E5A-9BB18254B9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FA4A15D6-717D-4F43-B8AE-6B176C9CC6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altLang="en-US" dirty="0"/>
              <a:t>XML Schema Πα</a:t>
            </a:r>
            <a:r>
              <a:rPr lang="en-US" altLang="en-US" dirty="0" err="1"/>
              <a:t>ράδειγμ</a:t>
            </a:r>
            <a:r>
              <a:rPr lang="en-US" altLang="en-US" dirty="0"/>
              <a:t>α</a:t>
            </a:r>
          </a:p>
        </p:txBody>
      </p:sp>
      <p:sp>
        <p:nvSpPr>
          <p:cNvPr id="4403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2123728" y="1368152"/>
            <a:ext cx="6696555" cy="5445224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b="1" dirty="0"/>
              <a:t>XML Schema </a:t>
            </a:r>
            <a:endParaRPr lang="el-GR" altLang="en-US" sz="1600" b="1" dirty="0"/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&lt;</a:t>
            </a:r>
            <a:r>
              <a:rPr lang="en-US" altLang="en-US" sz="1600" i="1" dirty="0" err="1"/>
              <a:t>xs:schema</a:t>
            </a:r>
            <a:r>
              <a:rPr lang="en-US" altLang="en-US" sz="1600" i="1" dirty="0"/>
              <a:t> </a:t>
            </a:r>
            <a:r>
              <a:rPr lang="en-US" altLang="en-US" sz="1600" i="1" dirty="0" err="1"/>
              <a:t>xmlns:xs</a:t>
            </a:r>
            <a:r>
              <a:rPr lang="en-US" altLang="en-US" sz="1600" i="1" dirty="0"/>
              <a:t>="http://www.w3.org/2001/XMLSchema"&gt;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&lt;</a:t>
            </a:r>
            <a:r>
              <a:rPr lang="en-US" altLang="en-US" sz="1600" i="1" dirty="0" err="1"/>
              <a:t>xs:element</a:t>
            </a:r>
            <a:r>
              <a:rPr lang="en-US" altLang="en-US" sz="1600" i="1" dirty="0"/>
              <a:t> name="country" type="Country"/&gt; 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&lt;</a:t>
            </a:r>
            <a:r>
              <a:rPr lang="en-US" altLang="en-US" sz="1600" i="1" dirty="0" err="1"/>
              <a:t>xs:complexType</a:t>
            </a:r>
            <a:r>
              <a:rPr lang="en-US" altLang="en-US" sz="1600" i="1" dirty="0"/>
              <a:t> name="Country"&gt; 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	&lt;</a:t>
            </a:r>
            <a:r>
              <a:rPr lang="en-US" altLang="en-US" sz="1600" i="1" dirty="0" err="1"/>
              <a:t>xs:sequence</a:t>
            </a:r>
            <a:r>
              <a:rPr lang="en-US" altLang="en-US" sz="1600" i="1" dirty="0"/>
              <a:t>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		&lt;</a:t>
            </a:r>
            <a:r>
              <a:rPr lang="en-US" altLang="en-US" sz="1600" i="1" dirty="0" err="1"/>
              <a:t>xs:element</a:t>
            </a:r>
            <a:r>
              <a:rPr lang="en-US" altLang="en-US" sz="1600" i="1" dirty="0"/>
              <a:t> name="name" type="</a:t>
            </a:r>
            <a:r>
              <a:rPr lang="en-US" altLang="en-US" sz="1600" i="1" dirty="0" err="1"/>
              <a:t>xs:string</a:t>
            </a:r>
            <a:r>
              <a:rPr lang="en-US" altLang="en-US" sz="1600" i="1" dirty="0"/>
              <a:t>"/&gt;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		&lt;</a:t>
            </a:r>
            <a:r>
              <a:rPr lang="en-US" altLang="en-US" sz="1600" i="1" dirty="0" err="1"/>
              <a:t>xs:element</a:t>
            </a:r>
            <a:r>
              <a:rPr lang="en-US" altLang="en-US" sz="1600" i="1" dirty="0"/>
              <a:t> name="population" type="</a:t>
            </a:r>
            <a:r>
              <a:rPr lang="en-US" altLang="en-US" sz="1600" i="1" dirty="0" err="1"/>
              <a:t>xs:decimal</a:t>
            </a:r>
            <a:r>
              <a:rPr lang="en-US" altLang="en-US" sz="1600" i="1" dirty="0"/>
              <a:t>"/&gt;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	&lt;/</a:t>
            </a:r>
            <a:r>
              <a:rPr lang="en-US" altLang="en-US" sz="1600" i="1" dirty="0" err="1"/>
              <a:t>xs:sequence</a:t>
            </a:r>
            <a:r>
              <a:rPr lang="en-US" altLang="en-US" sz="1600" i="1" dirty="0"/>
              <a:t>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&lt;/</a:t>
            </a:r>
            <a:r>
              <a:rPr lang="en-US" altLang="en-US" sz="1600" i="1" dirty="0" err="1"/>
              <a:t>xs:complexType</a:t>
            </a:r>
            <a:r>
              <a:rPr lang="en-US" altLang="en-US" sz="1600" i="1" dirty="0"/>
              <a:t>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&lt;/</a:t>
            </a:r>
            <a:r>
              <a:rPr lang="en-US" altLang="en-US" sz="1600" i="1" dirty="0" err="1"/>
              <a:t>xs:schema</a:t>
            </a:r>
            <a:r>
              <a:rPr lang="en-US" altLang="en-US" sz="1600" i="1" dirty="0"/>
              <a:t>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endParaRPr lang="el-GR" altLang="en-US" sz="600" i="1" dirty="0"/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b="1" dirty="0"/>
              <a:t>Και </a:t>
            </a:r>
            <a:r>
              <a:rPr lang="en-US" altLang="en-US" sz="1600" b="1" dirty="0" err="1"/>
              <a:t>το</a:t>
            </a:r>
            <a:r>
              <a:rPr lang="en-US" altLang="en-US" sz="1600" b="1" dirty="0"/>
              <a:t> α</a:t>
            </a:r>
            <a:r>
              <a:rPr lang="en-US" altLang="en-US" sz="1600" b="1" dirty="0" err="1"/>
              <a:t>ντίστοιχο</a:t>
            </a:r>
            <a:r>
              <a:rPr lang="en-US" altLang="en-US" sz="1600" b="1" dirty="0"/>
              <a:t> XML</a:t>
            </a:r>
            <a:endParaRPr lang="el-GR" altLang="en-US" sz="1600" b="1" dirty="0"/>
          </a:p>
          <a:p>
            <a:pPr>
              <a:buFont typeface="Arial" pitchFamily="34" charset="0"/>
              <a:buNone/>
            </a:pPr>
            <a:r>
              <a:rPr lang="en-US" altLang="en-US" sz="1600" i="1" dirty="0"/>
              <a:t>&lt;country </a:t>
            </a:r>
            <a:r>
              <a:rPr lang="en-US" altLang="en-US" sz="1600" i="1" dirty="0" err="1"/>
              <a:t>xmlns:xsi</a:t>
            </a:r>
            <a:r>
              <a:rPr lang="en-US" altLang="en-US" sz="1600" i="1" dirty="0"/>
              <a:t>="http://www.w3.org/2001/XMLSchema-instance" </a:t>
            </a:r>
            <a:r>
              <a:rPr lang="en-US" altLang="en-US" sz="1600" i="1" dirty="0" err="1"/>
              <a:t>xsi:noNamespaceSchemaLocation</a:t>
            </a:r>
            <a:r>
              <a:rPr lang="en-US" altLang="en-US" sz="1600" i="1" dirty="0"/>
              <a:t>="country.xsd"&gt; 	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	&lt;name&gt;France&lt;/name&gt;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		&lt;population&gt;59.7&lt;/population&gt;</a:t>
            </a:r>
          </a:p>
          <a:p>
            <a:pPr>
              <a:lnSpc>
                <a:spcPct val="80000"/>
              </a:lnSpc>
              <a:buFont typeface="Arial" pitchFamily="34" charset="0"/>
              <a:buNone/>
            </a:pPr>
            <a:r>
              <a:rPr lang="en-US" altLang="en-US" sz="1600" i="1" dirty="0"/>
              <a:t>&lt;/country&gt;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93FB468-BAA5-4AD6-9D19-AE62A6CE69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556792"/>
            <a:ext cx="7704667" cy="4176464"/>
          </a:xfrm>
        </p:spPr>
        <p:txBody>
          <a:bodyPr>
            <a:normAutofit/>
          </a:bodyPr>
          <a:lstStyle/>
          <a:p>
            <a:r>
              <a:rPr lang="en-US" sz="2800" dirty="0"/>
              <a:t>JSON (JavaScript Object Notation) </a:t>
            </a:r>
            <a:r>
              <a:rPr lang="el-GR" sz="2800" dirty="0"/>
              <a:t>είναι μια «ελαφριά» μορφοποίηση για την ανταλλαγή των δεδομένων</a:t>
            </a:r>
          </a:p>
          <a:p>
            <a:pPr lvl="1"/>
            <a:r>
              <a:rPr lang="en-US" sz="2400" dirty="0">
                <a:hlinkClick r:id="rId2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https://www.json.org/json-en.html</a:t>
            </a:r>
            <a:r>
              <a:rPr lang="el-GR" sz="2400" dirty="0"/>
              <a:t> </a:t>
            </a:r>
          </a:p>
          <a:p>
            <a:endParaRPr lang="en-US" sz="600" dirty="0" smtClean="0"/>
          </a:p>
          <a:p>
            <a:r>
              <a:rPr lang="el-GR" sz="2800" dirty="0" smtClean="0"/>
              <a:t>Εύκολο </a:t>
            </a:r>
            <a:r>
              <a:rPr lang="el-GR" sz="2800" dirty="0"/>
              <a:t>να διαβαστεί και να γραφεί τόσο από τους ανθρώπους όσο και από τις μηχανές </a:t>
            </a:r>
          </a:p>
          <a:p>
            <a:r>
              <a:rPr lang="el-GR" sz="2800" dirty="0"/>
              <a:t>Μορφή κειμένου που είναι ανεξάρτητη από την γλώσσα </a:t>
            </a:r>
            <a:r>
              <a:rPr lang="el-GR" sz="2800" dirty="0" smtClean="0"/>
              <a:t>προγραμματισμού</a:t>
            </a:r>
            <a:endParaRPr lang="el-GR" sz="2800" dirty="0">
              <a:solidFill>
                <a:srgbClr val="FF0000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9992F68E-E404-4189-847A-C0BFE9588F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47C9F037-DCD5-46DC-BE35-C1EFA52CC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7170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4432"/>
            <a:ext cx="7704667" cy="1348344"/>
          </a:xfrm>
        </p:spPr>
        <p:txBody>
          <a:bodyPr/>
          <a:lstStyle/>
          <a:p>
            <a:r>
              <a:rPr lang="en-US" dirty="0"/>
              <a:t>JSON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9688" indent="0">
              <a:buNone/>
            </a:pPr>
            <a:r>
              <a:rPr lang="en-US" dirty="0"/>
              <a:t> </a:t>
            </a:r>
          </a:p>
        </p:txBody>
      </p:sp>
      <p:pic>
        <p:nvPicPr>
          <p:cNvPr id="1026" name="Picture 2" descr="https://www.json.org/img/objec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392" y="2802627"/>
            <a:ext cx="3846377" cy="1794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3" y="1473227"/>
            <a:ext cx="3491460" cy="483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733830F0-1933-4444-8A03-943F3A3E61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298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altLang="en-US" dirty="0"/>
              <a:t>Service Oriented </a:t>
            </a:r>
            <a:r>
              <a:rPr lang="en-US" altLang="en-US" dirty="0" smtClean="0"/>
              <a:t>Architecture (SOA)</a:t>
            </a:r>
            <a:endParaRPr lang="en-US" altLang="en-US" dirty="0"/>
          </a:p>
        </p:txBody>
      </p:sp>
      <p:sp>
        <p:nvSpPr>
          <p:cNvPr id="4505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755143" y="1700808"/>
            <a:ext cx="8281353" cy="1728192"/>
          </a:xfrm>
        </p:spPr>
        <p:txBody>
          <a:bodyPr>
            <a:noAutofit/>
          </a:bodyPr>
          <a:lstStyle/>
          <a:p>
            <a:pPr lvl="0"/>
            <a:r>
              <a:rPr lang="el-GR" sz="2000" dirty="0"/>
              <a:t>Μια εφαρμογή SOA είναι μια σύνθεση </a:t>
            </a:r>
            <a:r>
              <a:rPr lang="el-GR" sz="2000" dirty="0" err="1"/>
              <a:t>services</a:t>
            </a:r>
            <a:r>
              <a:rPr lang="el-GR" sz="2000" dirty="0"/>
              <a:t>.</a:t>
            </a:r>
            <a:endParaRPr lang="en-US" sz="2000" dirty="0"/>
          </a:p>
          <a:p>
            <a:pPr lvl="0"/>
            <a:r>
              <a:rPr lang="el-GR" sz="2000" dirty="0"/>
              <a:t>Το “</a:t>
            </a:r>
            <a:r>
              <a:rPr lang="el-GR" sz="2000" dirty="0" err="1"/>
              <a:t>service</a:t>
            </a:r>
            <a:r>
              <a:rPr lang="el-GR" sz="2000" dirty="0"/>
              <a:t>” είναι μια μονάδα σε μια αρχιτεκτονική SOA.</a:t>
            </a:r>
            <a:endParaRPr lang="en-US" sz="2000" dirty="0"/>
          </a:p>
          <a:p>
            <a:pPr lvl="0"/>
            <a:r>
              <a:rPr lang="el-GR" sz="2000" dirty="0"/>
              <a:t>Τα </a:t>
            </a:r>
            <a:r>
              <a:rPr lang="el-GR" sz="2000" dirty="0" err="1"/>
              <a:t>Services</a:t>
            </a:r>
            <a:r>
              <a:rPr lang="el-GR" sz="2000" dirty="0"/>
              <a:t> περιέχουν την επιχειρηματική λογική</a:t>
            </a:r>
            <a:r>
              <a:rPr lang="el-GR" sz="2000" dirty="0" smtClean="0"/>
              <a:t>.</a:t>
            </a:r>
            <a:endParaRPr lang="en-US" sz="2000" dirty="0" smtClean="0"/>
          </a:p>
          <a:p>
            <a:r>
              <a:rPr lang="el-GR" sz="2000" dirty="0"/>
              <a:t>Οι </a:t>
            </a:r>
            <a:r>
              <a:rPr lang="el-GR" sz="2000" dirty="0" err="1"/>
              <a:t>παροχείς</a:t>
            </a:r>
            <a:r>
              <a:rPr lang="el-GR" sz="2000" dirty="0"/>
              <a:t> </a:t>
            </a:r>
            <a:r>
              <a:rPr lang="en-US" sz="2000" dirty="0"/>
              <a:t>Service (Service Providers) </a:t>
            </a:r>
            <a:r>
              <a:rPr lang="el-GR" sz="2000" dirty="0"/>
              <a:t>καταχωρούνται</a:t>
            </a:r>
            <a:r>
              <a:rPr lang="el-GR" sz="2000" dirty="0" smtClean="0"/>
              <a:t>.</a:t>
            </a:r>
            <a:endParaRPr lang="el-GR" sz="2000" dirty="0"/>
          </a:p>
        </p:txBody>
      </p:sp>
      <p:grpSp>
        <p:nvGrpSpPr>
          <p:cNvPr id="45060" name="Group 38"/>
          <p:cNvGrpSpPr>
            <a:grpSpLocks/>
          </p:cNvGrpSpPr>
          <p:nvPr/>
        </p:nvGrpSpPr>
        <p:grpSpPr bwMode="auto">
          <a:xfrm>
            <a:off x="5652120" y="3789040"/>
            <a:ext cx="3167076" cy="2114922"/>
            <a:chOff x="4957762" y="1962160"/>
            <a:chExt cx="4076702" cy="2895600"/>
          </a:xfrm>
        </p:grpSpPr>
        <p:grpSp>
          <p:nvGrpSpPr>
            <p:cNvPr id="45064" name="Group 6"/>
            <p:cNvGrpSpPr>
              <a:grpSpLocks/>
            </p:cNvGrpSpPr>
            <p:nvPr/>
          </p:nvGrpSpPr>
          <p:grpSpPr bwMode="auto">
            <a:xfrm>
              <a:off x="6443663" y="1962160"/>
              <a:ext cx="1143000" cy="990600"/>
              <a:chOff x="0" y="0"/>
              <a:chExt cx="720" cy="624"/>
            </a:xfrm>
          </p:grpSpPr>
          <p:sp>
            <p:nvSpPr>
              <p:cNvPr id="45077" name="Oval 7"/>
              <p:cNvSpPr>
                <a:spLocks/>
              </p:cNvSpPr>
              <p:nvPr/>
            </p:nvSpPr>
            <p:spPr bwMode="auto">
              <a:xfrm>
                <a:off x="0" y="0"/>
                <a:ext cx="720" cy="624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45078" name="Rectangle 8"/>
              <p:cNvSpPr>
                <a:spLocks/>
              </p:cNvSpPr>
              <p:nvPr/>
            </p:nvSpPr>
            <p:spPr bwMode="auto">
              <a:xfrm>
                <a:off x="6" y="66"/>
                <a:ext cx="706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78049" bIns="38100" anchor="ctr">
                <a:spAutoFit/>
              </a:bodyPr>
              <a:lstStyle>
                <a:lvl1pPr marL="15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dirty="0">
                    <a:cs typeface="Arial" pitchFamily="34" charset="0"/>
                  </a:rPr>
                  <a:t>Service</a:t>
                </a:r>
              </a:p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dirty="0">
                    <a:cs typeface="Arial" pitchFamily="34" charset="0"/>
                  </a:rPr>
                  <a:t>Registry</a:t>
                </a:r>
              </a:p>
            </p:txBody>
          </p:sp>
        </p:grpSp>
        <p:grpSp>
          <p:nvGrpSpPr>
            <p:cNvPr id="45065" name="Group 9"/>
            <p:cNvGrpSpPr>
              <a:grpSpLocks/>
            </p:cNvGrpSpPr>
            <p:nvPr/>
          </p:nvGrpSpPr>
          <p:grpSpPr bwMode="auto">
            <a:xfrm>
              <a:off x="7891464" y="3854471"/>
              <a:ext cx="1143000" cy="990600"/>
              <a:chOff x="0" y="0"/>
              <a:chExt cx="720" cy="624"/>
            </a:xfrm>
          </p:grpSpPr>
          <p:sp>
            <p:nvSpPr>
              <p:cNvPr id="45075" name="Oval 10"/>
              <p:cNvSpPr>
                <a:spLocks/>
              </p:cNvSpPr>
              <p:nvPr/>
            </p:nvSpPr>
            <p:spPr bwMode="auto">
              <a:xfrm>
                <a:off x="0" y="0"/>
                <a:ext cx="720" cy="624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45076" name="Rectangle 11"/>
              <p:cNvSpPr>
                <a:spLocks/>
              </p:cNvSpPr>
              <p:nvPr/>
            </p:nvSpPr>
            <p:spPr bwMode="auto">
              <a:xfrm>
                <a:off x="2" y="66"/>
                <a:ext cx="715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78049" bIns="38100" anchor="ctr">
                <a:spAutoFit/>
              </a:bodyPr>
              <a:lstStyle>
                <a:lvl1pPr marL="15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>
                    <a:cs typeface="Arial" pitchFamily="34" charset="0"/>
                  </a:rPr>
                  <a:t>Service</a:t>
                </a:r>
              </a:p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>
                    <a:cs typeface="Arial" pitchFamily="34" charset="0"/>
                  </a:rPr>
                  <a:t>Provider</a:t>
                </a:r>
              </a:p>
            </p:txBody>
          </p:sp>
        </p:grpSp>
        <p:grpSp>
          <p:nvGrpSpPr>
            <p:cNvPr id="45066" name="Group 12"/>
            <p:cNvGrpSpPr>
              <a:grpSpLocks/>
            </p:cNvGrpSpPr>
            <p:nvPr/>
          </p:nvGrpSpPr>
          <p:grpSpPr bwMode="auto">
            <a:xfrm>
              <a:off x="4957762" y="3867160"/>
              <a:ext cx="1371601" cy="990600"/>
              <a:chOff x="-59" y="0"/>
              <a:chExt cx="864" cy="624"/>
            </a:xfrm>
          </p:grpSpPr>
          <p:sp>
            <p:nvSpPr>
              <p:cNvPr id="45073" name="Oval 13"/>
              <p:cNvSpPr>
                <a:spLocks/>
              </p:cNvSpPr>
              <p:nvPr/>
            </p:nvSpPr>
            <p:spPr bwMode="auto">
              <a:xfrm>
                <a:off x="12" y="0"/>
                <a:ext cx="720" cy="624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45074" name="Rectangle 14"/>
              <p:cNvSpPr>
                <a:spLocks/>
              </p:cNvSpPr>
              <p:nvPr/>
            </p:nvSpPr>
            <p:spPr bwMode="auto">
              <a:xfrm>
                <a:off x="-59" y="66"/>
                <a:ext cx="864" cy="4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38100" tIns="38100" rIns="78049" bIns="38100" anchor="ctr">
                <a:spAutoFit/>
              </a:bodyPr>
              <a:lstStyle>
                <a:lvl1pPr marL="15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dirty="0">
                    <a:cs typeface="Arial" pitchFamily="34" charset="0"/>
                  </a:rPr>
                  <a:t>Service</a:t>
                </a:r>
              </a:p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1600" dirty="0">
                    <a:cs typeface="Arial" pitchFamily="34" charset="0"/>
                  </a:rPr>
                  <a:t>Consumer</a:t>
                </a:r>
              </a:p>
            </p:txBody>
          </p:sp>
        </p:grpSp>
        <p:sp>
          <p:nvSpPr>
            <p:cNvPr id="45067" name="Line 15"/>
            <p:cNvSpPr>
              <a:spLocks noChangeShapeType="1"/>
            </p:cNvSpPr>
            <p:nvPr/>
          </p:nvSpPr>
          <p:spPr bwMode="auto">
            <a:xfrm rot="10800000" flipH="1">
              <a:off x="5910263" y="2876560"/>
              <a:ext cx="762000" cy="1066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8" name="Line 16"/>
            <p:cNvSpPr>
              <a:spLocks noChangeShapeType="1"/>
            </p:cNvSpPr>
            <p:nvPr/>
          </p:nvSpPr>
          <p:spPr bwMode="auto">
            <a:xfrm rot="10800000">
              <a:off x="7281863" y="2876560"/>
              <a:ext cx="838200" cy="1066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69" name="Line 17"/>
            <p:cNvSpPr>
              <a:spLocks noChangeShapeType="1"/>
            </p:cNvSpPr>
            <p:nvPr/>
          </p:nvSpPr>
          <p:spPr bwMode="auto">
            <a:xfrm>
              <a:off x="6215063" y="4400560"/>
              <a:ext cx="1676400" cy="15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0" name="Rectangle 18"/>
            <p:cNvSpPr>
              <a:spLocks/>
            </p:cNvSpPr>
            <p:nvPr/>
          </p:nvSpPr>
          <p:spPr bwMode="auto">
            <a:xfrm>
              <a:off x="5910262" y="3348048"/>
              <a:ext cx="616544" cy="3371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cs typeface="Arial" pitchFamily="34" charset="0"/>
                </a:rPr>
                <a:t>Find</a:t>
              </a:r>
            </a:p>
          </p:txBody>
        </p:sp>
        <p:sp>
          <p:nvSpPr>
            <p:cNvPr id="45071" name="Rectangle 19"/>
            <p:cNvSpPr>
              <a:spLocks/>
            </p:cNvSpPr>
            <p:nvPr/>
          </p:nvSpPr>
          <p:spPr bwMode="auto">
            <a:xfrm>
              <a:off x="7281863" y="3348048"/>
              <a:ext cx="1087001" cy="33710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>
                  <a:cs typeface="Arial" pitchFamily="34" charset="0"/>
                </a:rPr>
                <a:t>Register</a:t>
              </a:r>
            </a:p>
          </p:txBody>
        </p:sp>
        <p:sp>
          <p:nvSpPr>
            <p:cNvPr id="45072" name="Rectangle 20"/>
            <p:cNvSpPr>
              <a:spLocks/>
            </p:cNvSpPr>
            <p:nvPr/>
          </p:nvSpPr>
          <p:spPr bwMode="auto">
            <a:xfrm>
              <a:off x="6571037" y="4064010"/>
              <a:ext cx="1058115" cy="67421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40639" bIns="0">
              <a:spAutoFit/>
            </a:bodyPr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dirty="0">
                  <a:cs typeface="Arial" pitchFamily="34" charset="0"/>
                </a:rPr>
                <a:t>Bind,</a:t>
              </a:r>
            </a:p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en-US" sz="1600" dirty="0">
                  <a:cs typeface="Arial" pitchFamily="34" charset="0"/>
                </a:rPr>
                <a:t>Execute</a:t>
              </a:r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903D7EB0-30E9-44E5-9B85-A7FDDE30CB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6256DAF-BC20-4DE3-9CCF-7FAAECCDC3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46</a:t>
            </a:fld>
            <a:endParaRPr lang="en-US" altLang="en-US"/>
          </a:p>
        </p:txBody>
      </p:sp>
      <p:sp>
        <p:nvSpPr>
          <p:cNvPr id="23" name="Content Placeholder 2"/>
          <p:cNvSpPr txBox="1">
            <a:spLocks noChangeArrowheads="1"/>
          </p:cNvSpPr>
          <p:nvPr/>
        </p:nvSpPr>
        <p:spPr bwMode="auto">
          <a:xfrm>
            <a:off x="755576" y="3352525"/>
            <a:ext cx="4752528" cy="2668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>
            <a:lvl1pPr marL="285750" indent="-2857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l-GR" sz="2000" dirty="0" smtClean="0"/>
              <a:t>Η </a:t>
            </a:r>
            <a:r>
              <a:rPr lang="el-GR" sz="2000" dirty="0"/>
              <a:t>χρήση των </a:t>
            </a:r>
            <a:r>
              <a:rPr lang="en-US" sz="2000" dirty="0"/>
              <a:t>Service </a:t>
            </a:r>
            <a:r>
              <a:rPr lang="el-GR" sz="2000" dirty="0"/>
              <a:t>περιλαμβάνει: </a:t>
            </a:r>
            <a:endParaRPr lang="en-US" sz="20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</a:t>
            </a:r>
            <a:r>
              <a:rPr lang="el-GR" sz="2000" dirty="0" smtClean="0"/>
              <a:t>Εύρεση </a:t>
            </a:r>
            <a:r>
              <a:rPr lang="el-GR" sz="2000" dirty="0"/>
              <a:t>(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Find</a:t>
            </a:r>
            <a:r>
              <a:rPr lang="en-US" sz="2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</a:t>
            </a:r>
            <a:r>
              <a:rPr lang="el-GR" sz="2000" dirty="0" smtClean="0"/>
              <a:t>Δέσμευση </a:t>
            </a:r>
            <a:r>
              <a:rPr lang="el-GR" sz="2000" dirty="0"/>
              <a:t>(</a:t>
            </a:r>
            <a:r>
              <a:rPr lang="en-US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Bind</a:t>
            </a:r>
            <a:r>
              <a:rPr lang="en-US" sz="2000" dirty="0" smtClean="0"/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/>
              <a:t>	</a:t>
            </a:r>
            <a:r>
              <a:rPr lang="el-GR" sz="2000" dirty="0" smtClean="0"/>
              <a:t>Εκτέλεση </a:t>
            </a:r>
            <a:r>
              <a:rPr lang="el-GR" sz="2000" dirty="0"/>
              <a:t>(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Execute</a:t>
            </a:r>
            <a:r>
              <a:rPr lang="en-US" sz="2000" dirty="0" smtClean="0"/>
              <a:t>).</a:t>
            </a:r>
            <a:endParaRPr lang="en-US" sz="2000" dirty="0"/>
          </a:p>
          <a:p>
            <a:r>
              <a:rPr lang="el-GR" sz="2000" dirty="0"/>
              <a:t>Η πιο γνωστή οντότητα είναι οι Δικτυακές Υπηρεσίες (</a:t>
            </a:r>
            <a:r>
              <a:rPr lang="en-US" sz="2000" dirty="0"/>
              <a:t>Web Services).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7"/>
          <p:cNvSpPr>
            <a:spLocks noGrp="1" noChangeArrowheads="1"/>
          </p:cNvSpPr>
          <p:nvPr>
            <p:ph type="title"/>
          </p:nvPr>
        </p:nvSpPr>
        <p:spPr>
          <a:xfrm>
            <a:off x="982133" y="332656"/>
            <a:ext cx="7704667" cy="811559"/>
          </a:xfrm>
        </p:spPr>
        <p:txBody>
          <a:bodyPr/>
          <a:lstStyle/>
          <a:p>
            <a:r>
              <a:rPr lang="en-US" altLang="en-US" dirty="0"/>
              <a:t>Web Services</a:t>
            </a:r>
          </a:p>
        </p:txBody>
      </p:sp>
      <p:sp>
        <p:nvSpPr>
          <p:cNvPr id="46083" name="Content Placeholder 8"/>
          <p:cNvSpPr>
            <a:spLocks noGrp="1" noChangeArrowheads="1"/>
          </p:cNvSpPr>
          <p:nvPr>
            <p:ph idx="1"/>
          </p:nvPr>
        </p:nvSpPr>
        <p:spPr>
          <a:xfrm>
            <a:off x="982133" y="1196752"/>
            <a:ext cx="7704667" cy="5544616"/>
          </a:xfrm>
        </p:spPr>
        <p:txBody>
          <a:bodyPr>
            <a:normAutofit fontScale="70000" lnSpcReduction="20000"/>
          </a:bodyPr>
          <a:lstStyle/>
          <a:p>
            <a:pPr lvl="0">
              <a:lnSpc>
                <a:spcPct val="120000"/>
              </a:lnSpc>
            </a:pPr>
            <a:r>
              <a:rPr lang="el-GR" dirty="0"/>
              <a:t>Τα</a:t>
            </a:r>
            <a:r>
              <a:rPr lang="en-US" dirty="0"/>
              <a:t> Web services:</a:t>
            </a:r>
          </a:p>
          <a:p>
            <a:pPr lvl="1">
              <a:lnSpc>
                <a:spcPct val="120000"/>
              </a:lnSpc>
            </a:pPr>
            <a:r>
              <a:rPr lang="el-GR" dirty="0"/>
              <a:t>Συστήματα τα οποία σχεδιάστηκαν με σκοπό την διασύνδεση και την διαλειτουργικότητα μηχανής με μηχανή πάνω από το διαδίκτυο.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l-GR" dirty="0"/>
              <a:t>Βασίζονται σε ανοιχτά πρωτόκολλα </a:t>
            </a:r>
            <a:r>
              <a:rPr lang="en-US" dirty="0"/>
              <a:t>(open standards)</a:t>
            </a:r>
          </a:p>
          <a:p>
            <a:pPr lvl="2">
              <a:lnSpc>
                <a:spcPct val="120000"/>
              </a:lnSpc>
            </a:pPr>
            <a:r>
              <a:rPr lang="en-US" sz="2600" b="1" dirty="0"/>
              <a:t>HTTP</a:t>
            </a:r>
            <a:r>
              <a:rPr lang="en-US" sz="2600" dirty="0"/>
              <a:t>, </a:t>
            </a:r>
            <a:r>
              <a:rPr lang="en-US" sz="2600" b="1" dirty="0"/>
              <a:t>XML</a:t>
            </a:r>
            <a:r>
              <a:rPr lang="en-US" sz="2600" dirty="0"/>
              <a:t>, and </a:t>
            </a:r>
            <a:r>
              <a:rPr lang="en-US" sz="2600" b="1" dirty="0"/>
              <a:t>SOAP</a:t>
            </a:r>
            <a:endParaRPr lang="en-US" sz="2600" dirty="0"/>
          </a:p>
          <a:p>
            <a:pPr lvl="1">
              <a:lnSpc>
                <a:spcPct val="120000"/>
              </a:lnSpc>
            </a:pPr>
            <a:r>
              <a:rPr lang="el-GR" dirty="0"/>
              <a:t>Επιτρέπουν την κατανομή της λογικής κάθε εφαρμογής</a:t>
            </a:r>
            <a:r>
              <a:rPr lang="en-US" dirty="0"/>
              <a:t>.</a:t>
            </a:r>
          </a:p>
          <a:p>
            <a:pPr lvl="0">
              <a:lnSpc>
                <a:spcPct val="120000"/>
              </a:lnSpc>
            </a:pPr>
            <a:r>
              <a:rPr lang="el-GR" dirty="0"/>
              <a:t>Πλεονεκτήματα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l-GR" dirty="0"/>
              <a:t>Δεν εμφανίζονται οι λεπτομέρειες υλοποίησης ενός </a:t>
            </a:r>
            <a:r>
              <a:rPr lang="el-GR" dirty="0" err="1"/>
              <a:t>service</a:t>
            </a:r>
            <a:r>
              <a:rPr lang="el-GR" dirty="0"/>
              <a:t> αφού το μόνο που απαιτείται είναι το </a:t>
            </a:r>
            <a:r>
              <a:rPr lang="en-US" dirty="0"/>
              <a:t>URL </a:t>
            </a:r>
            <a:r>
              <a:rPr lang="el-GR" dirty="0"/>
              <a:t>και οι τύποι δεδομένων </a:t>
            </a:r>
            <a:r>
              <a:rPr lang="en-US" dirty="0"/>
              <a:t>(data types).</a:t>
            </a:r>
          </a:p>
          <a:p>
            <a:pPr lvl="1">
              <a:lnSpc>
                <a:spcPct val="120000"/>
              </a:lnSpc>
            </a:pPr>
            <a:r>
              <a:rPr lang="el-GR" dirty="0"/>
              <a:t>Είναι ανεξάρτητο στον </a:t>
            </a:r>
            <a:r>
              <a:rPr lang="en-US" dirty="0"/>
              <a:t>client </a:t>
            </a:r>
            <a:r>
              <a:rPr lang="el-GR" dirty="0"/>
              <a:t>εάν το </a:t>
            </a:r>
            <a:r>
              <a:rPr lang="en-US" dirty="0"/>
              <a:t>service </a:t>
            </a:r>
            <a:r>
              <a:rPr lang="el-GR" dirty="0"/>
              <a:t>έχει υλοποιηθεί με χρήση </a:t>
            </a:r>
            <a:r>
              <a:rPr lang="en-US" dirty="0"/>
              <a:t>Java, ASP.NET ή </a:t>
            </a:r>
            <a:r>
              <a:rPr lang="el-GR" dirty="0"/>
              <a:t>αν εκτελείται σε περιβάλλον/πλατφόρμα </a:t>
            </a:r>
            <a:r>
              <a:rPr lang="en-US" dirty="0"/>
              <a:t>Windows ή Linux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CF6D650-7407-45AE-A6F9-BED1438A5F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99392"/>
            <a:ext cx="7704667" cy="1296144"/>
          </a:xfrm>
        </p:spPr>
        <p:txBody>
          <a:bodyPr/>
          <a:lstStyle/>
          <a:p>
            <a:r>
              <a:rPr lang="en-US" altLang="en-US" dirty="0"/>
              <a:t>SOAP</a:t>
            </a:r>
          </a:p>
        </p:txBody>
      </p:sp>
      <p:sp>
        <p:nvSpPr>
          <p:cNvPr id="4915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115616" y="4509120"/>
            <a:ext cx="7704667" cy="2039622"/>
          </a:xfrm>
        </p:spPr>
        <p:txBody>
          <a:bodyPr>
            <a:normAutofit/>
          </a:bodyPr>
          <a:lstStyle/>
          <a:p>
            <a:pPr lvl="0"/>
            <a:r>
              <a:rPr lang="el-GR" sz="2400" dirty="0" smtClean="0"/>
              <a:t>Πλεονεκτήματα</a:t>
            </a:r>
            <a:r>
              <a:rPr lang="el-GR" sz="2400" dirty="0"/>
              <a:t>:</a:t>
            </a:r>
            <a:endParaRPr lang="en-US" sz="2400" dirty="0"/>
          </a:p>
          <a:p>
            <a:pPr lvl="1"/>
            <a:r>
              <a:rPr lang="el-GR" sz="1800" dirty="0"/>
              <a:t>Βασίζεται σε ευρέως διαδεδομένα πρότυπα, </a:t>
            </a:r>
            <a:r>
              <a:rPr lang="el-GR" sz="1800" dirty="0" smtClean="0"/>
              <a:t>όπως </a:t>
            </a:r>
            <a:r>
              <a:rPr lang="el-GR" sz="1800" b="1" dirty="0"/>
              <a:t>HTTP</a:t>
            </a:r>
            <a:r>
              <a:rPr lang="el-GR" sz="1800" dirty="0"/>
              <a:t> και </a:t>
            </a:r>
            <a:r>
              <a:rPr lang="el-GR" sz="1800" b="1" dirty="0"/>
              <a:t>XML</a:t>
            </a:r>
            <a:endParaRPr lang="en-US" sz="1800" b="1" dirty="0"/>
          </a:p>
          <a:p>
            <a:pPr lvl="1"/>
            <a:r>
              <a:rPr lang="el-GR" sz="1800" dirty="0"/>
              <a:t>Διαλειτουργικότητα </a:t>
            </a:r>
            <a:endParaRPr lang="en-US" sz="1800" dirty="0"/>
          </a:p>
          <a:p>
            <a:pPr lvl="1"/>
            <a:r>
              <a:rPr lang="el-GR" sz="1800" dirty="0"/>
              <a:t>Ανεξάρτητο από πλατφόρμες</a:t>
            </a:r>
            <a:endParaRPr lang="en-US" sz="18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A31C0FE-45A3-45AC-95AC-B10EAC15EB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48</a:t>
            </a:fld>
            <a:endParaRPr lang="en-US" altLang="en-US"/>
          </a:p>
        </p:txBody>
      </p:sp>
      <p:sp>
        <p:nvSpPr>
          <p:cNvPr id="4" name="AutoShape 2" descr="data:image/png;base64,iVBORw0KGgoAAAANSUhEUgAAAT0AAACfCAMAAAC85v7+AAAB4FBMVEXz8/PQ6Mf/yCf+ySXy9PMAAAD29vbS58fy8vL5+fny9fH8/Py8vLzz8/bs8OzS5srn5+ckjUVAQECEhITj7dvV5s7y+O723I7+xyz49ev43Yr6xjn8ySjN6sXi8NnX19ehoaGWlpYjj0Th8eb768Kurq7Dw8OqqqrKysq3t7d8fHzyx1SezbPJycnj4+OSkpL799b89doXhD2KvZZNTU1gYGBZWVlvb29KSkpEl1un0rEbhDr/zDfyx1bv//w+j1szMzPt/+3b99iWgkD/y0v/0kSbqZj7zh8mFQAeCwC7zbhPWEyNkYbq//nt/+gkJCQWFhb04J3t6bpZkW1BmVkxhVV5sJK338J1uImu1cbH5dQ6ik4TeS6u5MMifDt2pIjtzUhRhlndtVGRx6Fdr3TJoj/FvqFMl2eLyaLY/OoAaievkTgwJQBSPR1lSxqTcincuzJYSCK2ya08IhGEbTuumToAABOvhziDlH1jbmElLiVsWTuRdDWGeFo3LCOpkk5XRRuxxLmkjVbhr0zNp1UaIxd0gG3xx2THsUItJRiVoZGesZVaQyS/lTUyJR9/bigzPi/Np2SVfCNyg2mFYjqgj1uhkUJPTCRcOhdSRzUuBgD/x1ooGwDMtGcaAA3UpCvIqfl3AAAUC0lEQVR4nO2djUPa1t7Hg3hCQnBEEZY7Igk4EFBhoyJVEAuCVpDqXVdttWPOPj7M29lV56a03dYXy9q63nX32b3P3d3u/FfvOQEpQoIhxrfnyVclbySEj79zfuf8zkswTJMmTZo0adKkSZMmTZr+n4ikKBzDKfQK1+ELXCXP+qYuinB+tstD0pHZcAAn+7oGcfry5SG3hk+WcBPg/X3UlVm+aw6jrsxFqACwBIEbP+sbuxDC3cBJUxzwoL8A4AERAIMUcGrGJ0t4EAB+EARwAvj6ZjkwSIPLXYDTbE+eCDICOOCmTIALAwAsNPD3EZrpyRLJg8jsEBUGEXCZBn2EBdDAROG4ZnuyRPD+IIHjfMSJcUEC/sEfXKMnVyRFwvIeSZI4TmIEBpcwM9TwHUcaO02aNGnSpEmTJk2aNGnSpEmTJk2nLeKsb+BCCidxjEKRURyncEJj2JJwr9+DBS0EGcQCFiehmWBLosIB2uLl/PSQx9Nn4nGNXisi6LB7mMLDfU6/dzgc0Oi1pr7AcB/vc4a5sKmPOuubuWgiOD5A+tyYl+K8nOY1WhRBkjiB4xhqlNRaIY8WKqIc2hZey2WWs7ifCyU84OzDocGh1m9IDi4okiNJE437UIs4+sFIYT+pwWwQ7uVNPMfjJt5rwj0Y76Gdg1e8VIQ3hUneRDs5H0874X4nzXs0fPXCua4wdzno9A86w7iFD4aDTiJMUP5gJOi2hJ1B8oqX6Bty+8K8ZZg+65s9d8K9bn/gsmnQ73VGOL/TCW3PGcEpv9sZdAdNRJ8lMMQ7w95hDx/0nG8P3KGu2mV9aIALDHqctM/i5Jw+jPcNwsTqIX0EYSJ4N+fk+L6A0+eBhWfe3aobaTe2qyaj0dZubPph1XdW3g9Vt6tyoGGjbhcSup6s74g6SJEYSbspwUEgX4v8B1bZEDyKNxikSbLFnlTtf1JTNpvR1gTdO73dqqpXHry3EJseRD0gW6NnvPbn99TUu+9+JG18eK/VYDabDWpJZ21q6I2fL9ht03e0aHsfjjFQbW1t5cXbDZFdRx1va9MzzLvSt9fRLaDTqSWDVdrQRWSUVCtXqaPXpte3qSZ923vS96I+vZa+d/v5p6dvQg/v1hnUpNdiyrVJy9haBlrVB/2nSk+nLr3GlIucKS7mHzo6ro+Mj4+MjHw8gvTxx+XlOFq9MRBXFmv5oF+vJj1G/670Z+GOE6VH0DhNc4EAh/7qP9vWa1y8Ecp3VuVyVVfz84lEryJ8HyyrCe9oeqrqED08YKGGuIjFFIT1Bne4rvgRv7GQW8hHO0WUv5lLXL+FEQpSL7I9Fem16Zv43JOmF+7rotweiuOpMDeMHaZnWwot5BaXXA3sXNGbufj126O4zJJ3PT31yOmR7Z0dPQt2GdIjvU5q2EPX0xsP5RcoEXyhS4ncfCg6iiu0PTXpNbc96HPVhNdzON8L8JSfMg2SnJuyUKih8VDKHe8MRRfii0vRw5le6GbO9mnUFT0Ptqdv078n/VnI554gPVRtFWqvsEpb3q6lt4RQfRJfzLsQPFdNsp2HvkSjhxHIbyKbq7RwN9KLQnxLLtcBPQgvkfs05EL0OhTRgz5XLb9xFL0OlUvL9fSq/6WD5eGUK2ghvpCv0oPwbAI8gV7L7MhTtT2V6fVI0RNThZ4LJd5KtucK3Uwk5st+REi5hHwJ/5wwB23vgtLrQfRwuTqwvWjnLWohX7G8Ndv1UMUKR0nZlzoQyc2qT69ZjEXNugaiZ5IrjqrQQ2k0vnij09Xpupkjuz+r0gvIvlZVHn56RWV6zUssatbUID2/RZ78pvgSSq6hzugdW6+Zgp43+l9ruYxt7UbIVc73OLnXqr0sWGXVpHdETa1HVXqwtEzKFF6m1xm6E+8t3P4ksfjZPKye5e8kkuOCD4mOUpTcawmCb6fwrv8ea1PT555mlADRa6/m4UeoTA9a3loBFlQ+iefiufm8KzQKra9TKLGQLUf5yWHfh/0Xmh7WEr3o5/G1j6Mwy8uPLi5ez0NsoTtU77hgey3TQ+1JkJ5qAb5TpofqubK/Miwtu6KX4muFipeIRkOdyOjyo4kkBNsyvbJUtr2mXgNTPbbcCj0XchgjrrowQSgE8z7oeSE9RTW106OndpSgNXow2eYKdfDQVh5CvRFVSk/lmtoRJZYzo3djIL420hjeQ/hGbcnxW5Sq9PQsWynLMAzDxpjyGsuiKBRqeRSn1zzfk6ZnQK1twko1ZR+dxntaoGdciCcKoZAIvKUlhG8Rx9Wkx+rZdMqOILGxVIqdQmzYsmKxGCtWSjyKHqxrmCXgGaxQB+3kB/AMtdvHpIfhHYXbUNGKDtZCoVA+9JeFHK5oQhbplBu7+wVYX9XD5TpY305DNvZ7X8bYqfuPNzbubadUpGeApjeZze4genvZrlIGscv4n8D9m6XSzExGDXpYe6+03lHcIilBj9kGE3cffhWLbYOtr7fARIpht78BY4z+Bdja3gL37FL0mvclkKC3A4olUDQIywcgAzGWwGWHwTAJisUusKcKPSmhY8rgSdOzP/yiHyZSZhlspafSj0A/E3v87Xd3WWYFvGDT3wNxekd4DfFUCOm9KTpQyt0EMw6z+U1XUueYm4EQdZPArHNksydNT6kky3uxCfBoLMYyd8EKw+j7wV12DOxuPU4zz8CLqZhCeuIUDAZz9sETqw6ZoBUuJkGmZxOYwSsHXLUaksU3atDDDuzs8Otx4EnTY5Z/AmCrP/YUPIOuox9MTN39JrUK+tln4Onu939sxBpPkhMlkKCXmQVDk1ZD8bkD0suAjK7UlSx1IXoZ6xNQVIVePbe3u06AHpse2wLTY98D1MvqBzCRfvzr9xPgbuwZmJu7+lOKbXS7iukhnzv5AJR0xQcOM6L3RPe8tPkKWCE9KAl4LdNTXx9KxVgYto2JvQC78HdKH9sFq/1gfWPj5UYK5nuoKCNSZlFKD8LT9fQkS8AMUy6k9wqYN+G/aA68SsKUC9OyxGlnTq9Dkp59G2Zvu2A3/fLlMtu//lVqG4zZobfoXwGrU9AaRc5RTE9n3tMZHDCVZsCOw2x9kO0pPeju7h7OInpS7M4BvSa2twE2NsCPqdiLuekNAO6nf4Qeg+kH2yuSAVXlsWUzeF7yg6KjewaELbNgsweUoM1Bh4voSeoc0OsXJ9HGpFcfbe2m9Pqp1Paj7eWp2N37qJ7x+llq2z6lOj1rKZt9BYE5JovZkrlns4hKyNbi5mZRonZyPuhJtkgy+ilYJWNgYmRgvYxlpmBOJ/yiLYmqsYx6rjg9idrYETXdc0BPrE2tsksP67pVTgIzFDvQCzuV0OuQjFAZaoMDTYldHHps2crKpNAGCh0IENtEDVZpPbenByITo2c+guT5o8fYU6lUDPWAL5PSo5iUsM4yr18zbDlGpRe6yVf+jkuvFlPVCJE57pjf7hVL8mdPry7f0+9+991fv/upH0XyYBan15cJTkGxscfAziKwAiaBIIr91dJr6jVEowQGw96b59knsL5RjUod8NoEmxVTNJjPJ736uob+ZzDx9dfgXko/lU6zyGXEYggcdCAsk+oX4ntwGyqN/AhcsHq59MQj83ugNDP83Go2GyoDYQ6sLQnpCdh0lSMXgN6/wf5U+ilIpV/ce3w3rWfvbz1+ZI89u7e+HWNefxn729cQ2E/7sZV7/7xrZ1e3V9dft0KvUcniFUcPCrCYn5ReQYKT1snSpllnzuzsoEquIzMzkzGbJzOb/9NYam6FXkeH8WBYnNFoq46Pq6yrRe9n0B9b3rqaWgW/PAXbsLaxMfHj8i745e/gH8vfTqe3XqZjq6jC8fApeDT1t29ebu3X0lPQ63sH7JjNsKRXBKXnResmeNN1BWQMGTAbngMZWFwuZuFmNguyDam+FZ/bXtvLB/I6tKE4VCBC7+FP/wu2U+sPU/1Pvxr74tdULGZff/jD8sQXy99eTa+AlfQv/0w//nWs/+/T6W3wwv7WbyiiZzAXAdixQmyZa1aQ2QQz3VYw4yg+tzqegIzu+UzyWraUzAKrocH2WqFnG6jR6Oho7caAki7LUvS2tsDP6dTV6X9Ng99/ABMxpm0ZXIUbf4x9e9WefvkodXV7+erc9PQcgPTsNScrsz2dIVMED6wlkIUGNoniK8m5GceDkln3BMHMZodns8lsUSTHlE+vowOfz6MWDEHVFg20HsrfvmS0tTq8T4Ie8zN49ttXP6bTvz9cXV3d/w3RY1JgC67vp6HtxR6t/xtmild/3X2xuhr7x3SKrafXcp95M7KyvR0wA5WB9HogPfNzf4Ve8dXMzCSkJ3KibHodxr3exCWxBrVOlyt6J+6Yjyum11ZHb595AXbT916OwYJf6vHc2PL91C8vf4CFwPS3v6eZFVDciMW2wEqqP8VMTKcO254Sn5sxw1xubw88cTiscG0S0UtmrziS0Gvo5kpJ5FKOSS+xVLiWuCk21gXCy60VCnFlQ+rr2zX0u2C/Lb1xdXnsd7D+x5exlelv1sH+/a/A+jfbsV+m7W2pdRRj+W0dHn0EU25Kz1YrHsoi89AfFMGV7u4sKBazVkjPkAQlaI3Z4nOQcUyCbOnNE8fl46Xc3Lir0Ju7lG+kBy1vbSRUOM44tVp69n07y9j3Y2xq9fV+Ws/AxTM7a199vZpm9vfZNub+qh2aaOr19mu4ez+mZ9kaeq23hsPScqk0iZpzJ0uljNW6A8snO5uwpFKase5AX5wpFeHRyb3j0GuH9DqvJxJ1+FDPs8/jiUJnqJBTh145FxT26IX2b/hbqbbBaoXwxsq7he4EbKUCLIueRL/l2iKyrtKtwIyEIvbmisSCBy3Rc0ULyWuXoqE6y4PJthPR61A2yq9pPxZ9zUFWrKcay6BeBzJtr2mv7x4o4fUQz7fBA7EzZPeZz40jSyusJT7Pd9b0Zbk9kFsbQbkhsj316Ql9VvRVNiL0ylhVoNdcImf1tEgPutfrvbk7+QN6qNNevLcguJKToteKjo4SqN1n3obLegxaR7xMz1VIJD6PVtihokpvoZySRy4APfX7zNsIXk4xrUwPDXK5nkx8flvoxFe2vIohKqV3uv2WVe8zf1nOs0dxgZ7QNz7/qS13J9qZR+U8suN6tDLkD9JTwO606and63uIJwL00Qoc0AuNJ3M56DqWOm+P5to7FpcqBZeRnIyriOhDdVPu6dKbBENdskRVUu74mu3W9TXoOvKjccdnt3JJ1IMepdy4U96F6nTlwtKDZRvrjJ+SpUq+N7IWX4hGC72JgVs5x4grdCu+eCPUCS1xJCfvOvU67V7fKvtcS0SO0y17jejSmm0A5nihz9biCcc4TLH5gURyKZTPQ3rKgiwXt8+8QI/k5MyX3I7oIXijQgElunSzIOR4nfnRaxAfyvcwuSMj6+hd2D7zwkgrWROdQ3qh6HhvfPRgUoJqifn2ALU2HgoVjBKXQbwoEiVSYdrSE6antM+8UnrynlRgjI9Dy6MGGmIsLld+IJdcykvFWEgPwXFB3s3zaOJDspGeuiPrFbbnKqYnL68y5sY/XqNGb4uE91yh0Ws9S4W4+ImUhXB76AhBRGiPz+1umNxQ5ZH1p0lPJ5ee0Zj7dDHeaHkHtV3b4nxO/BGwlMU/7MH8OOknPOFw4zOKT5eeeJ/5E6eHGW3GgUqjRqP+MmCz2aTo0W4T7iepCGbyUaL5npr0FPWZP3F6xnajbW/+koTm996xGcWn1cRNMN/DPSTuwziObHS6H0j13zsReqqyk01PmPWx/aCEKzJwvNy+K3bHaD5XjMQIHBMtsgj0TrGuoaZ6ZNPDjE3Kc/C41LgNvEwNI8rzMonSO80Yy5nQK4OQluSol1piYvROd2z4GdJrxq/ZSKu3wBqdxqnH986QnjQfxaeqbHtHeA1Vo6MK6eHo2SQUJsyTRpV3KIUnPeJAKb0mcwGpPWurInqExU/7/EGSs1BBi5MUn+JVNr1qyq0wFGFZu0vfdONU2zWU0QsM09QQ5fQ6Izj8oUUysxZUjRJUvvxhVanUb0gdaGPebTIH8jmgh5PcsCdM+dzDEY/fwpMtT45+mN4yGrqCeguUOwSwbMPwvUO7Dh2uO4AWzemZVZVBCb0A7zRFfGETT0ciBF43v2aLav9gjLWrqdifm30c8Y66UjDJOc55cWKQpmmSC2AY0VCQaelif3r//Y8+el81ffTRhx3Nbl16pnxlahke1lDsPQY99NAP9IyUdvTUFTTYF76WN9BeY/vbh7FgtQ9mMaI3dtS9C0PPDjnieSunTw9VVBvwCczIsrc9hulB40N9xtFE9eVFZdb66lb1PoUnj4gcqq4KK+V/gvRXKfexPqaql5PRW5t0B3kSPfIVI8sPBaMo9EtSOO2k3ByKAcB9GIki70I8oEV85dtAN1J7g7UrB//n+mMHR2rOPSJSflClPD16lIW2cEGe9nvcER8RcdLBCBF00hY3FQDE7KDJTzuDAb/XHQn4/LzJH1D/kWCV5/+IHBFJPkfQw1UA+PbG5NAbjrgtYZ+fiOBhSyDoC5p8fq8zOEQGwn6/aYgPRgY9Ftpr4SMe9xDvlNWrqCW1i0AqS3nWfVoi/YGwJ2LiTH6/N+J0R0xOn9sbDlpMeMA5bDIN+zjvZc4UGeadficxZOJO4nF0kogkbPL8COcwjvaYArB41xcg3V6CC9C+QcpnwgmOCtCBvoDJE+ijvaZAxDdM9wVO4lHOkvTaz7flYW9dKukmUZWWwCoxT2FacOFAua5L9vV5K3FQTVVViyHlHO3wTJsVluXjpPYY5wZVC3JlaI3zlB6nnvt/XkeWg49TU9OkSZMmTZo0adKkSZMmTZo0adKkSZMmTZo0adIk6D9HsTOqnBNaCA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data:image/png;base64,iVBORw0KGgoAAAANSUhEUgAAAT0AAACfCAMAAAC85v7+AAAB4FBMVEXz8/PQ6Mf/yCf+ySXy9PMAAAD29vbS58fy8vL5+fny9fH8/Py8vLzz8/bs8OzS5srn5+ckjUVAQECEhITj7dvV5s7y+O723I7+xyz49ev43Yr6xjn8ySjN6sXi8NnX19ehoaGWlpYjj0Th8eb768Kurq7Dw8OqqqrKysq3t7d8fHzyx1SezbPJycnj4+OSkpL799b89doXhD2KvZZNTU1gYGBZWVlvb29KSkpEl1un0rEbhDr/zDfyx1bv//w+j1szMzPt/+3b99iWgkD/y0v/0kSbqZj7zh8mFQAeCwC7zbhPWEyNkYbq//nt/+gkJCQWFhb04J3t6bpZkW1BmVkxhVV5sJK338J1uImu1cbH5dQ6ik4TeS6u5MMifDt2pIjtzUhRhlndtVGRx6Fdr3TJoj/FvqFMl2eLyaLY/OoAaievkTgwJQBSPR1lSxqTcincuzJYSCK2ya08IhGEbTuumToAABOvhziDlH1jbmElLiVsWTuRdDWGeFo3LCOpkk5XRRuxxLmkjVbhr0zNp1UaIxd0gG3xx2THsUItJRiVoZGesZVaQyS/lTUyJR9/bigzPi/Np2SVfCNyg2mFYjqgj1uhkUJPTCRcOhdSRzUuBgD/x1ooGwDMtGcaAA3UpCvIqfl3AAAUC0lEQVR4nO2djUPa1t7Hg3hCQnBEEZY7Igk4EFBhoyJVEAuCVpDqXVdttWPOPj7M29lV56a03dYXy9q63nX32b3P3d3u/FfvOQEpQoIhxrfnyVclbySEj79zfuf8zkswTJMmTZo0adKkSZMmTZr+n4ikKBzDKfQK1+ELXCXP+qYuinB+tstD0pHZcAAn+7oGcfry5SG3hk+WcBPg/X3UlVm+aw6jrsxFqACwBIEbP+sbuxDC3cBJUxzwoL8A4AERAIMUcGrGJ0t4EAB+EARwAvj6ZjkwSIPLXYDTbE+eCDICOOCmTIALAwAsNPD3EZrpyRLJg8jsEBUGEXCZBn2EBdDAROG4ZnuyRPD+IIHjfMSJcUEC/sEfXKMnVyRFwvIeSZI4TmIEBpcwM9TwHUcaO02aNGnSpEmTJk2aNGnSpEmTJk2nLeKsb+BCCidxjEKRURyncEJj2JJwr9+DBS0EGcQCFiehmWBLosIB2uLl/PSQx9Nn4nGNXisi6LB7mMLDfU6/dzgc0Oi1pr7AcB/vc4a5sKmPOuubuWgiOD5A+tyYl+K8nOY1WhRBkjiB4xhqlNRaIY8WKqIc2hZey2WWs7ifCyU84OzDocGh1m9IDi4okiNJE437UIs4+sFIYT+pwWwQ7uVNPMfjJt5rwj0Y76Gdg1e8VIQ3hUneRDs5H0874X4nzXs0fPXCua4wdzno9A86w7iFD4aDTiJMUP5gJOi2hJ1B8oqX6Bty+8K8ZZg+65s9d8K9bn/gsmnQ73VGOL/TCW3PGcEpv9sZdAdNRJ8lMMQ7w95hDx/0nG8P3KGu2mV9aIALDHqctM/i5Jw+jPcNwsTqIX0EYSJ4N+fk+L6A0+eBhWfe3aobaTe2qyaj0dZubPph1XdW3g9Vt6tyoGGjbhcSup6s74g6SJEYSbspwUEgX4v8B1bZEDyKNxikSbLFnlTtf1JTNpvR1gTdO73dqqpXHry3EJseRD0gW6NnvPbn99TUu+9+JG18eK/VYDabDWpJZ21q6I2fL9ht03e0aHsfjjFQbW1t5cXbDZFdRx1va9MzzLvSt9fRLaDTqSWDVdrQRWSUVCtXqaPXpte3qSZ923vS96I+vZa+d/v5p6dvQg/v1hnUpNdiyrVJy9haBlrVB/2nSk+nLr3GlIucKS7mHzo6ro+Mj4+MjHw8gvTxx+XlOFq9MRBXFmv5oF+vJj1G/670Z+GOE6VH0DhNc4EAh/7qP9vWa1y8Ecp3VuVyVVfz84lEryJ8HyyrCe9oeqrqED08YKGGuIjFFIT1Bne4rvgRv7GQW8hHO0WUv5lLXL+FEQpSL7I9Fem16Zv43JOmF+7rotweiuOpMDeMHaZnWwot5BaXXA3sXNGbufj126O4zJJ3PT31yOmR7Z0dPQt2GdIjvU5q2EPX0xsP5RcoEXyhS4ncfCg6iiu0PTXpNbc96HPVhNdzON8L8JSfMg2SnJuyUKih8VDKHe8MRRfii0vRw5le6GbO9mnUFT0Ptqdv078n/VnI554gPVRtFWqvsEpb3q6lt4RQfRJfzLsQPFdNsp2HvkSjhxHIbyKbq7RwN9KLQnxLLtcBPQgvkfs05EL0OhTRgz5XLb9xFL0OlUvL9fSq/6WD5eGUK2ghvpCv0oPwbAI8gV7L7MhTtT2V6fVI0RNThZ4LJd5KtucK3Uwk5st+REi5hHwJ/5wwB23vgtLrQfRwuTqwvWjnLWohX7G8Ndv1UMUKR0nZlzoQyc2qT69ZjEXNugaiZ5IrjqrQQ2k0vnij09Xpupkjuz+r0gvIvlZVHn56RWV6zUssatbUID2/RZ78pvgSSq6hzugdW6+Zgp43+l9ruYxt7UbIVc73OLnXqr0sWGXVpHdETa1HVXqwtEzKFF6m1xm6E+8t3P4ksfjZPKye5e8kkuOCD4mOUpTcawmCb6fwrv8ea1PT555mlADRa6/m4UeoTA9a3loBFlQ+iefiufm8KzQKra9TKLGQLUf5yWHfh/0Xmh7WEr3o5/G1j6Mwy8uPLi5ez0NsoTtU77hgey3TQ+1JkJ5qAb5TpofqubK/Miwtu6KX4muFipeIRkOdyOjyo4kkBNsyvbJUtr2mXgNTPbbcCj0XchgjrrowQSgE8z7oeSE9RTW106OndpSgNXow2eYKdfDQVh5CvRFVSk/lmtoRJZYzo3djIL420hjeQ/hGbcnxW5Sq9PQsWynLMAzDxpjyGsuiKBRqeRSn1zzfk6ZnQK1twko1ZR+dxntaoGdciCcKoZAIvKUlhG8Rx9Wkx+rZdMqOILGxVIqdQmzYsmKxGCtWSjyKHqxrmCXgGaxQB+3kB/AMtdvHpIfhHYXbUNGKDtZCoVA+9JeFHK5oQhbplBu7+wVYX9XD5TpY305DNvZ7X8bYqfuPNzbubadUpGeApjeZze4genvZrlIGscv4n8D9m6XSzExGDXpYe6+03lHcIilBj9kGE3cffhWLbYOtr7fARIpht78BY4z+Bdja3gL37FL0mvclkKC3A4olUDQIywcgAzGWwGWHwTAJisUusKcKPSmhY8rgSdOzP/yiHyZSZhlspafSj0A/E3v87Xd3WWYFvGDT3wNxekd4DfFUCOm9KTpQyt0EMw6z+U1XUueYm4EQdZPArHNksydNT6kky3uxCfBoLMYyd8EKw+j7wV12DOxuPU4zz8CLqZhCeuIUDAZz9sETqw6ZoBUuJkGmZxOYwSsHXLUaksU3atDDDuzs8Otx4EnTY5Z/AmCrP/YUPIOuox9MTN39JrUK+tln4Onu939sxBpPkhMlkKCXmQVDk1ZD8bkD0suAjK7UlSx1IXoZ6xNQVIVePbe3u06AHpse2wLTY98D1MvqBzCRfvzr9xPgbuwZmJu7+lOKbXS7iukhnzv5AJR0xQcOM6L3RPe8tPkKWCE9KAl4LdNTXx9KxVgYto2JvQC78HdKH9sFq/1gfWPj5UYK5nuoKCNSZlFKD8LT9fQkS8AMUy6k9wqYN+G/aA68SsKUC9OyxGlnTq9Dkp59G2Zvu2A3/fLlMtu//lVqG4zZobfoXwGrU9AaRc5RTE9n3tMZHDCVZsCOw2x9kO0pPeju7h7OInpS7M4BvSa2twE2NsCPqdiLuekNAO6nf4Qeg+kH2yuSAVXlsWUzeF7yg6KjewaELbNgsweUoM1Bh4voSeoc0OsXJ9HGpFcfbe2m9Pqp1Paj7eWp2N37qJ7x+llq2z6lOj1rKZt9BYE5JovZkrlns4hKyNbi5mZRonZyPuhJtkgy+ilYJWNgYmRgvYxlpmBOJ/yiLYmqsYx6rjg9idrYETXdc0BPrE2tsksP67pVTgIzFDvQCzuV0OuQjFAZaoMDTYldHHps2crKpNAGCh0IENtEDVZpPbenByITo2c+guT5o8fYU6lUDPWAL5PSo5iUsM4yr18zbDlGpRe6yVf+jkuvFlPVCJE57pjf7hVL8mdPry7f0+9+991fv/upH0XyYBan15cJTkGxscfAziKwAiaBIIr91dJr6jVEowQGw96b59knsL5RjUod8NoEmxVTNJjPJ736uob+ZzDx9dfgXko/lU6zyGXEYggcdCAsk+oX4ntwGyqN/AhcsHq59MQj83ugNDP83Go2GyoDYQ6sLQnpCdh0lSMXgN6/wf5U+ilIpV/ce3w3rWfvbz1+ZI89u7e+HWNefxn729cQ2E/7sZV7/7xrZ1e3V9dft0KvUcniFUcPCrCYn5ReQYKT1snSpllnzuzsoEquIzMzkzGbJzOb/9NYam6FXkeH8WBYnNFoq46Pq6yrRe9n0B9b3rqaWgW/PAXbsLaxMfHj8i745e/gH8vfTqe3XqZjq6jC8fApeDT1t29ebu3X0lPQ63sH7JjNsKRXBKXnResmeNN1BWQMGTAbngMZWFwuZuFmNguyDam+FZ/bXtvLB/I6tKE4VCBC7+FP/wu2U+sPU/1Pvxr74tdULGZff/jD8sQXy99eTa+AlfQv/0w//nWs/+/T6W3wwv7WbyiiZzAXAdixQmyZa1aQ2QQz3VYw4yg+tzqegIzu+UzyWraUzAKrocH2WqFnG6jR6Oho7caAki7LUvS2tsDP6dTV6X9Ng99/ABMxpm0ZXIUbf4x9e9WefvkodXV7+erc9PQcgPTsNScrsz2dIVMED6wlkIUGNoniK8m5GceDkln3BMHMZodns8lsUSTHlE+vowOfz6MWDEHVFg20HsrfvmS0tTq8T4Ie8zN49ttXP6bTvz9cXV3d/w3RY1JgC67vp6HtxR6t/xtmild/3X2xuhr7x3SKrafXcp95M7KyvR0wA5WB9HogPfNzf4Ve8dXMzCSkJ3KibHodxr3exCWxBrVOlyt6J+6Yjyum11ZHb595AXbT916OwYJf6vHc2PL91C8vf4CFwPS3v6eZFVDciMW2wEqqP8VMTKcO254Sn5sxw1xubw88cTiscG0S0UtmrziS0Gvo5kpJ5FKOSS+xVLiWuCk21gXCy60VCnFlQ+rr2zX0u2C/Lb1xdXnsd7D+x5exlelv1sH+/a/A+jfbsV+m7W2pdRRj+W0dHn0EU25Kz1YrHsoi89AfFMGV7u4sKBazVkjPkAQlaI3Z4nOQcUyCbOnNE8fl46Xc3Lir0Ju7lG+kBy1vbSRUOM44tVp69n07y9j3Y2xq9fV+Ws/AxTM7a199vZpm9vfZNub+qh2aaOr19mu4ez+mZ9kaeq23hsPScqk0iZpzJ0uljNW6A8snO5uwpFKase5AX5wpFeHRyb3j0GuH9DqvJxJ1+FDPs8/jiUJnqJBTh145FxT26IX2b/hbqbbBaoXwxsq7he4EbKUCLIueRL/l2iKyrtKtwIyEIvbmisSCBy3Rc0ULyWuXoqE6y4PJthPR61A2yq9pPxZ9zUFWrKcay6BeBzJtr2mv7x4o4fUQz7fBA7EzZPeZz40jSyusJT7Pd9b0Zbk9kFsbQbkhsj316Ql9VvRVNiL0ylhVoNdcImf1tEgPutfrvbk7+QN6qNNevLcguJKToteKjo4SqN1n3obLegxaR7xMz1VIJD6PVtihokpvoZySRy4APfX7zNsIXk4xrUwPDXK5nkx8flvoxFe2vIohKqV3uv2WVe8zf1nOs0dxgZ7QNz7/qS13J9qZR+U8suN6tDLkD9JTwO606and63uIJwL00Qoc0AuNJ3M56DqWOm+P5to7FpcqBZeRnIyriOhDdVPu6dKbBENdskRVUu74mu3W9TXoOvKjccdnt3JJ1IMepdy4U96F6nTlwtKDZRvrjJ+SpUq+N7IWX4hGC72JgVs5x4grdCu+eCPUCS1xJCfvOvU67V7fKvtcS0SO0y17jejSmm0A5nihz9biCcc4TLH5gURyKZTPQ3rKgiwXt8+8QI/k5MyX3I7oIXijQgElunSzIOR4nfnRaxAfyvcwuSMj6+hd2D7zwkgrWROdQ3qh6HhvfPRgUoJqifn2ALU2HgoVjBKXQbwoEiVSYdrSE6antM+8UnrynlRgjI9Dy6MGGmIsLld+IJdcykvFWEgPwXFB3s3zaOJDspGeuiPrFbbnKqYnL68y5sY/XqNGb4uE91yh0Ws9S4W4+ImUhXB76AhBRGiPz+1umNxQ5ZH1p0lPJ5ee0Zj7dDHeaHkHtV3b4nxO/BGwlMU/7MH8OOknPOFw4zOKT5eeeJ/5E6eHGW3GgUqjRqP+MmCz2aTo0W4T7iepCGbyUaL5npr0FPWZP3F6xnajbW/+koTm996xGcWn1cRNMN/DPSTuwziObHS6H0j13zsReqqyk01PmPWx/aCEKzJwvNy+K3bHaD5XjMQIHBMtsgj0TrGuoaZ6ZNPDjE3Kc/C41LgNvEwNI8rzMonSO80Yy5nQK4OQluSol1piYvROd2z4GdJrxq/ZSKu3wBqdxqnH986QnjQfxaeqbHtHeA1Vo6MK6eHo2SQUJsyTRpV3KIUnPeJAKb0mcwGpPWurInqExU/7/EGSs1BBi5MUn+JVNr1qyq0wFGFZu0vfdONU2zWU0QsM09QQ5fQ6Izj8oUUysxZUjRJUvvxhVanUb0gdaGPebTIH8jmgh5PcsCdM+dzDEY/fwpMtT45+mN4yGrqCeguUOwSwbMPwvUO7Dh2uO4AWzemZVZVBCb0A7zRFfGETT0ciBF43v2aLav9gjLWrqdifm30c8Y66UjDJOc55cWKQpmmSC2AY0VCQaelif3r//Y8+el81ffTRhx3Nbl16pnxlahke1lDsPQY99NAP9IyUdvTUFTTYF76WN9BeY/vbh7FgtQ9mMaI3dtS9C0PPDjnieSunTw9VVBvwCczIsrc9hulB40N9xtFE9eVFZdb66lb1PoUnj4gcqq4KK+V/gvRXKfexPqaql5PRW5t0B3kSPfIVI8sPBaMo9EtSOO2k3ByKAcB9GIki70I8oEV85dtAN1J7g7UrB//n+mMHR2rOPSJSflClPD16lIW2cEGe9nvcER8RcdLBCBF00hY3FQDE7KDJTzuDAb/XHQn4/LzJH1D/kWCV5/+IHBFJPkfQw1UA+PbG5NAbjrgtYZ+fiOBhSyDoC5p8fq8zOEQGwn6/aYgPRgY9Ftpr4SMe9xDvlNWrqCW1i0AqS3nWfVoi/YGwJ2LiTH6/N+J0R0xOn9sbDlpMeMA5bDIN+zjvZc4UGeadficxZOJO4nF0kogkbPL8COcwjvaYArB41xcg3V6CC9C+QcpnwgmOCtCBvoDJE+ijvaZAxDdM9wVO4lHOkvTaz7flYW9dKukmUZWWwCoxT2FacOFAua5L9vV5K3FQTVVViyHlHO3wTJsVluXjpPYY5wZVC3JlaI3zlB6nnvt/XkeWg49TU9OkSZMmTZo0adKkSZMmTZo0adKkSZMmTZo0adIk6D9HsTOqnBNaC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Content Placeholder 2"/>
          <p:cNvSpPr txBox="1">
            <a:spLocks noChangeArrowheads="1"/>
          </p:cNvSpPr>
          <p:nvPr/>
        </p:nvSpPr>
        <p:spPr bwMode="auto">
          <a:xfrm>
            <a:off x="1134533" y="980728"/>
            <a:ext cx="7704667" cy="1863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marL="285750" indent="-2857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fontAlgn="base" hangingPunct="1">
              <a:spcBef>
                <a:spcPct val="20000"/>
              </a:spcBef>
              <a:spcAft>
                <a:spcPts val="600"/>
              </a:spcAft>
              <a:buClr>
                <a:srgbClr val="316886"/>
              </a:buClr>
              <a:buSzPct val="14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l-GR" sz="2400" dirty="0" smtClean="0"/>
              <a:t>SOAP: </a:t>
            </a:r>
            <a:r>
              <a:rPr lang="el-GR" sz="2400" dirty="0" err="1" smtClean="0"/>
              <a:t>Simple</a:t>
            </a:r>
            <a:r>
              <a:rPr lang="el-GR" sz="2400" dirty="0" smtClean="0"/>
              <a:t> Object Access </a:t>
            </a:r>
            <a:r>
              <a:rPr lang="el-GR" sz="2400" dirty="0" err="1" smtClean="0"/>
              <a:t>Protocol</a:t>
            </a:r>
            <a:endParaRPr lang="en-US" sz="2400" dirty="0" smtClean="0"/>
          </a:p>
          <a:p>
            <a:pPr lvl="1"/>
            <a:r>
              <a:rPr lang="el-GR" sz="2000" dirty="0" smtClean="0"/>
              <a:t>SOAP είναι ένα πρωτόκολλο για την ανταλλαγή XML-τύπου μηνυμάτων σε δίκτυα υπολογιστών.</a:t>
            </a:r>
            <a:endParaRPr lang="en-US" sz="2000" dirty="0" smtClean="0"/>
          </a:p>
          <a:p>
            <a:pPr lvl="1"/>
            <a:r>
              <a:rPr lang="el-GR" sz="2000" dirty="0" smtClean="0"/>
              <a:t>Χρησιμοποιείται από τα Web </a:t>
            </a:r>
            <a:r>
              <a:rPr lang="el-GR" sz="2000" dirty="0" err="1" smtClean="0"/>
              <a:t>Services</a:t>
            </a:r>
            <a:endParaRPr lang="en-US" sz="2000" dirty="0" smtClean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861346"/>
            <a:ext cx="4860032" cy="1863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226840"/>
            <a:ext cx="7550307" cy="2274168"/>
          </a:xfrm>
        </p:spPr>
        <p:txBody>
          <a:bodyPr>
            <a:normAutofit/>
          </a:bodyPr>
          <a:lstStyle/>
          <a:p>
            <a:r>
              <a:rPr lang="el-GR" sz="2400" dirty="0" smtClean="0"/>
              <a:t>Το </a:t>
            </a:r>
            <a:r>
              <a:rPr lang="el-GR" sz="2400" b="1" dirty="0"/>
              <a:t>REST</a:t>
            </a:r>
            <a:r>
              <a:rPr lang="el-GR" sz="2400" dirty="0"/>
              <a:t> </a:t>
            </a:r>
            <a:r>
              <a:rPr lang="en-US" sz="2400" dirty="0"/>
              <a:t>(Representational State Transfer) </a:t>
            </a:r>
            <a:r>
              <a:rPr lang="el-GR" sz="2400" dirty="0" smtClean="0"/>
              <a:t>είναι </a:t>
            </a:r>
            <a:r>
              <a:rPr lang="el-GR" sz="2400" dirty="0"/>
              <a:t>ένα αρχιτεκτονικό στυλ λογισμικού που καθορίζει </a:t>
            </a:r>
            <a:r>
              <a:rPr lang="el-GR" sz="2400" i="1" dirty="0"/>
              <a:t>ένα σύνολο περιορισμών </a:t>
            </a:r>
            <a:r>
              <a:rPr lang="el-GR" sz="2400" dirty="0"/>
              <a:t>που θα πρέπει να λάβουμε υπόψη κατά την δημιουργία των διαδικτυακών υπηρεσιών </a:t>
            </a:r>
            <a:endParaRPr lang="en-US" sz="2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49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10DCEE3B-7A19-BE79-3562-C1BC7A641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3501008"/>
            <a:ext cx="6912768" cy="296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3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dirty="0"/>
              <a:t>REST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124744"/>
            <a:ext cx="7704667" cy="4536504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smtClean="0"/>
              <a:t>Restful </a:t>
            </a:r>
            <a:r>
              <a:rPr lang="en-US" sz="2400" b="1" dirty="0"/>
              <a:t>Web Service: </a:t>
            </a:r>
            <a:r>
              <a:rPr lang="el-GR" sz="2400" dirty="0"/>
              <a:t>«ελαφριές», εύκολα διατηρήσιμες και κλιμακούμενες υπηρεσίες που έχουν αναπτυχτεί με βάσει τις </a:t>
            </a:r>
            <a:r>
              <a:rPr lang="en-US" sz="2400" dirty="0"/>
              <a:t>REST </a:t>
            </a:r>
            <a:r>
              <a:rPr lang="el-GR" sz="2400" dirty="0"/>
              <a:t>αρχές</a:t>
            </a:r>
            <a:endParaRPr lang="en-US" sz="2400" dirty="0"/>
          </a:p>
          <a:p>
            <a:pPr lvl="1">
              <a:lnSpc>
                <a:spcPct val="120000"/>
              </a:lnSpc>
            </a:pPr>
            <a:r>
              <a:rPr lang="en-US" sz="2000" dirty="0"/>
              <a:t>Restful Web Service</a:t>
            </a:r>
            <a:r>
              <a:rPr lang="el-GR" sz="2000" dirty="0"/>
              <a:t>: παρέχουν μια διεπαφή (</a:t>
            </a:r>
            <a:r>
              <a:rPr lang="en-US" sz="2000" b="1" dirty="0"/>
              <a:t>API</a:t>
            </a:r>
            <a:r>
              <a:rPr lang="el-GR" sz="2000" dirty="0"/>
              <a:t>) μέσω της οποίας ο χρήστης μπορεί να χρησιμοποιεί τις παρεχόμενες υπηρεσίες με έναν ενιαίο και ασφαλής </a:t>
            </a:r>
            <a:r>
              <a:rPr lang="el-GR" sz="2000" dirty="0" smtClean="0"/>
              <a:t>τρόπο</a:t>
            </a:r>
            <a:endParaRPr lang="en-US" sz="2000" dirty="0" smtClean="0"/>
          </a:p>
          <a:p>
            <a:pPr lvl="1">
              <a:lnSpc>
                <a:spcPct val="120000"/>
              </a:lnSpc>
            </a:pPr>
            <a:endParaRPr lang="en-US" sz="600" dirty="0"/>
          </a:p>
          <a:p>
            <a:r>
              <a:rPr lang="el-GR" sz="2400" dirty="0"/>
              <a:t>Χρησιμοποιεί</a:t>
            </a:r>
            <a:r>
              <a:rPr lang="en-US" sz="2400" dirty="0"/>
              <a:t> </a:t>
            </a:r>
            <a:r>
              <a:rPr lang="en-US" sz="2400" b="1" dirty="0"/>
              <a:t>JSON</a:t>
            </a:r>
            <a:r>
              <a:rPr lang="en-US" sz="2400" dirty="0"/>
              <a:t> </a:t>
            </a:r>
            <a:r>
              <a:rPr lang="el-GR" sz="2400" dirty="0"/>
              <a:t>ή</a:t>
            </a:r>
            <a:r>
              <a:rPr lang="en-US" sz="2400" dirty="0"/>
              <a:t> </a:t>
            </a:r>
            <a:r>
              <a:rPr lang="en-US" sz="2400" b="1" dirty="0" smtClean="0"/>
              <a:t>XML</a:t>
            </a:r>
          </a:p>
          <a:p>
            <a:endParaRPr lang="en-US" sz="600" b="1" dirty="0"/>
          </a:p>
          <a:p>
            <a:r>
              <a:rPr lang="el-GR" sz="2400" dirty="0"/>
              <a:t>Βασίζεται στο</a:t>
            </a:r>
            <a:r>
              <a:rPr lang="en-US" sz="2400" dirty="0"/>
              <a:t> </a:t>
            </a:r>
            <a:r>
              <a:rPr lang="en-US" sz="2400" b="1" dirty="0"/>
              <a:t>HTTP</a:t>
            </a:r>
            <a:r>
              <a:rPr lang="el-GR" sz="2400" b="1" dirty="0"/>
              <a:t> </a:t>
            </a:r>
            <a:r>
              <a:rPr lang="el-GR" sz="2400" dirty="0"/>
              <a:t>πρωτόκολλο</a:t>
            </a:r>
            <a:r>
              <a:rPr lang="en-US" sz="2400" dirty="0"/>
              <a:t>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3FF2DE75-5C4E-44DA-A255-991F9CAEED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2747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7640"/>
            <a:ext cx="7704667" cy="1981200"/>
          </a:xfrm>
        </p:spPr>
        <p:txBody>
          <a:bodyPr/>
          <a:lstStyle/>
          <a:p>
            <a:r>
              <a:rPr lang="en-US" dirty="0"/>
              <a:t>REST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340768"/>
            <a:ext cx="7550307" cy="5517232"/>
          </a:xfrm>
        </p:spPr>
        <p:txBody>
          <a:bodyPr>
            <a:normAutofit fontScale="85000" lnSpcReduction="10000"/>
          </a:bodyPr>
          <a:lstStyle/>
          <a:p>
            <a:r>
              <a:rPr lang="en-US" sz="2000" b="1" dirty="0"/>
              <a:t>Client – Server</a:t>
            </a:r>
          </a:p>
          <a:p>
            <a:pPr lvl="1"/>
            <a:r>
              <a:rPr lang="el-GR" sz="1800" dirty="0"/>
              <a:t>Διαχωρισμός του Γραφικού Περιβάλλοντος από </a:t>
            </a:r>
            <a:r>
              <a:rPr lang="el-GR" sz="1800" dirty="0" smtClean="0"/>
              <a:t>τη</a:t>
            </a:r>
            <a:r>
              <a:rPr lang="el-GR" sz="1800" dirty="0"/>
              <a:t>ν</a:t>
            </a:r>
            <a:r>
              <a:rPr lang="el-GR" sz="1800" dirty="0" smtClean="0"/>
              <a:t> </a:t>
            </a:r>
            <a:r>
              <a:rPr lang="el-GR" sz="1800" dirty="0"/>
              <a:t>Αποθήκευση των Δεδομένων</a:t>
            </a:r>
            <a:endParaRPr lang="en-US" sz="1800" dirty="0"/>
          </a:p>
          <a:p>
            <a:r>
              <a:rPr lang="en-US" sz="2000" b="1" dirty="0"/>
              <a:t>Stateless</a:t>
            </a:r>
          </a:p>
          <a:p>
            <a:pPr lvl="1"/>
            <a:r>
              <a:rPr lang="el-GR" sz="1800" dirty="0"/>
              <a:t>Κάθε αίτημα θα πρέπει να περιέχει όλα τα απαραίτητα δεδομένα</a:t>
            </a:r>
            <a:endParaRPr lang="en-US" sz="1800" dirty="0"/>
          </a:p>
          <a:p>
            <a:r>
              <a:rPr lang="en-US" sz="2000" b="1" dirty="0"/>
              <a:t>Cacheable – Implicitly / Explicitly  </a:t>
            </a:r>
          </a:p>
          <a:p>
            <a:pPr lvl="1"/>
            <a:r>
              <a:rPr lang="el-GR" sz="1800" dirty="0"/>
              <a:t>Ο πελάτης έχει το δικαίωμα να επαναχρησιμοποιήσει τα δεδομένα που έχει λάβει</a:t>
            </a:r>
            <a:endParaRPr lang="en-US" sz="1800" dirty="0"/>
          </a:p>
          <a:p>
            <a:r>
              <a:rPr lang="en-US" sz="2000" b="1" dirty="0"/>
              <a:t>Uniform Interface</a:t>
            </a:r>
          </a:p>
          <a:p>
            <a:pPr lvl="1"/>
            <a:r>
              <a:rPr lang="el-GR" sz="1800" dirty="0"/>
              <a:t>Χρήση </a:t>
            </a:r>
            <a:r>
              <a:rPr lang="en-US" sz="1800" dirty="0"/>
              <a:t>URI, HTTP verbs</a:t>
            </a:r>
            <a:r>
              <a:rPr lang="el-GR" sz="1800" dirty="0"/>
              <a:t> και</a:t>
            </a:r>
            <a:r>
              <a:rPr lang="en-US" sz="1800" dirty="0"/>
              <a:t> HTTP responses</a:t>
            </a:r>
          </a:p>
          <a:p>
            <a:r>
              <a:rPr lang="en-US" sz="2000" b="1" dirty="0"/>
              <a:t>Layered System</a:t>
            </a:r>
          </a:p>
          <a:p>
            <a:pPr lvl="1"/>
            <a:r>
              <a:rPr lang="el-GR" sz="1800" dirty="0"/>
              <a:t>Μια υπηρεσία μπορεί να εκτελείται σε πολλούς εξυπηρετητές με πολλαπλά επίπεδα, όπως ασφάλεια, εφαρμογή και επιχειρησιακή λογική, τα οποία συνεργάζονται για την ικανοποίηση των αιτημάτων των πελατών.</a:t>
            </a:r>
            <a:endParaRPr lang="en-US" sz="1800" dirty="0" smtClean="0"/>
          </a:p>
          <a:p>
            <a:r>
              <a:rPr lang="en-US" sz="2000" b="1" dirty="0" smtClean="0"/>
              <a:t>Code on Demand (optional)</a:t>
            </a:r>
          </a:p>
          <a:p>
            <a:pPr lvl="1"/>
            <a:r>
              <a:rPr lang="el-GR" sz="1800" dirty="0" smtClean="0"/>
              <a:t>Τα </a:t>
            </a:r>
            <a:r>
              <a:rPr lang="el-GR" sz="1800" dirty="0"/>
              <a:t>REST APIs συνήθως αποστέλλουν στατικούς πόρους, αλλά σε ορισμένες περιπτώσεις </a:t>
            </a:r>
            <a:r>
              <a:rPr lang="el-GR" sz="1800" dirty="0" smtClean="0"/>
              <a:t>μπορούν </a:t>
            </a:r>
            <a:r>
              <a:rPr lang="el-GR" sz="1800" dirty="0"/>
              <a:t>επίσης να περιέχουν εκτελέσιμο κώδικα (όπως JavaScript).</a:t>
            </a:r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BBFDB60-DCBA-4744-93DC-BD0003CB98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79468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b="1" dirty="0" smtClean="0"/>
              <a:t>SOAP </a:t>
            </a:r>
            <a:r>
              <a:rPr lang="en-US" b="1" dirty="0"/>
              <a:t>vs 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52</a:t>
            </a:fld>
            <a:endParaRPr lang="en-US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1" y="1581149"/>
            <a:ext cx="9152281" cy="38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171987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l-GR" altLang="en-US" dirty="0" smtClean="0"/>
              <a:t>Ασφάλεια</a:t>
            </a:r>
            <a:endParaRPr lang="en-US" altLang="en-US" dirty="0"/>
          </a:p>
        </p:txBody>
      </p:sp>
      <p:sp>
        <p:nvSpPr>
          <p:cNvPr id="5120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412776"/>
            <a:ext cx="7704667" cy="424847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l-GR" altLang="en-US" sz="2400" dirty="0"/>
              <a:t>Αποτελεί βασικό θέμα οποιασδήποτε διαδικτυακής πύλης / εφαρμογής και λόγω αυτού κατά τη διάρκεια των διαλέξεων θα καλυφθούν και θέματα ασφάλειας. </a:t>
            </a:r>
            <a:endParaRPr lang="el-GR" altLang="en-US" sz="2400" dirty="0" smtClean="0"/>
          </a:p>
          <a:p>
            <a:pPr>
              <a:lnSpc>
                <a:spcPct val="120000"/>
              </a:lnSpc>
            </a:pPr>
            <a:endParaRPr lang="el-GR" altLang="en-US" sz="600" dirty="0"/>
          </a:p>
          <a:p>
            <a:r>
              <a:rPr lang="el-GR" altLang="en-US" sz="2400" dirty="0"/>
              <a:t>Ο στόχος είναι η επίτευξη:</a:t>
            </a:r>
          </a:p>
          <a:p>
            <a:pPr lvl="1"/>
            <a:r>
              <a:rPr lang="el-GR" altLang="en-US" sz="2200" dirty="0"/>
              <a:t>Εμπιστευτικότητας </a:t>
            </a:r>
          </a:p>
          <a:p>
            <a:pPr lvl="1"/>
            <a:r>
              <a:rPr lang="el-GR" altLang="en-US" sz="2200" dirty="0"/>
              <a:t>Ακεραιότητας </a:t>
            </a:r>
            <a:r>
              <a:rPr lang="el-GR" altLang="en-US" sz="2200" dirty="0" smtClean="0"/>
              <a:t>ανταλλασσόμενων</a:t>
            </a:r>
          </a:p>
          <a:p>
            <a:pPr marL="457200" lvl="1" indent="0">
              <a:buNone/>
            </a:pPr>
            <a:r>
              <a:rPr lang="el-GR" altLang="en-US" sz="2200" dirty="0" smtClean="0"/>
              <a:t>    δεδομένων</a:t>
            </a:r>
            <a:endParaRPr lang="el-GR" altLang="en-US" sz="2200" dirty="0"/>
          </a:p>
          <a:p>
            <a:pPr lvl="1"/>
            <a:r>
              <a:rPr lang="el-GR" altLang="en-US" sz="2200" dirty="0"/>
              <a:t>Πιστοποίησης χρηστών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C7A0E1CA-2CE1-411F-8090-F717D4991A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8D9EDD83-ABB1-40E4-815D-39C2B0C7A8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53</a:t>
            </a:fld>
            <a:endParaRPr lang="en-US" alt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3284983"/>
            <a:ext cx="2736304" cy="2412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219952"/>
            <a:ext cx="7704667" cy="832784"/>
          </a:xfrm>
        </p:spPr>
        <p:txBody>
          <a:bodyPr/>
          <a:lstStyle/>
          <a:p>
            <a:r>
              <a:rPr lang="en-US" altLang="en-US" dirty="0"/>
              <a:t>SSL (1)</a:t>
            </a:r>
          </a:p>
        </p:txBody>
      </p:sp>
      <p:sp>
        <p:nvSpPr>
          <p:cNvPr id="5222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45092" y="1126456"/>
            <a:ext cx="7704667" cy="2432720"/>
          </a:xfrm>
        </p:spPr>
        <p:txBody>
          <a:bodyPr/>
          <a:lstStyle/>
          <a:p>
            <a:r>
              <a:rPr lang="en-US" altLang="en-US" sz="2400" dirty="0"/>
              <a:t>Με </a:t>
            </a:r>
            <a:r>
              <a:rPr lang="en-US" altLang="en-US" sz="2400" dirty="0" err="1"/>
              <a:t>στόχο</a:t>
            </a:r>
            <a:r>
              <a:rPr lang="en-US" altLang="en-US" sz="2400" dirty="0"/>
              <a:t> </a:t>
            </a:r>
            <a:r>
              <a:rPr lang="en-US" altLang="en-US" sz="2400" dirty="0" err="1"/>
              <a:t>την</a:t>
            </a:r>
            <a:r>
              <a:rPr lang="en-US" altLang="en-US" sz="2400" dirty="0"/>
              <a:t> επ</a:t>
            </a:r>
            <a:r>
              <a:rPr lang="en-US" altLang="en-US" sz="2400" dirty="0" err="1"/>
              <a:t>ίτευξη</a:t>
            </a:r>
            <a:r>
              <a:rPr lang="en-US" altLang="en-US" sz="2400" dirty="0"/>
              <a:t> </a:t>
            </a:r>
            <a:r>
              <a:rPr lang="en-US" altLang="en-US" sz="2400" dirty="0" err="1"/>
              <a:t>της</a:t>
            </a:r>
            <a:r>
              <a:rPr lang="en-US" altLang="en-US" sz="2400" dirty="0"/>
              <a:t> α</a:t>
            </a:r>
            <a:r>
              <a:rPr lang="en-US" altLang="en-US" sz="2400" dirty="0" err="1"/>
              <a:t>σφάλει</a:t>
            </a:r>
            <a:r>
              <a:rPr lang="en-US" altLang="en-US" sz="2400" dirty="0"/>
              <a:t>ας θα γίνει εκτενής αναφορά στο SSL.</a:t>
            </a:r>
          </a:p>
          <a:p>
            <a:r>
              <a:rPr lang="en-US" altLang="en-US" sz="2400" dirty="0"/>
              <a:t>SSL = Secure Sockets Layer.</a:t>
            </a:r>
          </a:p>
          <a:p>
            <a:pPr lvl="1"/>
            <a:r>
              <a:rPr lang="en-US" altLang="en-US" sz="2000" dirty="0" err="1"/>
              <a:t>Το</a:t>
            </a:r>
            <a:r>
              <a:rPr lang="en-US" altLang="en-US" sz="2000" dirty="0"/>
              <a:t> π</a:t>
            </a:r>
            <a:r>
              <a:rPr lang="en-US" altLang="en-US" sz="2000" dirty="0" err="1"/>
              <a:t>ρωτόκολλο</a:t>
            </a:r>
            <a:r>
              <a:rPr lang="en-US" altLang="en-US" sz="2000" dirty="0"/>
              <a:t> SSL ‘</a:t>
            </a:r>
            <a:r>
              <a:rPr lang="en-US" altLang="en-US" sz="2000" dirty="0" err="1"/>
              <a:t>κάθετ</a:t>
            </a:r>
            <a:r>
              <a:rPr lang="en-US" altLang="en-US" sz="2000" dirty="0"/>
              <a:t>αι’ πάνω από το Transport Layer Protocol (TCP/IP) και κάτω από το Application Layer Protocol (HTTP/FTP).</a:t>
            </a:r>
          </a:p>
        </p:txBody>
      </p:sp>
      <p:grpSp>
        <p:nvGrpSpPr>
          <p:cNvPr id="52228" name="Group 6"/>
          <p:cNvGrpSpPr>
            <a:grpSpLocks/>
          </p:cNvGrpSpPr>
          <p:nvPr/>
        </p:nvGrpSpPr>
        <p:grpSpPr bwMode="auto">
          <a:xfrm>
            <a:off x="945092" y="3629807"/>
            <a:ext cx="7434262" cy="2432720"/>
            <a:chOff x="0" y="0"/>
            <a:chExt cx="4734" cy="1468"/>
          </a:xfrm>
        </p:grpSpPr>
        <p:grpSp>
          <p:nvGrpSpPr>
            <p:cNvPr id="52232" name="Group 7"/>
            <p:cNvGrpSpPr>
              <a:grpSpLocks/>
            </p:cNvGrpSpPr>
            <p:nvPr/>
          </p:nvGrpSpPr>
          <p:grpSpPr bwMode="auto">
            <a:xfrm>
              <a:off x="0" y="0"/>
              <a:ext cx="1543" cy="272"/>
              <a:chOff x="0" y="0"/>
              <a:chExt cx="1543" cy="272"/>
            </a:xfrm>
          </p:grpSpPr>
          <p:sp>
            <p:nvSpPr>
              <p:cNvPr id="52251" name="Rectangle 8"/>
              <p:cNvSpPr>
                <a:spLocks/>
              </p:cNvSpPr>
              <p:nvPr/>
            </p:nvSpPr>
            <p:spPr bwMode="auto">
              <a:xfrm>
                <a:off x="0" y="19"/>
                <a:ext cx="1543" cy="233"/>
              </a:xfrm>
              <a:prstGeom prst="rect">
                <a:avLst/>
              </a:prstGeom>
              <a:solidFill>
                <a:srgbClr val="0066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52252" name="Rectangle 9"/>
              <p:cNvSpPr>
                <a:spLocks/>
              </p:cNvSpPr>
              <p:nvPr/>
            </p:nvSpPr>
            <p:spPr bwMode="auto">
              <a:xfrm>
                <a:off x="126" y="0"/>
                <a:ext cx="1290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400" dirty="0">
                    <a:latin typeface="Times New Roman" pitchFamily="18" charset="0"/>
                    <a:cs typeface="Times New Roman" pitchFamily="18" charset="0"/>
                    <a:sym typeface="Times New Roman" pitchFamily="18" charset="0"/>
                  </a:rPr>
                  <a:t>HTTP Message</a:t>
                </a:r>
              </a:p>
            </p:txBody>
          </p:sp>
        </p:grpSp>
        <p:grpSp>
          <p:nvGrpSpPr>
            <p:cNvPr id="52233" name="Group 10"/>
            <p:cNvGrpSpPr>
              <a:grpSpLocks/>
            </p:cNvGrpSpPr>
            <p:nvPr/>
          </p:nvGrpSpPr>
          <p:grpSpPr bwMode="auto">
            <a:xfrm>
              <a:off x="0" y="398"/>
              <a:ext cx="4734" cy="272"/>
              <a:chOff x="0" y="0"/>
              <a:chExt cx="4734" cy="272"/>
            </a:xfrm>
          </p:grpSpPr>
          <p:sp>
            <p:nvSpPr>
              <p:cNvPr id="52249" name="Rectangle 11"/>
              <p:cNvSpPr>
                <a:spLocks/>
              </p:cNvSpPr>
              <p:nvPr/>
            </p:nvSpPr>
            <p:spPr bwMode="auto">
              <a:xfrm>
                <a:off x="0" y="19"/>
                <a:ext cx="4734" cy="233"/>
              </a:xfrm>
              <a:prstGeom prst="rect">
                <a:avLst/>
              </a:prstGeom>
              <a:solidFill>
                <a:srgbClr val="FFFF00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52250" name="Rectangle 12"/>
              <p:cNvSpPr>
                <a:spLocks/>
              </p:cNvSpPr>
              <p:nvPr/>
            </p:nvSpPr>
            <p:spPr bwMode="auto">
              <a:xfrm>
                <a:off x="1440" y="0"/>
                <a:ext cx="1853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400">
                    <a:solidFill>
                      <a:srgbClr val="0033CC"/>
                    </a:solidFill>
                    <a:latin typeface="Times New Roman Bold" pitchFamily="18" charset="0"/>
                    <a:sym typeface="Times New Roman Bold" pitchFamily="18" charset="0"/>
                  </a:rPr>
                  <a:t>Secure Sockets Layer</a:t>
                </a:r>
              </a:p>
            </p:txBody>
          </p:sp>
        </p:grpSp>
        <p:grpSp>
          <p:nvGrpSpPr>
            <p:cNvPr id="52234" name="Group 13"/>
            <p:cNvGrpSpPr>
              <a:grpSpLocks/>
            </p:cNvGrpSpPr>
            <p:nvPr/>
          </p:nvGrpSpPr>
          <p:grpSpPr bwMode="auto">
            <a:xfrm>
              <a:off x="0" y="797"/>
              <a:ext cx="4734" cy="272"/>
              <a:chOff x="0" y="0"/>
              <a:chExt cx="4734" cy="272"/>
            </a:xfrm>
          </p:grpSpPr>
          <p:sp>
            <p:nvSpPr>
              <p:cNvPr id="52247" name="Rectangle 14"/>
              <p:cNvSpPr>
                <a:spLocks/>
              </p:cNvSpPr>
              <p:nvPr/>
            </p:nvSpPr>
            <p:spPr bwMode="auto">
              <a:xfrm>
                <a:off x="0" y="19"/>
                <a:ext cx="4734" cy="233"/>
              </a:xfrm>
              <a:prstGeom prst="rect">
                <a:avLst/>
              </a:prstGeom>
              <a:solidFill>
                <a:srgbClr val="3399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52248" name="Rectangle 15"/>
              <p:cNvSpPr>
                <a:spLocks/>
              </p:cNvSpPr>
              <p:nvPr/>
            </p:nvSpPr>
            <p:spPr bwMode="auto">
              <a:xfrm>
                <a:off x="2142" y="0"/>
                <a:ext cx="44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400">
                    <a:latin typeface="Times New Roman" pitchFamily="18" charset="0"/>
                    <a:cs typeface="Times New Roman" pitchFamily="18" charset="0"/>
                    <a:sym typeface="Times New Roman" pitchFamily="18" charset="0"/>
                  </a:rPr>
                  <a:t>TCP</a:t>
                </a:r>
              </a:p>
            </p:txBody>
          </p:sp>
        </p:grpSp>
        <p:grpSp>
          <p:nvGrpSpPr>
            <p:cNvPr id="52235" name="Group 16"/>
            <p:cNvGrpSpPr>
              <a:grpSpLocks/>
            </p:cNvGrpSpPr>
            <p:nvPr/>
          </p:nvGrpSpPr>
          <p:grpSpPr bwMode="auto">
            <a:xfrm>
              <a:off x="0" y="1196"/>
              <a:ext cx="4734" cy="272"/>
              <a:chOff x="0" y="0"/>
              <a:chExt cx="4734" cy="272"/>
            </a:xfrm>
          </p:grpSpPr>
          <p:sp>
            <p:nvSpPr>
              <p:cNvPr id="52245" name="Rectangle 17"/>
              <p:cNvSpPr>
                <a:spLocks/>
              </p:cNvSpPr>
              <p:nvPr/>
            </p:nvSpPr>
            <p:spPr bwMode="auto">
              <a:xfrm>
                <a:off x="0" y="19"/>
                <a:ext cx="4734" cy="233"/>
              </a:xfrm>
              <a:prstGeom prst="rect">
                <a:avLst/>
              </a:prstGeom>
              <a:solidFill>
                <a:srgbClr val="66CC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52246" name="Rectangle 18"/>
              <p:cNvSpPr>
                <a:spLocks/>
              </p:cNvSpPr>
              <p:nvPr/>
            </p:nvSpPr>
            <p:spPr bwMode="auto">
              <a:xfrm>
                <a:off x="2232" y="0"/>
                <a:ext cx="269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400">
                    <a:latin typeface="Times New Roman" pitchFamily="18" charset="0"/>
                    <a:cs typeface="Times New Roman" pitchFamily="18" charset="0"/>
                    <a:sym typeface="Times New Roman" pitchFamily="18" charset="0"/>
                  </a:rPr>
                  <a:t>IP</a:t>
                </a:r>
              </a:p>
            </p:txBody>
          </p:sp>
        </p:grpSp>
        <p:sp>
          <p:nvSpPr>
            <p:cNvPr id="52236" name="Line 19"/>
            <p:cNvSpPr>
              <a:spLocks noChangeShapeType="1"/>
            </p:cNvSpPr>
            <p:nvPr/>
          </p:nvSpPr>
          <p:spPr bwMode="auto">
            <a:xfrm rot="10800000">
              <a:off x="2315" y="617"/>
              <a:ext cx="1" cy="20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237" name="Line 20"/>
            <p:cNvSpPr>
              <a:spLocks noChangeShapeType="1"/>
            </p:cNvSpPr>
            <p:nvPr/>
          </p:nvSpPr>
          <p:spPr bwMode="auto">
            <a:xfrm rot="10800000">
              <a:off x="2315" y="1016"/>
              <a:ext cx="1" cy="200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2238" name="Group 21"/>
            <p:cNvGrpSpPr>
              <a:grpSpLocks/>
            </p:cNvGrpSpPr>
            <p:nvPr/>
          </p:nvGrpSpPr>
          <p:grpSpPr bwMode="auto">
            <a:xfrm>
              <a:off x="1595" y="0"/>
              <a:ext cx="1543" cy="272"/>
              <a:chOff x="0" y="0"/>
              <a:chExt cx="1543" cy="272"/>
            </a:xfrm>
          </p:grpSpPr>
          <p:sp>
            <p:nvSpPr>
              <p:cNvPr id="52243" name="Rectangle 22"/>
              <p:cNvSpPr>
                <a:spLocks/>
              </p:cNvSpPr>
              <p:nvPr/>
            </p:nvSpPr>
            <p:spPr bwMode="auto">
              <a:xfrm>
                <a:off x="0" y="19"/>
                <a:ext cx="1543" cy="233"/>
              </a:xfrm>
              <a:prstGeom prst="rect">
                <a:avLst/>
              </a:prstGeom>
              <a:solidFill>
                <a:srgbClr val="0066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52244" name="Rectangle 23"/>
              <p:cNvSpPr>
                <a:spLocks/>
              </p:cNvSpPr>
              <p:nvPr/>
            </p:nvSpPr>
            <p:spPr bwMode="auto">
              <a:xfrm>
                <a:off x="201" y="0"/>
                <a:ext cx="1141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400">
                    <a:latin typeface="Times New Roman" pitchFamily="18" charset="0"/>
                    <a:cs typeface="Times New Roman" pitchFamily="18" charset="0"/>
                    <a:sym typeface="Times New Roman" pitchFamily="18" charset="0"/>
                  </a:rPr>
                  <a:t>FTP Message</a:t>
                </a:r>
              </a:p>
            </p:txBody>
          </p:sp>
        </p:grpSp>
        <p:grpSp>
          <p:nvGrpSpPr>
            <p:cNvPr id="52239" name="Group 24"/>
            <p:cNvGrpSpPr>
              <a:grpSpLocks/>
            </p:cNvGrpSpPr>
            <p:nvPr/>
          </p:nvGrpSpPr>
          <p:grpSpPr bwMode="auto">
            <a:xfrm>
              <a:off x="3190" y="0"/>
              <a:ext cx="1544" cy="272"/>
              <a:chOff x="0" y="0"/>
              <a:chExt cx="1543" cy="272"/>
            </a:xfrm>
          </p:grpSpPr>
          <p:sp>
            <p:nvSpPr>
              <p:cNvPr id="52241" name="Rectangle 25"/>
              <p:cNvSpPr>
                <a:spLocks/>
              </p:cNvSpPr>
              <p:nvPr/>
            </p:nvSpPr>
            <p:spPr bwMode="auto">
              <a:xfrm>
                <a:off x="0" y="19"/>
                <a:ext cx="1543" cy="233"/>
              </a:xfrm>
              <a:prstGeom prst="rect">
                <a:avLst/>
              </a:prstGeom>
              <a:solidFill>
                <a:srgbClr val="0066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0" tIns="0" rIns="0" bIns="0"/>
              <a:lstStyle>
                <a:lvl1pPr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l-GR" altLang="en-US" sz="2400">
                  <a:solidFill>
                    <a:srgbClr val="000000"/>
                  </a:solidFill>
                  <a:latin typeface="Times New Roman" pitchFamily="18" charset="0"/>
                  <a:ea typeface="ヒラギノ明朝 ProN W3"/>
                  <a:cs typeface="ヒラギノ明朝 ProN W3"/>
                  <a:sym typeface="Times New Roman" pitchFamily="18" charset="0"/>
                </a:endParaRPr>
              </a:p>
            </p:txBody>
          </p:sp>
          <p:sp>
            <p:nvSpPr>
              <p:cNvPr id="52242" name="Rectangle 26"/>
              <p:cNvSpPr>
                <a:spLocks/>
              </p:cNvSpPr>
              <p:nvPr/>
            </p:nvSpPr>
            <p:spPr bwMode="auto">
              <a:xfrm>
                <a:off x="304" y="0"/>
                <a:ext cx="935" cy="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40639" bIns="0" anchor="ctr">
                <a:spAutoFit/>
              </a:bodyPr>
              <a:lstStyle>
                <a:lvl1pPr marL="39688">
                  <a:spcBef>
                    <a:spcPts val="700"/>
                  </a:spcBef>
                  <a:buSzPct val="100000"/>
                  <a:buFont typeface="Arial" pitchFamily="34" charset="0"/>
                  <a:buChar char="•"/>
                  <a:defRPr sz="29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1pPr>
                <a:lvl2pPr marL="742950" indent="-285750">
                  <a:spcBef>
                    <a:spcPts val="600"/>
                  </a:spcBef>
                  <a:buSzPct val="100000"/>
                  <a:buFont typeface="Arial" pitchFamily="34" charset="0"/>
                  <a:buChar char="–"/>
                  <a:defRPr sz="25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2pPr>
                <a:lvl3pPr marL="1143000" indent="-228600">
                  <a:spcBef>
                    <a:spcPts val="500"/>
                  </a:spcBef>
                  <a:buSzPct val="100000"/>
                  <a:buFont typeface="Arial" pitchFamily="34" charset="0"/>
                  <a:buChar char="•"/>
                  <a:defRPr sz="2200"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3pPr>
                <a:lvl4pPr marL="1600200" indent="-228600">
                  <a:spcBef>
                    <a:spcPts val="400"/>
                  </a:spcBef>
                  <a:buSzPct val="100000"/>
                  <a:buFont typeface="Arial" pitchFamily="34" charset="0"/>
                  <a:buChar char="–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4pPr>
                <a:lvl5pPr marL="2057400" indent="-228600">
                  <a:spcBef>
                    <a:spcPts val="400"/>
                  </a:spcBef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5pPr>
                <a:lvl6pPr marL="25146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6pPr>
                <a:lvl7pPr marL="29718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7pPr>
                <a:lvl8pPr marL="34290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8pPr>
                <a:lvl9pPr marL="3886200" indent="-228600" eaLnBrk="0" fontAlgn="base" hangingPunct="0">
                  <a:spcBef>
                    <a:spcPts val="400"/>
                  </a:spcBef>
                  <a:spcAft>
                    <a:spcPct val="0"/>
                  </a:spcAft>
                  <a:buSzPct val="100000"/>
                  <a:buFont typeface="Arial" pitchFamily="34" charset="0"/>
                  <a:buChar char="»"/>
                  <a:defRPr>
                    <a:solidFill>
                      <a:schemeClr val="tx1"/>
                    </a:solidFill>
                    <a:latin typeface="Arial" pitchFamily="34" charset="0"/>
                    <a:ea typeface="ヒラギノ角ゴ ProN W3"/>
                    <a:cs typeface="ヒラギノ角ゴ ProN W3"/>
                    <a:sym typeface="Arial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SzTx/>
                  <a:buFontTx/>
                  <a:buNone/>
                </a:pPr>
                <a:r>
                  <a:rPr lang="en-US" altLang="en-US" sz="2400">
                    <a:latin typeface="Times New Roman" pitchFamily="18" charset="0"/>
                    <a:cs typeface="Times New Roman" pitchFamily="18" charset="0"/>
                    <a:sym typeface="Times New Roman" pitchFamily="18" charset="0"/>
                  </a:rPr>
                  <a:t>Other ALP</a:t>
                </a:r>
              </a:p>
            </p:txBody>
          </p:sp>
        </p:grpSp>
        <p:sp>
          <p:nvSpPr>
            <p:cNvPr id="52240" name="Line 27"/>
            <p:cNvSpPr>
              <a:spLocks noChangeShapeType="1"/>
            </p:cNvSpPr>
            <p:nvPr/>
          </p:nvSpPr>
          <p:spPr bwMode="auto">
            <a:xfrm rot="10800000">
              <a:off x="2315" y="219"/>
              <a:ext cx="1" cy="199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5FB7D2A9-A414-407F-BCD5-E960B6B9B8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823A26D-FE4D-4DB9-AD5C-2F71052B30F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54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241177"/>
            <a:ext cx="7704667" cy="811559"/>
          </a:xfrm>
        </p:spPr>
        <p:txBody>
          <a:bodyPr/>
          <a:lstStyle/>
          <a:p>
            <a:r>
              <a:rPr lang="en-US" altLang="en-US" dirty="0"/>
              <a:t>SSL (2)</a:t>
            </a:r>
          </a:p>
        </p:txBody>
      </p:sp>
      <p:sp>
        <p:nvSpPr>
          <p:cNvPr id="5325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268760"/>
            <a:ext cx="7982355" cy="4824536"/>
          </a:xfrm>
        </p:spPr>
        <p:txBody>
          <a:bodyPr>
            <a:normAutofit/>
          </a:bodyPr>
          <a:lstStyle/>
          <a:p>
            <a:r>
              <a:rPr lang="el-GR" altLang="en-US" sz="2400" dirty="0"/>
              <a:t>Οι περισσότερες και σοβαρότερες συναλλαγές στο </a:t>
            </a:r>
            <a:r>
              <a:rPr lang="en-US" altLang="en-US" sz="2400" dirty="0"/>
              <a:t>Internet </a:t>
            </a:r>
            <a:r>
              <a:rPr lang="el-GR" altLang="en-US" sz="2400" dirty="0"/>
              <a:t>γίνονται με χρήση </a:t>
            </a:r>
            <a:r>
              <a:rPr lang="en-US" altLang="en-US" sz="2400" dirty="0"/>
              <a:t>SSL (Banking, E-Commerce, sites </a:t>
            </a:r>
            <a:r>
              <a:rPr lang="el-GR" altLang="en-US" sz="2400" dirty="0"/>
              <a:t>που χρειάζονται </a:t>
            </a:r>
            <a:r>
              <a:rPr lang="en-US" altLang="en-US" sz="2400" dirty="0"/>
              <a:t>secure communication </a:t>
            </a:r>
            <a:r>
              <a:rPr lang="el-GR" altLang="en-US" sz="2400" dirty="0"/>
              <a:t>και</a:t>
            </a:r>
            <a:r>
              <a:rPr lang="en-US" altLang="en-US" sz="2400" dirty="0"/>
              <a:t> authentication)</a:t>
            </a:r>
          </a:p>
          <a:p>
            <a:pPr>
              <a:lnSpc>
                <a:spcPct val="90000"/>
              </a:lnSpc>
            </a:pPr>
            <a:r>
              <a:rPr lang="el-GR" altLang="en-US" sz="2400" dirty="0"/>
              <a:t>Mε χρήση του </a:t>
            </a:r>
            <a:r>
              <a:rPr lang="en-US" altLang="en-US" sz="2400" dirty="0"/>
              <a:t>SSL</a:t>
            </a:r>
            <a:r>
              <a:rPr lang="el-GR" altLang="en-US" sz="2400" dirty="0"/>
              <a:t> επιτυγχάνονται τα ακόλουθα:</a:t>
            </a:r>
          </a:p>
          <a:p>
            <a:pPr lvl="1"/>
            <a:r>
              <a:rPr lang="el-GR" altLang="en-US" sz="2000" dirty="0"/>
              <a:t>Δεν επιτρέπεται σε τρίτους ‘να ακούν’ συνομιλίες- συναλλαγές κάποιων άλλων (εμπιστευτικότητα).</a:t>
            </a:r>
          </a:p>
          <a:p>
            <a:pPr lvl="1"/>
            <a:r>
              <a:rPr lang="el-GR" altLang="en-US" sz="2000" dirty="0"/>
              <a:t>Εξασφαλίζει ότι τα δεδομένα δεν έχουν αλλαχτεί από κάποιον κατά τη μεταφορά από τη πηγή στο προορισμό (ακεραιότητα δεδομένων).</a:t>
            </a:r>
          </a:p>
          <a:p>
            <a:pPr lvl="1"/>
            <a:r>
              <a:rPr lang="el-GR" altLang="en-US" sz="2000" dirty="0"/>
              <a:t>Εξασφαλίζει στις δύο πλευρές ότι «μιλάνε» με αυτούς που πιστεύουν ότι «μιλάνε» (πιστοποίηση χρηστών).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508505A1-DEEB-44BB-8111-51B8B2EDFCB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6C69E880-14A6-4914-8B07-31567241E8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55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368152"/>
          </a:xfrm>
        </p:spPr>
        <p:txBody>
          <a:bodyPr/>
          <a:lstStyle/>
          <a:p>
            <a:r>
              <a:rPr lang="en-US" altLang="en-US" dirty="0"/>
              <a:t>Επίπ</a:t>
            </a:r>
            <a:r>
              <a:rPr lang="en-US" altLang="en-US" dirty="0" err="1"/>
              <a:t>εδ</a:t>
            </a:r>
            <a:r>
              <a:rPr lang="en-US" altLang="en-US" dirty="0"/>
              <a:t>α Αρχιτεκτονικής</a:t>
            </a:r>
          </a:p>
        </p:txBody>
      </p:sp>
      <p:sp>
        <p:nvSpPr>
          <p:cNvPr id="54275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908720"/>
            <a:ext cx="7704667" cy="5949280"/>
          </a:xfrm>
        </p:spPr>
        <p:txBody>
          <a:bodyPr>
            <a:normAutofit/>
          </a:bodyPr>
          <a:lstStyle/>
          <a:p>
            <a:r>
              <a:rPr lang="el-GR" altLang="en-US" sz="1800" dirty="0" smtClean="0"/>
              <a:t>Για τη δημιουργία διαδικτυακών εφαρμογών βασικό σημείο αποτελεί η αρχιτεκτονική.</a:t>
            </a:r>
          </a:p>
          <a:p>
            <a:r>
              <a:rPr lang="el-GR" altLang="en-US" sz="1800" dirty="0" smtClean="0"/>
              <a:t>Η αρχιτεκτονική κάθε συστήματος βασίζεται σε διακριτά επίπεδα βάσει λειτουργιών που το κάθε επίπεδο επιτελεί.</a:t>
            </a:r>
          </a:p>
          <a:p>
            <a:pPr lvl="1">
              <a:lnSpc>
                <a:spcPct val="80000"/>
              </a:lnSpc>
            </a:pPr>
            <a:r>
              <a:rPr lang="el-GR" altLang="en-US" sz="1600" dirty="0" smtClean="0"/>
              <a:t>Τα επίπεδα είναι τα εξής:</a:t>
            </a:r>
          </a:p>
          <a:p>
            <a:pPr lvl="2">
              <a:lnSpc>
                <a:spcPct val="80000"/>
              </a:lnSpc>
            </a:pPr>
            <a:r>
              <a:rPr lang="el-GR" altLang="en-US" sz="1400" dirty="0" err="1" smtClean="0"/>
              <a:t>Presentation</a:t>
            </a:r>
            <a:r>
              <a:rPr lang="el-GR" altLang="en-US" sz="1400" dirty="0" smtClean="0"/>
              <a:t> </a:t>
            </a:r>
            <a:r>
              <a:rPr lang="el-GR" altLang="en-US" sz="1400" dirty="0" err="1" smtClean="0"/>
              <a:t>layer</a:t>
            </a:r>
            <a:endParaRPr lang="el-GR" altLang="en-US" sz="1400" dirty="0" smtClean="0"/>
          </a:p>
          <a:p>
            <a:pPr lvl="2">
              <a:lnSpc>
                <a:spcPct val="80000"/>
              </a:lnSpc>
            </a:pPr>
            <a:r>
              <a:rPr lang="el-GR" altLang="en-US" sz="1400" dirty="0" err="1" smtClean="0"/>
              <a:t>Application</a:t>
            </a:r>
            <a:r>
              <a:rPr lang="el-GR" altLang="en-US" sz="1400" dirty="0" smtClean="0"/>
              <a:t> </a:t>
            </a:r>
            <a:r>
              <a:rPr lang="el-GR" altLang="en-US" sz="1400" dirty="0" err="1" smtClean="0"/>
              <a:t>layer</a:t>
            </a:r>
            <a:endParaRPr lang="el-GR" altLang="en-US" sz="1400" dirty="0" smtClean="0"/>
          </a:p>
          <a:p>
            <a:pPr lvl="2">
              <a:lnSpc>
                <a:spcPct val="80000"/>
              </a:lnSpc>
            </a:pPr>
            <a:r>
              <a:rPr lang="el-GR" altLang="en-US" sz="1400" dirty="0" err="1" smtClean="0"/>
              <a:t>Resource</a:t>
            </a:r>
            <a:r>
              <a:rPr lang="el-GR" altLang="en-US" sz="1400" dirty="0" smtClean="0"/>
              <a:t> </a:t>
            </a:r>
            <a:r>
              <a:rPr lang="el-GR" altLang="en-US" sz="1400" dirty="0" err="1" smtClean="0"/>
              <a:t>manager</a:t>
            </a:r>
            <a:r>
              <a:rPr lang="el-GR" altLang="en-US" sz="1400" dirty="0" smtClean="0"/>
              <a:t> </a:t>
            </a:r>
            <a:r>
              <a:rPr lang="el-GR" altLang="en-US" sz="1400" dirty="0" err="1" smtClean="0"/>
              <a:t>layer</a:t>
            </a:r>
            <a:r>
              <a:rPr lang="el-GR" altLang="en-US" sz="1400" dirty="0" smtClean="0"/>
              <a:t> (για παράδειγμα βάσεις δεδομένων)</a:t>
            </a:r>
          </a:p>
          <a:p>
            <a:pPr>
              <a:lnSpc>
                <a:spcPct val="80000"/>
              </a:lnSpc>
            </a:pPr>
            <a:r>
              <a:rPr lang="el-GR" altLang="en-US" sz="1800" dirty="0" err="1" smtClean="0"/>
              <a:t>Kατηγορίες</a:t>
            </a:r>
            <a:r>
              <a:rPr lang="el-GR" altLang="en-US" sz="1800" dirty="0" smtClean="0"/>
              <a:t> αρχιτεκτονικής:</a:t>
            </a:r>
          </a:p>
          <a:p>
            <a:pPr lvl="1">
              <a:lnSpc>
                <a:spcPct val="80000"/>
              </a:lnSpc>
            </a:pPr>
            <a:r>
              <a:rPr lang="el-GR" altLang="en-US" sz="1600" b="1" dirty="0" smtClean="0"/>
              <a:t>1-tier</a:t>
            </a:r>
            <a:r>
              <a:rPr lang="el-GR" altLang="en-US" sz="1600" dirty="0" smtClean="0"/>
              <a:t>, όπου το </a:t>
            </a:r>
            <a:r>
              <a:rPr lang="el-GR" altLang="en-US" sz="1600" dirty="0" err="1" smtClean="0"/>
              <a:t>presentation</a:t>
            </a:r>
            <a:r>
              <a:rPr lang="el-GR" altLang="en-US" sz="1600" dirty="0" smtClean="0"/>
              <a:t> </a:t>
            </a:r>
            <a:r>
              <a:rPr lang="el-GR" altLang="en-US" sz="1600" dirty="0" err="1" smtClean="0"/>
              <a:t>layer</a:t>
            </a:r>
            <a:r>
              <a:rPr lang="el-GR" altLang="en-US" sz="1600" dirty="0" smtClean="0"/>
              <a:t>, το </a:t>
            </a:r>
            <a:r>
              <a:rPr lang="el-GR" altLang="en-US" sz="1600" dirty="0" err="1" smtClean="0"/>
              <a:t>application</a:t>
            </a:r>
            <a:r>
              <a:rPr lang="el-GR" altLang="en-US" sz="1600" dirty="0" smtClean="0"/>
              <a:t> </a:t>
            </a:r>
            <a:r>
              <a:rPr lang="el-GR" altLang="en-US" sz="1600" dirty="0" err="1" smtClean="0"/>
              <a:t>layer</a:t>
            </a:r>
            <a:r>
              <a:rPr lang="el-GR" altLang="en-US" sz="1600" dirty="0" smtClean="0"/>
              <a:t> και το </a:t>
            </a:r>
            <a:r>
              <a:rPr lang="el-GR" altLang="en-US" sz="1600" dirty="0" err="1" smtClean="0"/>
              <a:t>resource</a:t>
            </a:r>
            <a:r>
              <a:rPr lang="el-GR" altLang="en-US" sz="1600" dirty="0" smtClean="0"/>
              <a:t> </a:t>
            </a:r>
            <a:r>
              <a:rPr lang="el-GR" altLang="en-US" sz="1600" dirty="0" err="1" smtClean="0"/>
              <a:t>manager</a:t>
            </a:r>
            <a:r>
              <a:rPr lang="el-GR" altLang="en-US" sz="1600" dirty="0" smtClean="0"/>
              <a:t> </a:t>
            </a:r>
            <a:r>
              <a:rPr lang="el-GR" altLang="en-US" sz="1600" dirty="0" err="1" smtClean="0"/>
              <a:t>layer</a:t>
            </a:r>
            <a:r>
              <a:rPr lang="el-GR" altLang="en-US" sz="1600" dirty="0" smtClean="0"/>
              <a:t> είναι υλοποιημένα σε μια μονολιθική οντότητα</a:t>
            </a:r>
          </a:p>
          <a:p>
            <a:pPr lvl="1">
              <a:lnSpc>
                <a:spcPct val="80000"/>
              </a:lnSpc>
            </a:pPr>
            <a:r>
              <a:rPr lang="el-GR" altLang="en-US" sz="1600" b="1" dirty="0" smtClean="0"/>
              <a:t>2-tier, </a:t>
            </a:r>
            <a:r>
              <a:rPr lang="el-GR" altLang="en-US" sz="1600" dirty="0" smtClean="0"/>
              <a:t>όπου το </a:t>
            </a:r>
            <a:r>
              <a:rPr lang="el-GR" altLang="en-US" sz="1600" dirty="0" err="1" smtClean="0"/>
              <a:t>presentation</a:t>
            </a:r>
            <a:r>
              <a:rPr lang="el-GR" altLang="en-US" sz="1600" dirty="0" smtClean="0"/>
              <a:t> </a:t>
            </a:r>
            <a:r>
              <a:rPr lang="el-GR" altLang="en-US" sz="1600" dirty="0" err="1" smtClean="0"/>
              <a:t>layer</a:t>
            </a:r>
            <a:r>
              <a:rPr lang="el-GR" altLang="en-US" sz="1600" dirty="0" smtClean="0"/>
              <a:t> μεταφέρεται στους χρήστες (</a:t>
            </a:r>
            <a:r>
              <a:rPr lang="el-GR" altLang="en-US" sz="1600" dirty="0" err="1" smtClean="0"/>
              <a:t>clients</a:t>
            </a:r>
            <a:r>
              <a:rPr lang="el-GR" altLang="en-US" sz="1600" dirty="0" smtClean="0"/>
              <a:t>). </a:t>
            </a:r>
          </a:p>
          <a:p>
            <a:pPr lvl="1">
              <a:lnSpc>
                <a:spcPct val="80000"/>
              </a:lnSpc>
            </a:pPr>
            <a:r>
              <a:rPr lang="el-GR" altLang="en-US" sz="1600" b="1" dirty="0" smtClean="0"/>
              <a:t>3-tier</a:t>
            </a:r>
            <a:r>
              <a:rPr lang="el-GR" altLang="en-US" sz="1600" dirty="0" smtClean="0"/>
              <a:t>, όπου τα τρία επίπεδα είναι πλήρως διακριτά και ξεχωρισμένα.</a:t>
            </a:r>
          </a:p>
          <a:p>
            <a:pPr lvl="1"/>
            <a:r>
              <a:rPr lang="el-GR" altLang="en-US" sz="1600" b="1" dirty="0" err="1" smtClean="0"/>
              <a:t>Middleware</a:t>
            </a:r>
            <a:r>
              <a:rPr lang="el-GR" altLang="en-US" sz="1600" dirty="0" smtClean="0"/>
              <a:t>, αναφέρεται σε ένα επίπεδο μεταξύ των χρηστών (</a:t>
            </a:r>
            <a:r>
              <a:rPr lang="el-GR" altLang="en-US" sz="1600" dirty="0" err="1" smtClean="0"/>
              <a:t>clients</a:t>
            </a:r>
            <a:r>
              <a:rPr lang="el-GR" altLang="en-US" sz="1600" dirty="0" smtClean="0"/>
              <a:t>) και των άλλων επιπέδων του συστήματος εισάγοντας ένα επιπλέον επίπεδο με </a:t>
            </a:r>
            <a:r>
              <a:rPr lang="el-GR" altLang="en-US" sz="1600" dirty="0" err="1" smtClean="0"/>
              <a:t>business</a:t>
            </a:r>
            <a:r>
              <a:rPr lang="el-GR" altLang="en-US" sz="1600" dirty="0" smtClean="0"/>
              <a:t> </a:t>
            </a:r>
            <a:r>
              <a:rPr lang="el-GR" altLang="en-US" sz="1600" dirty="0" err="1" smtClean="0"/>
              <a:t>logic</a:t>
            </a:r>
            <a:r>
              <a:rPr lang="el-GR" altLang="en-US" sz="1600" dirty="0" smtClean="0"/>
              <a:t>.</a:t>
            </a:r>
          </a:p>
          <a:p>
            <a:pPr lvl="1">
              <a:lnSpc>
                <a:spcPct val="80000"/>
              </a:lnSpc>
            </a:pPr>
            <a:r>
              <a:rPr lang="el-GR" altLang="en-US" sz="1600" b="1" dirty="0" smtClean="0"/>
              <a:t>N-</a:t>
            </a:r>
            <a:r>
              <a:rPr lang="el-GR" altLang="en-US" sz="1600" b="1" dirty="0" err="1" smtClean="0"/>
              <a:t>tier</a:t>
            </a:r>
            <a:endParaRPr lang="el-GR" altLang="en-US" sz="1600" b="1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ED42D1BD-B513-46E7-96AE-C780F31207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altLang="en-US" dirty="0"/>
              <a:t>Πα</a:t>
            </a:r>
            <a:r>
              <a:rPr lang="en-US" altLang="en-US" dirty="0" err="1"/>
              <a:t>ράδειγμ</a:t>
            </a:r>
            <a:r>
              <a:rPr lang="en-US" altLang="en-US" dirty="0"/>
              <a:t>α 3-tier system</a:t>
            </a:r>
          </a:p>
        </p:txBody>
      </p:sp>
      <p:pic>
        <p:nvPicPr>
          <p:cNvPr id="55299" name="Picture 5"/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1628800"/>
            <a:ext cx="6192688" cy="4169215"/>
          </a:xfrm>
        </p:spPr>
      </p:pic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2C31D970-5ACC-404D-A570-3E7C7A2D8D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0AC767AB-5285-49E0-9C2D-81B86BCE088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404664"/>
            <a:ext cx="7704667" cy="1057765"/>
          </a:xfrm>
        </p:spPr>
        <p:txBody>
          <a:bodyPr/>
          <a:lstStyle/>
          <a:p>
            <a:r>
              <a:rPr lang="en-US" altLang="en-US" dirty="0"/>
              <a:t>Πα</a:t>
            </a:r>
            <a:r>
              <a:rPr lang="en-US" altLang="en-US" dirty="0" err="1"/>
              <a:t>ράδειγμ</a:t>
            </a:r>
            <a:r>
              <a:rPr lang="en-US" altLang="en-US" dirty="0"/>
              <a:t>α N-tier system</a:t>
            </a:r>
          </a:p>
        </p:txBody>
      </p:sp>
      <p:grpSp>
        <p:nvGrpSpPr>
          <p:cNvPr id="56323" name="Group 6"/>
          <p:cNvGrpSpPr>
            <a:grpSpLocks/>
          </p:cNvGrpSpPr>
          <p:nvPr/>
        </p:nvGrpSpPr>
        <p:grpSpPr bwMode="auto">
          <a:xfrm>
            <a:off x="1438584" y="1403093"/>
            <a:ext cx="6733816" cy="4762211"/>
            <a:chOff x="1476375" y="1268413"/>
            <a:chExt cx="6408738" cy="4532312"/>
          </a:xfrm>
        </p:grpSpPr>
        <p:sp>
          <p:nvSpPr>
            <p:cNvPr id="56327" name="Line 5"/>
            <p:cNvSpPr>
              <a:spLocks noChangeShapeType="1"/>
            </p:cNvSpPr>
            <p:nvPr/>
          </p:nvSpPr>
          <p:spPr bwMode="auto">
            <a:xfrm>
              <a:off x="1908175" y="5373688"/>
              <a:ext cx="5400675" cy="1587"/>
            </a:xfrm>
            <a:prstGeom prst="line">
              <a:avLst/>
            </a:prstGeom>
            <a:noFill/>
            <a:ln w="635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328" name="Rectangle 6"/>
            <p:cNvSpPr>
              <a:spLocks/>
            </p:cNvSpPr>
            <p:nvPr/>
          </p:nvSpPr>
          <p:spPr bwMode="auto">
            <a:xfrm>
              <a:off x="2987675" y="5445125"/>
              <a:ext cx="3378200" cy="3556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40639" bIns="0"/>
            <a:lstStyle>
              <a:lvl1pPr marL="39688">
                <a:spcBef>
                  <a:spcPts val="700"/>
                </a:spcBef>
                <a:buSzPct val="100000"/>
                <a:buFont typeface="Arial" pitchFamily="34" charset="0"/>
                <a:buChar char="•"/>
                <a:defRPr sz="29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1pPr>
              <a:lvl2pPr marL="742950" indent="-285750">
                <a:spcBef>
                  <a:spcPts val="600"/>
                </a:spcBef>
                <a:buSzPct val="100000"/>
                <a:buFont typeface="Arial" pitchFamily="34" charset="0"/>
                <a:buChar char="–"/>
                <a:defRPr sz="25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2pPr>
              <a:lvl3pPr marL="1143000" indent="-228600">
                <a:spcBef>
                  <a:spcPts val="500"/>
                </a:spcBef>
                <a:buSzPct val="100000"/>
                <a:buFont typeface="Arial" pitchFamily="34" charset="0"/>
                <a:buChar char="•"/>
                <a:defRPr sz="2200"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3pPr>
              <a:lvl4pPr marL="1600200" indent="-228600">
                <a:spcBef>
                  <a:spcPts val="400"/>
                </a:spcBef>
                <a:buSzPct val="100000"/>
                <a:buFont typeface="Arial" pitchFamily="34" charset="0"/>
                <a:buChar char="–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4pPr>
              <a:lvl5pPr marL="2057400" indent="-228600">
                <a:spcBef>
                  <a:spcPts val="400"/>
                </a:spcBef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5pPr>
              <a:lvl6pPr marL="25146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6pPr>
              <a:lvl7pPr marL="29718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7pPr>
              <a:lvl8pPr marL="34290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8pPr>
              <a:lvl9pPr marL="3886200" indent="-228600" eaLnBrk="0" fontAlgn="base" hangingPunct="0">
                <a:spcBef>
                  <a:spcPts val="400"/>
                </a:spcBef>
                <a:spcAft>
                  <a:spcPct val="0"/>
                </a:spcAft>
                <a:buSzPct val="100000"/>
                <a:buFont typeface="Arial" pitchFamily="34" charset="0"/>
                <a:buChar char="»"/>
                <a:defRPr>
                  <a:solidFill>
                    <a:schemeClr val="tx1"/>
                  </a:solidFill>
                  <a:latin typeface="Arial" pitchFamily="34" charset="0"/>
                  <a:ea typeface="ヒラギノ角ゴ ProN W3"/>
                  <a:cs typeface="ヒラギノ角ゴ ProN W3"/>
                  <a:sym typeface="Arial" pitchFamily="34" charset="0"/>
                </a:defRPr>
              </a:lvl9pPr>
            </a:lstStyle>
            <a:p>
              <a:pPr eaLnBrk="1" hangingPunct="1">
                <a:spcBef>
                  <a:spcPts val="1050"/>
                </a:spcBef>
                <a:buSzTx/>
                <a:buFontTx/>
                <a:buNone/>
              </a:pPr>
              <a:r>
                <a:rPr lang="en-US" altLang="en-US" sz="1800">
                  <a:cs typeface="Arial" pitchFamily="34" charset="0"/>
                </a:rPr>
                <a:t>Η διαδικασία επαναλαμβάνεται!</a:t>
              </a:r>
            </a:p>
          </p:txBody>
        </p:sp>
        <p:pic>
          <p:nvPicPr>
            <p:cNvPr id="56329" name="Picture 7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749"/>
            <a:stretch>
              <a:fillRect/>
            </a:stretch>
          </p:blipFill>
          <p:spPr bwMode="auto">
            <a:xfrm>
              <a:off x="1476375" y="1268413"/>
              <a:ext cx="6408738" cy="3992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0B5C72D-D6A7-447B-90C3-4781B001A3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C6FD6C-53C0-4760-916A-921DE0D7EA3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58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531812"/>
          </a:xfrm>
        </p:spPr>
        <p:txBody>
          <a:bodyPr/>
          <a:lstStyle/>
          <a:p>
            <a:r>
              <a:rPr lang="el-GR" altLang="en-US" sz="3200" dirty="0"/>
              <a:t>Υπηρεσιοστρεφείς Αρχιτεκτονικές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5582" y="2575421"/>
            <a:ext cx="3494162" cy="3877915"/>
          </a:xfrm>
        </p:spPr>
      </p:pic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043608" y="1110462"/>
            <a:ext cx="770485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9pPr>
          </a:lstStyle>
          <a:p>
            <a:pPr>
              <a:lnSpc>
                <a:spcPct val="120000"/>
              </a:lnSpc>
            </a:pPr>
            <a:r>
              <a:rPr lang="el-GR" altLang="en-US" sz="2000" dirty="0"/>
              <a:t>Σχεδιαστικό μοντέλο με κύριο χαρακτηριστικό την </a:t>
            </a:r>
            <a:r>
              <a:rPr lang="el-GR" altLang="en-US" sz="2000" b="1" u="sng" dirty="0"/>
              <a:t>ενσωμάτωση λογικής εφαρμογών</a:t>
            </a:r>
            <a:r>
              <a:rPr lang="el-GR" altLang="en-US" sz="2000" dirty="0"/>
              <a:t> μέσα σε </a:t>
            </a:r>
            <a:r>
              <a:rPr lang="el-GR" altLang="en-US" sz="2000" b="1" u="sng" dirty="0"/>
              <a:t>υπηρεσίες</a:t>
            </a:r>
            <a:r>
              <a:rPr lang="el-GR" altLang="en-US" sz="2000" dirty="0"/>
              <a:t> που ακολουθούν συγκεκριμένα </a:t>
            </a:r>
            <a:r>
              <a:rPr lang="el-GR" altLang="en-US" sz="2000" b="1" u="sng" dirty="0"/>
              <a:t>πρότυπα</a:t>
            </a:r>
            <a:r>
              <a:rPr lang="el-GR" altLang="en-US" sz="2000" dirty="0"/>
              <a:t> και αλληλεπιδρούν μέσω </a:t>
            </a:r>
            <a:r>
              <a:rPr lang="el-GR" altLang="en-US" sz="2000" b="1" u="sng" dirty="0"/>
              <a:t>πρωτοκόλλων</a:t>
            </a:r>
            <a:r>
              <a:rPr lang="el-GR" altLang="en-US" sz="2000" dirty="0"/>
              <a:t>.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2564904"/>
            <a:ext cx="3909712" cy="29063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DF9D8426-0FEA-4E98-BD67-A8A06D111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075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731837"/>
          </a:xfrm>
        </p:spPr>
        <p:txBody>
          <a:bodyPr/>
          <a:lstStyle/>
          <a:p>
            <a:r>
              <a:rPr lang="el-GR" altLang="en-US" sz="3600" dirty="0"/>
              <a:t>Υπηρεσιοστρεφείς Υποδομές</a:t>
            </a:r>
            <a:endParaRPr lang="en-US" altLang="en-US" sz="3600" dirty="0"/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611560" y="1291579"/>
            <a:ext cx="4242329" cy="5161757"/>
          </a:xfrm>
        </p:spPr>
        <p:txBody>
          <a:bodyPr>
            <a:normAutofit/>
          </a:bodyPr>
          <a:lstStyle/>
          <a:p>
            <a:r>
              <a:rPr lang="el-GR" altLang="en-US" sz="2000" dirty="0"/>
              <a:t>Ο όρος </a:t>
            </a:r>
            <a:r>
              <a:rPr lang="el-GR" altLang="en-US" sz="2000" b="1" u="sng" dirty="0"/>
              <a:t>Υπηρεσιοστρεφής Υποδομή</a:t>
            </a:r>
            <a:r>
              <a:rPr lang="el-GR" altLang="en-US" sz="2000" b="1" dirty="0"/>
              <a:t> </a:t>
            </a:r>
            <a:r>
              <a:rPr lang="el-GR" altLang="en-US" sz="2000" dirty="0"/>
              <a:t>(</a:t>
            </a:r>
            <a:r>
              <a:rPr lang="en-US" altLang="en-US" sz="2000" dirty="0"/>
              <a:t>Service Oriented Infrastructure</a:t>
            </a:r>
            <a:r>
              <a:rPr lang="el-GR" altLang="en-US" sz="2000" dirty="0"/>
              <a:t>) αναφέρεται σε μια </a:t>
            </a:r>
            <a:r>
              <a:rPr lang="el-GR" altLang="en-US" sz="2000" u="sng" dirty="0"/>
              <a:t>υπολογιστική υποδομή (</a:t>
            </a:r>
            <a:r>
              <a:rPr lang="en-US" altLang="en-US" sz="2000" u="sng" dirty="0"/>
              <a:t>IT Infrastructure)</a:t>
            </a:r>
            <a:r>
              <a:rPr lang="el-GR" altLang="en-US" sz="2000" dirty="0"/>
              <a:t> που</a:t>
            </a:r>
          </a:p>
          <a:p>
            <a:pPr lvl="1"/>
            <a:r>
              <a:rPr lang="el-GR" altLang="en-US" sz="1800" dirty="0"/>
              <a:t>ακολουθεί </a:t>
            </a:r>
            <a:r>
              <a:rPr lang="el-GR" altLang="en-US" sz="1800" u="sng" dirty="0"/>
              <a:t>Υπηρεσιοστρεφή Αρχιτεκτονικό</a:t>
            </a:r>
            <a:r>
              <a:rPr lang="el-GR" altLang="en-US" sz="1800" dirty="0"/>
              <a:t> σχεδιασμό</a:t>
            </a:r>
            <a:r>
              <a:rPr lang="en-US" altLang="en-US" sz="1800" dirty="0"/>
              <a:t> </a:t>
            </a:r>
            <a:r>
              <a:rPr lang="el-GR" altLang="en-US" sz="1800" dirty="0"/>
              <a:t>(</a:t>
            </a:r>
            <a:r>
              <a:rPr lang="en-US" altLang="en-US" sz="1800" dirty="0"/>
              <a:t>Service Oriented Architecture</a:t>
            </a:r>
            <a:r>
              <a:rPr lang="el-GR" altLang="en-US" sz="1800" dirty="0"/>
              <a:t>),</a:t>
            </a:r>
          </a:p>
          <a:p>
            <a:pPr lvl="1"/>
            <a:r>
              <a:rPr lang="el-GR" altLang="en-US" sz="1800" u="sng" dirty="0"/>
              <a:t>παρέχει υπηρεσίες</a:t>
            </a:r>
            <a:r>
              <a:rPr lang="el-GR" altLang="en-US" sz="1800" b="1" dirty="0"/>
              <a:t> </a:t>
            </a:r>
            <a:r>
              <a:rPr lang="el-GR" altLang="en-US" sz="1800" dirty="0"/>
              <a:t>και όχι αποκλειστικά χρησιμοποιούμενο λογισμικό ή υλικό,</a:t>
            </a:r>
          </a:p>
          <a:p>
            <a:pPr lvl="1"/>
            <a:r>
              <a:rPr lang="el-GR" altLang="en-US" sz="1800" dirty="0"/>
              <a:t>η </a:t>
            </a:r>
            <a:r>
              <a:rPr lang="el-GR" altLang="en-US" sz="1800" u="sng" dirty="0"/>
              <a:t>διαχείρισή</a:t>
            </a:r>
            <a:r>
              <a:rPr lang="el-GR" altLang="en-US" sz="1800" dirty="0"/>
              <a:t> της γίνεται ακολουθώντας </a:t>
            </a:r>
            <a:r>
              <a:rPr lang="el-GR" altLang="en-US" sz="1800" u="sng" dirty="0"/>
              <a:t>επιχειρηματικά πρότυπα</a:t>
            </a:r>
            <a:r>
              <a:rPr lang="el-GR" altLang="en-US" sz="1800" dirty="0"/>
              <a:t>.</a:t>
            </a:r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sz="half" idx="4294967295"/>
          </p:nvPr>
        </p:nvGraphicFramePr>
        <p:xfrm>
          <a:off x="4895850" y="1376363"/>
          <a:ext cx="4248150" cy="49101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286375" y="3476625"/>
            <a:ext cx="3071813" cy="70802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9pPr>
          </a:lstStyle>
          <a:p>
            <a:pPr algn="ctr"/>
            <a:r>
              <a:rPr lang="el-GR" altLang="en-US" sz="2000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Υπηρεσιοστρεφής Υποδομή</a:t>
            </a:r>
            <a:endParaRPr lang="en-US" altLang="en-US" sz="2000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3635896" y="1124744"/>
            <a:ext cx="2714626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ヒラギノ角ゴ ProN W3" charset="0"/>
                <a:cs typeface="ヒラギノ角ゴ ProN W3" charset="0"/>
              </a:defRPr>
            </a:lvl9pPr>
          </a:lstStyle>
          <a:p>
            <a:r>
              <a:rPr lang="el-GR" altLang="en-US" b="1" dirty="0"/>
              <a:t>Πλεονεκτήματα</a:t>
            </a:r>
            <a:endParaRPr lang="en-US" alt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7822688B-68F2-424E-819A-9C67B942D0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dirty="0"/>
              <a:t>Διαδίκτυο και Εφαρμογές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2D9E80E2-1824-4ABC-ABBD-5488D2D191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1634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Graphic spid="15" grpId="0">
        <p:bldAsOne/>
      </p:bldGraphic>
      <p:bldP spid="16" grpId="0"/>
      <p:bldP spid="17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982133" y="404664"/>
            <a:ext cx="7704667" cy="929621"/>
          </a:xfrm>
        </p:spPr>
        <p:txBody>
          <a:bodyPr/>
          <a:lstStyle/>
          <a:p>
            <a:r>
              <a:rPr lang="el-GR" altLang="en-US" dirty="0"/>
              <a:t>Τομείς Εφαρμογής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1011238" y="3981450"/>
            <a:ext cx="2305050" cy="1876425"/>
            <a:chOff x="1746" y="2697"/>
            <a:chExt cx="1089" cy="1182"/>
          </a:xfrm>
        </p:grpSpPr>
        <p:sp>
          <p:nvSpPr>
            <p:cNvPr id="8223" name="AutoShape 9"/>
            <p:cNvSpPr>
              <a:spLocks noChangeArrowheads="1"/>
            </p:cNvSpPr>
            <p:nvPr/>
          </p:nvSpPr>
          <p:spPr bwMode="auto">
            <a:xfrm>
              <a:off x="1746" y="2704"/>
              <a:ext cx="1089" cy="1175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algn="ctr"/>
              <a:endParaRPr lang="el-GR" altLang="en-US">
                <a:latin typeface="Verdana" pitchFamily="34" charset="0"/>
              </a:endParaRPr>
            </a:p>
          </p:txBody>
        </p:sp>
        <p:sp>
          <p:nvSpPr>
            <p:cNvPr id="8224" name="Text Box 10"/>
            <p:cNvSpPr txBox="1">
              <a:spLocks noChangeArrowheads="1"/>
            </p:cNvSpPr>
            <p:nvPr/>
          </p:nvSpPr>
          <p:spPr bwMode="auto">
            <a:xfrm>
              <a:off x="1791" y="2697"/>
              <a:ext cx="972" cy="1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eaLnBrk="1" hangingPunct="1"/>
              <a:r>
                <a:rPr lang="el-GR" altLang="en-US" sz="2000" b="1" dirty="0"/>
                <a:t>Επιστημονικό και Εκπαιδευτικό κλάδο</a:t>
              </a:r>
            </a:p>
            <a:p>
              <a:pPr eaLnBrk="1" hangingPunct="1"/>
              <a:endParaRPr lang="el-GR" altLang="en-US" sz="500" b="1" dirty="0"/>
            </a:p>
            <a:p>
              <a:pPr eaLnBrk="1" hangingPunct="1"/>
              <a:r>
                <a:rPr lang="el-GR" altLang="en-US" sz="1400" dirty="0"/>
                <a:t>(ερευνητικά ινστιτούτα, δημόσια έρευνα)</a:t>
              </a:r>
              <a:endParaRPr lang="en-US" altLang="en-US" sz="1400" dirty="0"/>
            </a:p>
          </p:txBody>
        </p:sp>
      </p:grpSp>
      <p:sp>
        <p:nvSpPr>
          <p:cNvPr id="83" name="Freeform 11"/>
          <p:cNvSpPr>
            <a:spLocks/>
          </p:cNvSpPr>
          <p:nvPr/>
        </p:nvSpPr>
        <p:spPr bwMode="gray">
          <a:xfrm>
            <a:off x="3478213" y="4052888"/>
            <a:ext cx="903287" cy="1241425"/>
          </a:xfrm>
          <a:custGeom>
            <a:avLst/>
            <a:gdLst>
              <a:gd name="T0" fmla="*/ 1406772741 w 580"/>
              <a:gd name="T1" fmla="*/ 0 h 798"/>
              <a:gd name="T2" fmla="*/ 1401921469 w 580"/>
              <a:gd name="T3" fmla="*/ 217809447 h 798"/>
              <a:gd name="T4" fmla="*/ 1377666666 w 580"/>
              <a:gd name="T5" fmla="*/ 421099826 h 798"/>
              <a:gd name="T6" fmla="*/ 1338859604 w 580"/>
              <a:gd name="T7" fmla="*/ 609867929 h 798"/>
              <a:gd name="T8" fmla="*/ 1275797739 w 580"/>
              <a:gd name="T9" fmla="*/ 784115409 h 798"/>
              <a:gd name="T10" fmla="*/ 1198182057 w 580"/>
              <a:gd name="T11" fmla="*/ 943842460 h 798"/>
              <a:gd name="T12" fmla="*/ 1096313130 w 580"/>
              <a:gd name="T13" fmla="*/ 1089050249 h 798"/>
              <a:gd name="T14" fmla="*/ 975039115 w 580"/>
              <a:gd name="T15" fmla="*/ 1229416793 h 798"/>
              <a:gd name="T16" fmla="*/ 829510296 w 580"/>
              <a:gd name="T17" fmla="*/ 1355262713 h 798"/>
              <a:gd name="T18" fmla="*/ 654876764 w 580"/>
              <a:gd name="T19" fmla="*/ 1476267389 h 798"/>
              <a:gd name="T20" fmla="*/ 455988625 w 580"/>
              <a:gd name="T21" fmla="*/ 1587592686 h 798"/>
              <a:gd name="T22" fmla="*/ 455988625 w 580"/>
              <a:gd name="T23" fmla="*/ 1931248346 h 798"/>
              <a:gd name="T24" fmla="*/ 0 w 580"/>
              <a:gd name="T25" fmla="*/ 1243937416 h 798"/>
              <a:gd name="T26" fmla="*/ 455988625 w 580"/>
              <a:gd name="T27" fmla="*/ 556625125 h 798"/>
              <a:gd name="T28" fmla="*/ 455988625 w 580"/>
              <a:gd name="T29" fmla="*/ 900280590 h 798"/>
              <a:gd name="T30" fmla="*/ 543305293 w 580"/>
              <a:gd name="T31" fmla="*/ 890601212 h 798"/>
              <a:gd name="T32" fmla="*/ 640324506 w 580"/>
              <a:gd name="T33" fmla="*/ 861559965 h 798"/>
              <a:gd name="T34" fmla="*/ 742193433 w 580"/>
              <a:gd name="T35" fmla="*/ 813156656 h 798"/>
              <a:gd name="T36" fmla="*/ 844064112 w 580"/>
              <a:gd name="T37" fmla="*/ 750234473 h 798"/>
              <a:gd name="T38" fmla="*/ 950784311 w 580"/>
              <a:gd name="T39" fmla="*/ 677631357 h 798"/>
              <a:gd name="T40" fmla="*/ 1047803524 w 580"/>
              <a:gd name="T41" fmla="*/ 595347306 h 798"/>
              <a:gd name="T42" fmla="*/ 1144821179 w 580"/>
              <a:gd name="T43" fmla="*/ 503382321 h 798"/>
              <a:gd name="T44" fmla="*/ 1227288133 w 580"/>
              <a:gd name="T45" fmla="*/ 401737861 h 798"/>
              <a:gd name="T46" fmla="*/ 1300052542 w 580"/>
              <a:gd name="T47" fmla="*/ 300093498 h 798"/>
              <a:gd name="T48" fmla="*/ 1353411863 w 580"/>
              <a:gd name="T49" fmla="*/ 198449086 h 798"/>
              <a:gd name="T50" fmla="*/ 1392220483 w 580"/>
              <a:gd name="T51" fmla="*/ 96804698 h 798"/>
              <a:gd name="T52" fmla="*/ 1401921469 w 580"/>
              <a:gd name="T53" fmla="*/ 0 h 798"/>
              <a:gd name="T54" fmla="*/ 1406772741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solidFill>
            <a:srgbClr val="BDBFB9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0" name="AutoShape 12"/>
          <p:cNvSpPr>
            <a:spLocks noChangeAspect="1" noChangeArrowheads="1" noTextEdit="1"/>
          </p:cNvSpPr>
          <p:nvPr/>
        </p:nvSpPr>
        <p:spPr bwMode="gray">
          <a:xfrm flipH="1">
            <a:off x="5124450" y="3513138"/>
            <a:ext cx="909638" cy="124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3892550" y="3268663"/>
            <a:ext cx="1809750" cy="712787"/>
            <a:chOff x="2291" y="2026"/>
            <a:chExt cx="1140" cy="449"/>
          </a:xfrm>
        </p:grpSpPr>
        <p:grpSp>
          <p:nvGrpSpPr>
            <p:cNvPr id="8214" name="Group 14"/>
            <p:cNvGrpSpPr>
              <a:grpSpLocks/>
            </p:cNvGrpSpPr>
            <p:nvPr/>
          </p:nvGrpSpPr>
          <p:grpSpPr bwMode="auto">
            <a:xfrm>
              <a:off x="2291" y="2058"/>
              <a:ext cx="1140" cy="417"/>
              <a:chOff x="1997" y="1314"/>
              <a:chExt cx="1889" cy="1009"/>
            </a:xfrm>
          </p:grpSpPr>
          <p:grpSp>
            <p:nvGrpSpPr>
              <p:cNvPr id="8216" name="Group 15"/>
              <p:cNvGrpSpPr>
                <a:grpSpLocks/>
              </p:cNvGrpSpPr>
              <p:nvPr/>
            </p:nvGrpSpPr>
            <p:grpSpPr bwMode="auto">
              <a:xfrm>
                <a:off x="1997" y="1404"/>
                <a:ext cx="1889" cy="919"/>
                <a:chOff x="1973" y="1027"/>
                <a:chExt cx="1926" cy="937"/>
              </a:xfrm>
            </p:grpSpPr>
            <p:sp>
              <p:nvSpPr>
                <p:cNvPr id="93" name="Oval 16"/>
                <p:cNvSpPr>
                  <a:spLocks noChangeArrowheads="1"/>
                </p:cNvSpPr>
                <p:nvPr/>
              </p:nvSpPr>
              <p:spPr bwMode="gray">
                <a:xfrm>
                  <a:off x="1993" y="1056"/>
                  <a:ext cx="1906" cy="90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chemeClr val="hlink">
                        <a:gamma/>
                        <a:shade val="48627"/>
                        <a:invGamma/>
                      </a:schemeClr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  <p:sp>
              <p:nvSpPr>
                <p:cNvPr id="94" name="Oval 17"/>
                <p:cNvSpPr>
                  <a:spLocks noChangeArrowheads="1"/>
                </p:cNvSpPr>
                <p:nvPr/>
              </p:nvSpPr>
              <p:spPr bwMode="gray">
                <a:xfrm>
                  <a:off x="1973" y="1027"/>
                  <a:ext cx="1906" cy="908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>
                        <a:gamma/>
                        <a:tint val="44314"/>
                        <a:invGamma/>
                      </a:schemeClr>
                    </a:gs>
                    <a:gs pos="100000">
                      <a:schemeClr val="hlink"/>
                    </a:gs>
                  </a:gsLst>
                  <a:lin ang="27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en-US"/>
                </a:p>
              </p:txBody>
            </p:sp>
          </p:grpSp>
          <p:sp>
            <p:nvSpPr>
              <p:cNvPr id="89" name="Oval 18"/>
              <p:cNvSpPr>
                <a:spLocks noChangeArrowheads="1"/>
              </p:cNvSpPr>
              <p:nvPr/>
            </p:nvSpPr>
            <p:spPr bwMode="gray">
              <a:xfrm>
                <a:off x="2086" y="1314"/>
                <a:ext cx="1690" cy="84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0" name="Oval 19"/>
              <p:cNvSpPr>
                <a:spLocks noChangeArrowheads="1"/>
              </p:cNvSpPr>
              <p:nvPr/>
            </p:nvSpPr>
            <p:spPr bwMode="gray">
              <a:xfrm>
                <a:off x="2108" y="1319"/>
                <a:ext cx="1650" cy="825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alpha val="0"/>
                    </a:schemeClr>
                  </a:gs>
                  <a:gs pos="100000">
                    <a:schemeClr val="accent1">
                      <a:gamma/>
                      <a:tint val="34902"/>
                      <a:invGamma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1" name="Oval 20"/>
              <p:cNvSpPr>
                <a:spLocks noChangeArrowheads="1"/>
              </p:cNvSpPr>
              <p:nvPr/>
            </p:nvSpPr>
            <p:spPr bwMode="gray">
              <a:xfrm>
                <a:off x="2125" y="1326"/>
                <a:ext cx="1571" cy="772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shade val="79216"/>
                      <a:invGamma/>
                    </a:schemeClr>
                  </a:gs>
                  <a:gs pos="100000">
                    <a:schemeClr val="accent1">
                      <a:alpha val="48000"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92" name="Oval 21"/>
              <p:cNvSpPr>
                <a:spLocks noChangeArrowheads="1"/>
              </p:cNvSpPr>
              <p:nvPr/>
            </p:nvSpPr>
            <p:spPr bwMode="gray">
              <a:xfrm>
                <a:off x="2207" y="1343"/>
                <a:ext cx="1382" cy="624"/>
              </a:xfrm>
              <a:prstGeom prst="ellipse">
                <a:avLst/>
              </a:prstGeom>
              <a:gradFill rotWithShape="1">
                <a:gsLst>
                  <a:gs pos="0">
                    <a:schemeClr val="accent1">
                      <a:gamma/>
                      <a:tint val="0"/>
                      <a:invGamma/>
                    </a:schemeClr>
                  </a:gs>
                  <a:gs pos="100000">
                    <a:schemeClr val="accent1">
                      <a:alpha val="38000"/>
                    </a:schemeClr>
                  </a:gs>
                </a:gsLst>
                <a:lin ang="2700000" scaled="1"/>
              </a:gradFill>
              <a:ln w="9525" algn="ctr">
                <a:noFill/>
                <a:round/>
                <a:headEnd/>
                <a:tailEnd/>
              </a:ln>
              <a:effectLst/>
            </p:spPr>
            <p:txBody>
              <a:bodyPr vert="eaVert"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8215" name="Text Box 22"/>
            <p:cNvSpPr txBox="1">
              <a:spLocks noChangeArrowheads="1"/>
            </p:cNvSpPr>
            <p:nvPr/>
          </p:nvSpPr>
          <p:spPr bwMode="auto">
            <a:xfrm>
              <a:off x="2426" y="2026"/>
              <a:ext cx="90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algn="ctr"/>
              <a:r>
                <a:rPr lang="el-GR" altLang="en-US" dirty="0"/>
                <a:t>Περιβάλλον </a:t>
              </a:r>
            </a:p>
            <a:p>
              <a:pPr algn="ctr"/>
              <a:r>
                <a:rPr lang="el-GR" altLang="en-US" dirty="0"/>
                <a:t>Πλέγματος</a:t>
              </a:r>
              <a:endParaRPr lang="en-US" altLang="en-US" dirty="0"/>
            </a:p>
          </p:txBody>
        </p:sp>
      </p:grpSp>
      <p:sp>
        <p:nvSpPr>
          <p:cNvPr id="95" name="Freeform 23"/>
          <p:cNvSpPr>
            <a:spLocks/>
          </p:cNvSpPr>
          <p:nvPr/>
        </p:nvSpPr>
        <p:spPr bwMode="gray">
          <a:xfrm flipH="1">
            <a:off x="5130800" y="4052888"/>
            <a:ext cx="903288" cy="1241425"/>
          </a:xfrm>
          <a:custGeom>
            <a:avLst/>
            <a:gdLst>
              <a:gd name="T0" fmla="*/ 1406772741 w 580"/>
              <a:gd name="T1" fmla="*/ 0 h 798"/>
              <a:gd name="T2" fmla="*/ 1401921464 w 580"/>
              <a:gd name="T3" fmla="*/ 217809447 h 798"/>
              <a:gd name="T4" fmla="*/ 1377666634 w 580"/>
              <a:gd name="T5" fmla="*/ 421099826 h 798"/>
              <a:gd name="T6" fmla="*/ 1338859529 w 580"/>
              <a:gd name="T7" fmla="*/ 609867929 h 798"/>
              <a:gd name="T8" fmla="*/ 1275797594 w 580"/>
              <a:gd name="T9" fmla="*/ 784115409 h 798"/>
              <a:gd name="T10" fmla="*/ 1198181827 w 580"/>
              <a:gd name="T11" fmla="*/ 943842460 h 798"/>
              <a:gd name="T12" fmla="*/ 1096312787 w 580"/>
              <a:gd name="T13" fmla="*/ 1089050249 h 798"/>
              <a:gd name="T14" fmla="*/ 975038637 w 580"/>
              <a:gd name="T15" fmla="*/ 1229416793 h 798"/>
              <a:gd name="T16" fmla="*/ 829511214 w 580"/>
              <a:gd name="T17" fmla="*/ 1355262713 h 798"/>
              <a:gd name="T18" fmla="*/ 654877489 w 580"/>
              <a:gd name="T19" fmla="*/ 1476267389 h 798"/>
              <a:gd name="T20" fmla="*/ 455989129 w 580"/>
              <a:gd name="T21" fmla="*/ 1587592686 h 798"/>
              <a:gd name="T22" fmla="*/ 455989129 w 580"/>
              <a:gd name="T23" fmla="*/ 1931248346 h 798"/>
              <a:gd name="T24" fmla="*/ 0 w 580"/>
              <a:gd name="T25" fmla="*/ 1243937416 h 798"/>
              <a:gd name="T26" fmla="*/ 455989129 w 580"/>
              <a:gd name="T27" fmla="*/ 556625125 h 798"/>
              <a:gd name="T28" fmla="*/ 455989129 w 580"/>
              <a:gd name="T29" fmla="*/ 900280590 h 798"/>
              <a:gd name="T30" fmla="*/ 543305894 w 580"/>
              <a:gd name="T31" fmla="*/ 890601212 h 798"/>
              <a:gd name="T32" fmla="*/ 640323657 w 580"/>
              <a:gd name="T33" fmla="*/ 861559965 h 798"/>
              <a:gd name="T34" fmla="*/ 742194254 w 580"/>
              <a:gd name="T35" fmla="*/ 813156656 h 798"/>
              <a:gd name="T36" fmla="*/ 844063489 w 580"/>
              <a:gd name="T37" fmla="*/ 750234473 h 798"/>
              <a:gd name="T38" fmla="*/ 950783807 w 580"/>
              <a:gd name="T39" fmla="*/ 677631357 h 798"/>
              <a:gd name="T40" fmla="*/ 1047803127 w 580"/>
              <a:gd name="T41" fmla="*/ 595347306 h 798"/>
              <a:gd name="T42" fmla="*/ 1144822446 w 580"/>
              <a:gd name="T43" fmla="*/ 503382321 h 798"/>
              <a:gd name="T44" fmla="*/ 1227287934 w 580"/>
              <a:gd name="T45" fmla="*/ 401737861 h 798"/>
              <a:gd name="T46" fmla="*/ 1300052424 w 580"/>
              <a:gd name="T47" fmla="*/ 300093498 h 798"/>
              <a:gd name="T48" fmla="*/ 1353411804 w 580"/>
              <a:gd name="T49" fmla="*/ 198449086 h 798"/>
              <a:gd name="T50" fmla="*/ 1392220466 w 580"/>
              <a:gd name="T51" fmla="*/ 96804698 h 798"/>
              <a:gd name="T52" fmla="*/ 1401921464 w 580"/>
              <a:gd name="T53" fmla="*/ 0 h 798"/>
              <a:gd name="T54" fmla="*/ 1406772741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580"/>
              <a:gd name="T85" fmla="*/ 0 h 798"/>
              <a:gd name="T86" fmla="*/ 580 w 580"/>
              <a:gd name="T87" fmla="*/ 798 h 798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solidFill>
            <a:srgbClr val="BDBFB9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8" name="Group 24"/>
          <p:cNvGrpSpPr>
            <a:grpSpLocks/>
          </p:cNvGrpSpPr>
          <p:nvPr/>
        </p:nvGrpSpPr>
        <p:grpSpPr bwMode="auto">
          <a:xfrm>
            <a:off x="6267450" y="1533525"/>
            <a:ext cx="2305050" cy="1866900"/>
            <a:chOff x="720" y="2064"/>
            <a:chExt cx="1440" cy="1680"/>
          </a:xfrm>
        </p:grpSpPr>
        <p:sp>
          <p:nvSpPr>
            <p:cNvPr id="8212" name="AutoShape 25"/>
            <p:cNvSpPr>
              <a:spLocks noChangeArrowheads="1"/>
            </p:cNvSpPr>
            <p:nvPr/>
          </p:nvSpPr>
          <p:spPr bwMode="auto">
            <a:xfrm>
              <a:off x="720" y="2064"/>
              <a:ext cx="1440" cy="168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algn="ctr"/>
              <a:endParaRPr lang="el-GR" altLang="en-US">
                <a:latin typeface="Verdana" pitchFamily="34" charset="0"/>
              </a:endParaRPr>
            </a:p>
          </p:txBody>
        </p:sp>
        <p:sp>
          <p:nvSpPr>
            <p:cNvPr id="8213" name="Text Box 26"/>
            <p:cNvSpPr txBox="1">
              <a:spLocks noChangeArrowheads="1"/>
            </p:cNvSpPr>
            <p:nvPr/>
          </p:nvSpPr>
          <p:spPr bwMode="auto">
            <a:xfrm>
              <a:off x="781" y="2190"/>
              <a:ext cx="1284" cy="10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eaLnBrk="1" hangingPunct="1"/>
              <a:r>
                <a:rPr lang="el-GR" altLang="en-US" sz="2000" b="1" dirty="0"/>
                <a:t>Αγορές χρήματος</a:t>
              </a:r>
            </a:p>
            <a:p>
              <a:pPr eaLnBrk="1" hangingPunct="1"/>
              <a:endParaRPr lang="el-GR" altLang="en-US" sz="500" b="1" dirty="0"/>
            </a:p>
            <a:p>
              <a:pPr eaLnBrk="1" hangingPunct="1"/>
              <a:r>
                <a:rPr lang="el-GR" altLang="en-US" sz="1400" dirty="0"/>
                <a:t>(χρηματοοικονομικές αναλύσεις)</a:t>
              </a:r>
            </a:p>
          </p:txBody>
        </p:sp>
      </p:grpSp>
      <p:grpSp>
        <p:nvGrpSpPr>
          <p:cNvPr id="9" name="Group 27"/>
          <p:cNvGrpSpPr>
            <a:grpSpLocks/>
          </p:cNvGrpSpPr>
          <p:nvPr/>
        </p:nvGrpSpPr>
        <p:grpSpPr bwMode="auto">
          <a:xfrm>
            <a:off x="6267450" y="3986213"/>
            <a:ext cx="2305050" cy="1866900"/>
            <a:chOff x="720" y="2064"/>
            <a:chExt cx="1440" cy="1680"/>
          </a:xfrm>
        </p:grpSpPr>
        <p:sp>
          <p:nvSpPr>
            <p:cNvPr id="8210" name="AutoShape 28"/>
            <p:cNvSpPr>
              <a:spLocks noChangeArrowheads="1"/>
            </p:cNvSpPr>
            <p:nvPr/>
          </p:nvSpPr>
          <p:spPr bwMode="auto">
            <a:xfrm>
              <a:off x="720" y="2064"/>
              <a:ext cx="1440" cy="1680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algn="ctr"/>
              <a:endParaRPr lang="el-GR" altLang="en-US">
                <a:latin typeface="Verdana" pitchFamily="34" charset="0"/>
              </a:endParaRPr>
            </a:p>
          </p:txBody>
        </p:sp>
        <p:sp>
          <p:nvSpPr>
            <p:cNvPr id="8211" name="Text Box 29"/>
            <p:cNvSpPr txBox="1">
              <a:spLocks noChangeArrowheads="1"/>
            </p:cNvSpPr>
            <p:nvPr/>
          </p:nvSpPr>
          <p:spPr bwMode="auto">
            <a:xfrm>
              <a:off x="780" y="2190"/>
              <a:ext cx="1380" cy="11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eaLnBrk="1" hangingPunct="1"/>
              <a:r>
                <a:rPr lang="el-GR" altLang="en-US" sz="2000" b="1" dirty="0"/>
                <a:t>Βιομηχανικό και Κατασκευαστικό τομέα</a:t>
              </a:r>
              <a:r>
                <a:rPr lang="el-GR" altLang="en-US" sz="1200" dirty="0"/>
                <a:t> </a:t>
              </a:r>
              <a:endParaRPr lang="en-GB" altLang="en-US" sz="1200" dirty="0"/>
            </a:p>
            <a:p>
              <a:pPr eaLnBrk="1" hangingPunct="1"/>
              <a:endParaRPr lang="en-GB" altLang="en-US" sz="500" dirty="0"/>
            </a:p>
            <a:p>
              <a:pPr eaLnBrk="1" hangingPunct="1"/>
              <a:r>
                <a:rPr lang="el-GR" altLang="en-US" sz="1400" dirty="0"/>
                <a:t>(αυτοκινητοβιομηχανία)</a:t>
              </a:r>
              <a:endParaRPr lang="en-US" altLang="en-US" sz="1400" dirty="0"/>
            </a:p>
          </p:txBody>
        </p:sp>
      </p:grp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1009650" y="1533525"/>
            <a:ext cx="2305050" cy="1866900"/>
            <a:chOff x="3787" y="981"/>
            <a:chExt cx="1089" cy="1176"/>
          </a:xfrm>
        </p:grpSpPr>
        <p:sp>
          <p:nvSpPr>
            <p:cNvPr id="8208" name="AutoShape 31"/>
            <p:cNvSpPr>
              <a:spLocks noChangeArrowheads="1"/>
            </p:cNvSpPr>
            <p:nvPr/>
          </p:nvSpPr>
          <p:spPr bwMode="auto">
            <a:xfrm>
              <a:off x="3787" y="981"/>
              <a:ext cx="1089" cy="1176"/>
            </a:xfrm>
            <a:prstGeom prst="roundRect">
              <a:avLst>
                <a:gd name="adj" fmla="val 16667"/>
              </a:avLst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 algn="ctr"/>
              <a:endParaRPr lang="el-GR" altLang="en-US">
                <a:latin typeface="Verdana" pitchFamily="34" charset="0"/>
              </a:endParaRPr>
            </a:p>
          </p:txBody>
        </p:sp>
        <p:sp>
          <p:nvSpPr>
            <p:cNvPr id="8209" name="Text Box 32"/>
            <p:cNvSpPr txBox="1">
              <a:spLocks noChangeArrowheads="1"/>
            </p:cNvSpPr>
            <p:nvPr/>
          </p:nvSpPr>
          <p:spPr bwMode="auto">
            <a:xfrm>
              <a:off x="3829" y="1017"/>
              <a:ext cx="1001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ヒラギノ角ゴ ProN W3" charset="0"/>
                  <a:cs typeface="ヒラギノ角ゴ ProN W3" charset="0"/>
                </a:defRPr>
              </a:lvl9pPr>
            </a:lstStyle>
            <a:p>
              <a:pPr>
                <a:buClr>
                  <a:srgbClr val="0066FF"/>
                </a:buClr>
                <a:buFont typeface="Wingdings" pitchFamily="2" charset="2"/>
                <a:buNone/>
              </a:pPr>
              <a:r>
                <a:rPr lang="el-GR" altLang="en-US" sz="2000" b="1" dirty="0"/>
                <a:t>Ιατρική, βιολογία και γενετική</a:t>
              </a:r>
            </a:p>
            <a:p>
              <a:pPr>
                <a:buClr>
                  <a:srgbClr val="0066FF"/>
                </a:buClr>
                <a:buFont typeface="Wingdings" pitchFamily="2" charset="2"/>
                <a:buNone/>
              </a:pPr>
              <a:r>
                <a:rPr lang="el-GR" altLang="en-US" sz="1400" dirty="0"/>
                <a:t>(διάγνωση νοσημάτων μέσω επεξεργασίας ιατρικών εικόνων)</a:t>
              </a:r>
              <a:endParaRPr lang="en-US" altLang="en-US" sz="1400" dirty="0"/>
            </a:p>
          </p:txBody>
        </p:sp>
      </p:grpSp>
      <p:sp>
        <p:nvSpPr>
          <p:cNvPr id="105" name="Freeform 33"/>
          <p:cNvSpPr>
            <a:spLocks/>
          </p:cNvSpPr>
          <p:nvPr/>
        </p:nvSpPr>
        <p:spPr bwMode="gray">
          <a:xfrm>
            <a:off x="5043488" y="2036763"/>
            <a:ext cx="995362" cy="1241425"/>
          </a:xfrm>
          <a:custGeom>
            <a:avLst/>
            <a:gdLst>
              <a:gd name="T0" fmla="*/ 143649622 w 627"/>
              <a:gd name="T1" fmla="*/ 1970762366 h 782"/>
              <a:gd name="T2" fmla="*/ 148689930 w 627"/>
              <a:gd name="T3" fmla="*/ 1748988685 h 782"/>
              <a:gd name="T4" fmla="*/ 173891470 w 627"/>
              <a:gd name="T5" fmla="*/ 1539816179 h 782"/>
              <a:gd name="T6" fmla="*/ 211693035 w 627"/>
              <a:gd name="T7" fmla="*/ 1348284363 h 782"/>
              <a:gd name="T8" fmla="*/ 277217040 w 627"/>
              <a:gd name="T9" fmla="*/ 1169352532 h 782"/>
              <a:gd name="T10" fmla="*/ 355342607 w 627"/>
              <a:gd name="T11" fmla="*/ 1008062582 h 782"/>
              <a:gd name="T12" fmla="*/ 463708535 w 627"/>
              <a:gd name="T13" fmla="*/ 859374204 h 782"/>
              <a:gd name="T14" fmla="*/ 587196875 w 627"/>
              <a:gd name="T15" fmla="*/ 715724350 h 782"/>
              <a:gd name="T16" fmla="*/ 733365807 w 627"/>
              <a:gd name="T17" fmla="*/ 587195628 h 782"/>
              <a:gd name="T18" fmla="*/ 912296146 w 627"/>
              <a:gd name="T19" fmla="*/ 463708804 h 782"/>
              <a:gd name="T20" fmla="*/ 1116429414 w 627"/>
              <a:gd name="T21" fmla="*/ 350302502 h 782"/>
              <a:gd name="T22" fmla="*/ 1116429414 w 627"/>
              <a:gd name="T23" fmla="*/ 0 h 782"/>
              <a:gd name="T24" fmla="*/ 1580137750 w 627"/>
              <a:gd name="T25" fmla="*/ 700603417 h 782"/>
              <a:gd name="T26" fmla="*/ 1116429414 w 627"/>
              <a:gd name="T27" fmla="*/ 1403727784 h 782"/>
              <a:gd name="T28" fmla="*/ 1116429414 w 627"/>
              <a:gd name="T29" fmla="*/ 1050904431 h 782"/>
              <a:gd name="T30" fmla="*/ 1025703870 w 627"/>
              <a:gd name="T31" fmla="*/ 1060985053 h 782"/>
              <a:gd name="T32" fmla="*/ 927417070 w 627"/>
              <a:gd name="T33" fmla="*/ 1091226919 h 782"/>
              <a:gd name="T34" fmla="*/ 824091351 w 627"/>
              <a:gd name="T35" fmla="*/ 1141630028 h 782"/>
              <a:gd name="T36" fmla="*/ 720764243 w 627"/>
              <a:gd name="T37" fmla="*/ 1204634708 h 782"/>
              <a:gd name="T38" fmla="*/ 609877467 w 627"/>
              <a:gd name="T39" fmla="*/ 1280239372 h 782"/>
              <a:gd name="T40" fmla="*/ 511592255 w 627"/>
              <a:gd name="T41" fmla="*/ 1363405296 h 782"/>
              <a:gd name="T42" fmla="*/ 410785995 w 627"/>
              <a:gd name="T43" fmla="*/ 1456650255 h 782"/>
              <a:gd name="T44" fmla="*/ 327620120 w 627"/>
              <a:gd name="T45" fmla="*/ 1559977422 h 782"/>
              <a:gd name="T46" fmla="*/ 252015499 w 627"/>
              <a:gd name="T47" fmla="*/ 1663303003 h 782"/>
              <a:gd name="T48" fmla="*/ 199093010 w 627"/>
              <a:gd name="T49" fmla="*/ 1769149929 h 782"/>
              <a:gd name="T50" fmla="*/ 158770546 w 627"/>
              <a:gd name="T51" fmla="*/ 1872477097 h 782"/>
              <a:gd name="T52" fmla="*/ 148689930 w 627"/>
              <a:gd name="T53" fmla="*/ 1970762366 h 782"/>
              <a:gd name="T54" fmla="*/ 0 w 627"/>
              <a:gd name="T55" fmla="*/ 1827114298 h 782"/>
              <a:gd name="T56" fmla="*/ 143649622 w 627"/>
              <a:gd name="T57" fmla="*/ 1970762366 h 78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27"/>
              <a:gd name="T88" fmla="*/ 0 h 782"/>
              <a:gd name="T89" fmla="*/ 627 w 627"/>
              <a:gd name="T90" fmla="*/ 782 h 782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27" h="782">
                <a:moveTo>
                  <a:pt x="57" y="782"/>
                </a:moveTo>
                <a:lnTo>
                  <a:pt x="59" y="694"/>
                </a:lnTo>
                <a:lnTo>
                  <a:pt x="69" y="611"/>
                </a:lnTo>
                <a:lnTo>
                  <a:pt x="84" y="535"/>
                </a:lnTo>
                <a:lnTo>
                  <a:pt x="110" y="464"/>
                </a:lnTo>
                <a:lnTo>
                  <a:pt x="141" y="400"/>
                </a:lnTo>
                <a:lnTo>
                  <a:pt x="184" y="341"/>
                </a:lnTo>
                <a:lnTo>
                  <a:pt x="233" y="284"/>
                </a:lnTo>
                <a:lnTo>
                  <a:pt x="291" y="233"/>
                </a:lnTo>
                <a:lnTo>
                  <a:pt x="362" y="184"/>
                </a:lnTo>
                <a:lnTo>
                  <a:pt x="443" y="139"/>
                </a:lnTo>
                <a:lnTo>
                  <a:pt x="443" y="0"/>
                </a:lnTo>
                <a:lnTo>
                  <a:pt x="627" y="278"/>
                </a:lnTo>
                <a:lnTo>
                  <a:pt x="443" y="557"/>
                </a:lnTo>
                <a:lnTo>
                  <a:pt x="443" y="417"/>
                </a:lnTo>
                <a:lnTo>
                  <a:pt x="407" y="421"/>
                </a:lnTo>
                <a:lnTo>
                  <a:pt x="368" y="433"/>
                </a:lnTo>
                <a:lnTo>
                  <a:pt x="327" y="453"/>
                </a:lnTo>
                <a:lnTo>
                  <a:pt x="286" y="478"/>
                </a:lnTo>
                <a:lnTo>
                  <a:pt x="242" y="508"/>
                </a:lnTo>
                <a:lnTo>
                  <a:pt x="203" y="541"/>
                </a:lnTo>
                <a:lnTo>
                  <a:pt x="163" y="578"/>
                </a:lnTo>
                <a:lnTo>
                  <a:pt x="130" y="619"/>
                </a:lnTo>
                <a:lnTo>
                  <a:pt x="100" y="660"/>
                </a:lnTo>
                <a:lnTo>
                  <a:pt x="79" y="702"/>
                </a:lnTo>
                <a:lnTo>
                  <a:pt x="63" y="743"/>
                </a:lnTo>
                <a:lnTo>
                  <a:pt x="59" y="782"/>
                </a:lnTo>
                <a:lnTo>
                  <a:pt x="0" y="725"/>
                </a:lnTo>
                <a:lnTo>
                  <a:pt x="57" y="782"/>
                </a:lnTo>
                <a:close/>
              </a:path>
            </a:pathLst>
          </a:custGeom>
          <a:solidFill>
            <a:srgbClr val="BDBFB9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6" name="Freeform 34"/>
          <p:cNvSpPr>
            <a:spLocks/>
          </p:cNvSpPr>
          <p:nvPr/>
        </p:nvSpPr>
        <p:spPr bwMode="gray">
          <a:xfrm>
            <a:off x="3459163" y="2036763"/>
            <a:ext cx="903287" cy="1241425"/>
          </a:xfrm>
          <a:custGeom>
            <a:avLst/>
            <a:gdLst>
              <a:gd name="T0" fmla="*/ 1433968688 w 569"/>
              <a:gd name="T1" fmla="*/ 1970762366 h 782"/>
              <a:gd name="T2" fmla="*/ 1428928380 w 569"/>
              <a:gd name="T3" fmla="*/ 1748988685 h 782"/>
              <a:gd name="T4" fmla="*/ 1403726843 w 569"/>
              <a:gd name="T5" fmla="*/ 1539816179 h 782"/>
              <a:gd name="T6" fmla="*/ 1365923742 w 569"/>
              <a:gd name="T7" fmla="*/ 1348284363 h 782"/>
              <a:gd name="T8" fmla="*/ 1300399744 w 569"/>
              <a:gd name="T9" fmla="*/ 1169352532 h 782"/>
              <a:gd name="T10" fmla="*/ 1222275771 w 569"/>
              <a:gd name="T11" fmla="*/ 1008062582 h 782"/>
              <a:gd name="T12" fmla="*/ 1116429312 w 569"/>
              <a:gd name="T13" fmla="*/ 859374204 h 782"/>
              <a:gd name="T14" fmla="*/ 992940984 w 569"/>
              <a:gd name="T15" fmla="*/ 715724350 h 782"/>
              <a:gd name="T16" fmla="*/ 846772065 w 569"/>
              <a:gd name="T17" fmla="*/ 587195628 h 782"/>
              <a:gd name="T18" fmla="*/ 667841742 w 569"/>
              <a:gd name="T19" fmla="*/ 463708804 h 782"/>
              <a:gd name="T20" fmla="*/ 463708493 w 569"/>
              <a:gd name="T21" fmla="*/ 350302502 h 782"/>
              <a:gd name="T22" fmla="*/ 463708493 w 569"/>
              <a:gd name="T23" fmla="*/ 0 h 782"/>
              <a:gd name="T24" fmla="*/ 0 w 569"/>
              <a:gd name="T25" fmla="*/ 700603417 h 782"/>
              <a:gd name="T26" fmla="*/ 463708493 w 569"/>
              <a:gd name="T27" fmla="*/ 1403727784 h 782"/>
              <a:gd name="T28" fmla="*/ 463708493 w 569"/>
              <a:gd name="T29" fmla="*/ 1050904431 h 782"/>
              <a:gd name="T30" fmla="*/ 554434029 w 569"/>
              <a:gd name="T31" fmla="*/ 1060985053 h 782"/>
              <a:gd name="T32" fmla="*/ 652720820 w 569"/>
              <a:gd name="T33" fmla="*/ 1091226919 h 782"/>
              <a:gd name="T34" fmla="*/ 756046331 w 569"/>
              <a:gd name="T35" fmla="*/ 1141630028 h 782"/>
              <a:gd name="T36" fmla="*/ 859373627 w 569"/>
              <a:gd name="T37" fmla="*/ 1204634708 h 782"/>
              <a:gd name="T38" fmla="*/ 970260393 w 569"/>
              <a:gd name="T39" fmla="*/ 1280239372 h 782"/>
              <a:gd name="T40" fmla="*/ 1068545597 w 569"/>
              <a:gd name="T41" fmla="*/ 1363405296 h 782"/>
              <a:gd name="T42" fmla="*/ 1166832388 w 569"/>
              <a:gd name="T43" fmla="*/ 1456650255 h 782"/>
              <a:gd name="T44" fmla="*/ 1249996669 w 569"/>
              <a:gd name="T45" fmla="*/ 1559977422 h 782"/>
              <a:gd name="T46" fmla="*/ 1325601282 w 569"/>
              <a:gd name="T47" fmla="*/ 1663303003 h 782"/>
              <a:gd name="T48" fmla="*/ 1378525305 w 569"/>
              <a:gd name="T49" fmla="*/ 1769149929 h 782"/>
              <a:gd name="T50" fmla="*/ 1418847765 w 569"/>
              <a:gd name="T51" fmla="*/ 1872477097 h 782"/>
              <a:gd name="T52" fmla="*/ 1428928380 w 569"/>
              <a:gd name="T53" fmla="*/ 1970762366 h 782"/>
              <a:gd name="T54" fmla="*/ 1290319129 w 569"/>
              <a:gd name="T55" fmla="*/ 1827114298 h 782"/>
              <a:gd name="T56" fmla="*/ 1433968688 w 569"/>
              <a:gd name="T57" fmla="*/ 1970762366 h 78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569"/>
              <a:gd name="T88" fmla="*/ 0 h 782"/>
              <a:gd name="T89" fmla="*/ 569 w 569"/>
              <a:gd name="T90" fmla="*/ 782 h 782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569" h="782">
                <a:moveTo>
                  <a:pt x="569" y="782"/>
                </a:moveTo>
                <a:lnTo>
                  <a:pt x="567" y="694"/>
                </a:lnTo>
                <a:lnTo>
                  <a:pt x="557" y="611"/>
                </a:lnTo>
                <a:lnTo>
                  <a:pt x="542" y="535"/>
                </a:lnTo>
                <a:lnTo>
                  <a:pt x="516" y="464"/>
                </a:lnTo>
                <a:lnTo>
                  <a:pt x="485" y="400"/>
                </a:lnTo>
                <a:lnTo>
                  <a:pt x="443" y="341"/>
                </a:lnTo>
                <a:lnTo>
                  <a:pt x="394" y="284"/>
                </a:lnTo>
                <a:lnTo>
                  <a:pt x="336" y="233"/>
                </a:lnTo>
                <a:lnTo>
                  <a:pt x="265" y="184"/>
                </a:lnTo>
                <a:lnTo>
                  <a:pt x="184" y="139"/>
                </a:lnTo>
                <a:lnTo>
                  <a:pt x="184" y="0"/>
                </a:lnTo>
                <a:lnTo>
                  <a:pt x="0" y="278"/>
                </a:lnTo>
                <a:lnTo>
                  <a:pt x="184" y="557"/>
                </a:lnTo>
                <a:lnTo>
                  <a:pt x="184" y="417"/>
                </a:lnTo>
                <a:lnTo>
                  <a:pt x="220" y="421"/>
                </a:lnTo>
                <a:lnTo>
                  <a:pt x="259" y="433"/>
                </a:lnTo>
                <a:lnTo>
                  <a:pt x="300" y="453"/>
                </a:lnTo>
                <a:lnTo>
                  <a:pt x="341" y="478"/>
                </a:lnTo>
                <a:lnTo>
                  <a:pt x="385" y="508"/>
                </a:lnTo>
                <a:lnTo>
                  <a:pt x="424" y="541"/>
                </a:lnTo>
                <a:lnTo>
                  <a:pt x="463" y="578"/>
                </a:lnTo>
                <a:lnTo>
                  <a:pt x="496" y="619"/>
                </a:lnTo>
                <a:lnTo>
                  <a:pt x="526" y="660"/>
                </a:lnTo>
                <a:lnTo>
                  <a:pt x="547" y="702"/>
                </a:lnTo>
                <a:lnTo>
                  <a:pt x="563" y="743"/>
                </a:lnTo>
                <a:lnTo>
                  <a:pt x="567" y="782"/>
                </a:lnTo>
                <a:lnTo>
                  <a:pt x="512" y="725"/>
                </a:lnTo>
                <a:lnTo>
                  <a:pt x="569" y="782"/>
                </a:lnTo>
                <a:close/>
              </a:path>
            </a:pathLst>
          </a:custGeom>
          <a:solidFill>
            <a:srgbClr val="BDBFB9">
              <a:alpha val="8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="" xmlns:a16="http://schemas.microsoft.com/office/drawing/2014/main" id="{4EA11899-C6B1-443A-944D-F7ED9A3AC6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="" xmlns:a16="http://schemas.microsoft.com/office/drawing/2014/main" id="{D4E476C3-E963-47C7-A476-5F246B51D1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9740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95" grpId="0" animBg="1"/>
      <p:bldP spid="105" grpId="0" animBg="1"/>
      <p:bldP spid="106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-27384"/>
            <a:ext cx="8460431" cy="1981200"/>
          </a:xfrm>
        </p:spPr>
        <p:txBody>
          <a:bodyPr/>
          <a:lstStyle/>
          <a:p>
            <a:r>
              <a:rPr lang="en-US" sz="3200" dirty="0"/>
              <a:t>Virtualization vs Containerization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6" name="Picture 2" descr="Fig.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562271"/>
            <a:ext cx="6669361" cy="3234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142998" y="5017819"/>
            <a:ext cx="7571411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l-GR" sz="1600" dirty="0"/>
              <a:t>(α) Η εφαρμογή τρέχει πάνω από το λειτουργικό σύστημα </a:t>
            </a:r>
            <a:endParaRPr lang="en-US" sz="1600" dirty="0"/>
          </a:p>
          <a:p>
            <a:pPr>
              <a:spcAft>
                <a:spcPts val="600"/>
              </a:spcAft>
            </a:pPr>
            <a:r>
              <a:rPr lang="el-GR" sz="1600" dirty="0"/>
              <a:t>(β) Η εφαρμογή τρέχει σε ένα </a:t>
            </a:r>
            <a:r>
              <a:rPr lang="el-GR" sz="1600" b="1" dirty="0"/>
              <a:t>εικονικό μηχάνημα </a:t>
            </a:r>
            <a:r>
              <a:rPr lang="el-GR" sz="1600" dirty="0"/>
              <a:t>(το οποίο περιλαμβάνει τόσο την εφαρμογή και τις βιβλιοθήκες καθώς και το </a:t>
            </a:r>
            <a:r>
              <a:rPr lang="el-GR" sz="1600" dirty="0"/>
              <a:t>λειτουργικό σύστημα</a:t>
            </a:r>
            <a:r>
              <a:rPr lang="el-GR" sz="1600" dirty="0"/>
              <a:t>) το οποίο τρέχει μέσω του </a:t>
            </a:r>
            <a:r>
              <a:rPr lang="en-US" sz="1600" dirty="0" smtClean="0"/>
              <a:t>Hypervisor</a:t>
            </a:r>
            <a:r>
              <a:rPr lang="el-GR" sz="1600" dirty="0" smtClean="0"/>
              <a:t>. Παράδειγμα</a:t>
            </a:r>
            <a:r>
              <a:rPr lang="el-GR" sz="1600" dirty="0"/>
              <a:t>: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VirtualBox</a:t>
            </a:r>
          </a:p>
          <a:p>
            <a:pPr>
              <a:spcAft>
                <a:spcPts val="600"/>
              </a:spcAft>
            </a:pPr>
            <a:r>
              <a:rPr lang="el-GR" sz="1600" dirty="0"/>
              <a:t>(γ) Η εφαρμογή βρίσκεται σε </a:t>
            </a:r>
            <a:r>
              <a:rPr lang="el-GR" sz="1600" dirty="0" smtClean="0"/>
              <a:t>ένα </a:t>
            </a:r>
            <a:r>
              <a:rPr lang="el-GR" sz="1600" b="1" dirty="0" smtClean="0"/>
              <a:t>κοντέινερ</a:t>
            </a:r>
            <a:r>
              <a:rPr lang="el-GR" sz="1600" dirty="0" smtClean="0"/>
              <a:t> </a:t>
            </a:r>
            <a:r>
              <a:rPr lang="el-GR" sz="1600" dirty="0"/>
              <a:t>(το οποίο περιλάμβάνει τόσο την εφαρμογή και τις βιβλιοθήκες) το οποίο τρέχει μέσω του </a:t>
            </a:r>
            <a:r>
              <a:rPr lang="en-US" sz="1600" dirty="0"/>
              <a:t>Container Engine</a:t>
            </a:r>
            <a:r>
              <a:rPr lang="el-GR" sz="1600" dirty="0"/>
              <a:t>. Παράδειγμα: </a:t>
            </a:r>
            <a:r>
              <a:rPr 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Docker </a:t>
            </a:r>
          </a:p>
        </p:txBody>
      </p:sp>
    </p:spTree>
    <p:extLst>
      <p:ext uri="{BB962C8B-B14F-4D97-AF65-F5344CB8AC3E}">
        <p14:creationId xmlns:p14="http://schemas.microsoft.com/office/powerpoint/2010/main" val="590707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7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400983"/>
          </a:xfrm>
        </p:spPr>
        <p:txBody>
          <a:bodyPr/>
          <a:lstStyle/>
          <a:p>
            <a:r>
              <a:rPr lang="el-GR" altLang="en-US" sz="3600" dirty="0"/>
              <a:t>Το Υπολογιστικό Νέφος</a:t>
            </a:r>
            <a:endParaRPr lang="en-US" altLang="en-US" sz="36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982132" y="836712"/>
            <a:ext cx="7910348" cy="194428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l-GR" altLang="en-US" sz="2000" dirty="0"/>
              <a:t>Το </a:t>
            </a:r>
            <a:r>
              <a:rPr lang="el-GR" altLang="en-US" sz="2000" b="1" u="sng" dirty="0"/>
              <a:t>Υπολογιστικό Νέφος </a:t>
            </a:r>
            <a:r>
              <a:rPr lang="el-GR" altLang="en-US" sz="2000" dirty="0"/>
              <a:t>(</a:t>
            </a:r>
            <a:r>
              <a:rPr lang="en-US" altLang="en-US" sz="2000" dirty="0"/>
              <a:t>Cloud Computing) </a:t>
            </a:r>
            <a:r>
              <a:rPr lang="el-GR" altLang="en-US" sz="2000" dirty="0"/>
              <a:t>είναι μια νέα τάση για τα υπολογιστικά συστήματα όπου </a:t>
            </a:r>
            <a:r>
              <a:rPr lang="el-GR" altLang="en-US" sz="2000" b="1" u="sng" dirty="0"/>
              <a:t>δυναμικά κλιμακωτοί </a:t>
            </a:r>
            <a:r>
              <a:rPr lang="el-GR" altLang="en-US" sz="2000" dirty="0"/>
              <a:t>(</a:t>
            </a:r>
            <a:r>
              <a:rPr lang="en-US" altLang="en-US" sz="2000" dirty="0"/>
              <a:t>dynamically scalable) </a:t>
            </a:r>
            <a:r>
              <a:rPr lang="el-GR" altLang="en-US" sz="2000" dirty="0"/>
              <a:t>και </a:t>
            </a:r>
            <a:r>
              <a:rPr lang="el-GR" altLang="en-US" sz="2000" b="1" u="sng" dirty="0"/>
              <a:t>εικονοποιημένοι</a:t>
            </a:r>
            <a:r>
              <a:rPr lang="el-GR" altLang="en-US" sz="2000" dirty="0"/>
              <a:t> (</a:t>
            </a:r>
            <a:r>
              <a:rPr lang="en-US" altLang="en-US" sz="2000" dirty="0"/>
              <a:t>virtualized)</a:t>
            </a:r>
            <a:r>
              <a:rPr lang="el-GR" altLang="en-US" sz="2000" dirty="0"/>
              <a:t> πόροι</a:t>
            </a:r>
            <a:r>
              <a:rPr lang="en-US" altLang="en-US" sz="2000" dirty="0"/>
              <a:t> </a:t>
            </a:r>
            <a:r>
              <a:rPr lang="el-GR" altLang="en-US" sz="2000" dirty="0"/>
              <a:t>προσφέρονται σαν υπηρεσίες μέσω του διαδικτύου. </a:t>
            </a:r>
            <a:endParaRPr lang="en-US" altLang="en-US" sz="20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1720" y="2708920"/>
            <a:ext cx="5946797" cy="4104456"/>
          </a:xfrm>
        </p:spPr>
      </p:pic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1C419586-31BB-4EA9-A35A-1FE5BFC19A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266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27384"/>
            <a:ext cx="7704667" cy="1981200"/>
          </a:xfrm>
        </p:spPr>
        <p:txBody>
          <a:bodyPr/>
          <a:lstStyle/>
          <a:p>
            <a:r>
              <a:rPr lang="en-US" b="1" dirty="0"/>
              <a:t>Edge-Cloud </a:t>
            </a:r>
            <a:r>
              <a:rPr lang="en-US" b="1" dirty="0" smtClean="0"/>
              <a:t>Continuum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64</a:t>
            </a:fld>
            <a:endParaRPr lang="en-US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996952"/>
            <a:ext cx="7344816" cy="3612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270" y="1463576"/>
            <a:ext cx="5595540" cy="2033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64411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l-GR" dirty="0" smtClean="0"/>
              <a:t>Συνοπτικά 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1412776"/>
            <a:ext cx="7704667" cy="4587040"/>
          </a:xfrm>
        </p:spPr>
        <p:txBody>
          <a:bodyPr>
            <a:normAutofit/>
          </a:bodyPr>
          <a:lstStyle/>
          <a:p>
            <a:r>
              <a:rPr lang="en-US" dirty="0"/>
              <a:t>Web Application Development </a:t>
            </a:r>
          </a:p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HTTP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Client-Side </a:t>
            </a:r>
            <a:r>
              <a:rPr lang="en-US" dirty="0"/>
              <a:t>Programming </a:t>
            </a:r>
          </a:p>
          <a:p>
            <a:pPr lvl="1"/>
            <a:r>
              <a:rPr lang="en-US" dirty="0"/>
              <a:t>HTML, CSS, JavaScript </a:t>
            </a:r>
          </a:p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Server-Side</a:t>
            </a:r>
            <a:r>
              <a:rPr lang="en-US" dirty="0"/>
              <a:t> Programming</a:t>
            </a:r>
          </a:p>
          <a:p>
            <a:pPr lvl="1"/>
            <a:r>
              <a:rPr lang="en-US" dirty="0"/>
              <a:t>Java, Python, Node.js</a:t>
            </a:r>
          </a:p>
          <a:p>
            <a:r>
              <a:rPr lang="en-US" dirty="0"/>
              <a:t>Other Notes / Issues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65</a:t>
            </a:fld>
            <a:endParaRPr lang="en-US" altLang="en-US"/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772816"/>
            <a:ext cx="2500717" cy="1152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 descr="Web Technologies. What is Web Technology? Web technology… | by Naveenkumar  | Medium">
            <a:extLst>
              <a:ext uri="{FF2B5EF4-FFF2-40B4-BE49-F238E27FC236}">
                <a16:creationId xmlns:a16="http://schemas.microsoft.com/office/drawing/2014/main" xmlns="" id="{B864268F-25AE-5B02-C245-2EF3E793B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grayscl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806" y="3064480"/>
            <a:ext cx="3267889" cy="266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407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 noChangeArrowheads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l-GR" altLang="en-US" dirty="0" smtClean="0"/>
              <a:t>Διπλωματικές</a:t>
            </a:r>
            <a:r>
              <a:rPr lang="en-US" altLang="en-US" dirty="0" smtClean="0"/>
              <a:t> </a:t>
            </a:r>
            <a:r>
              <a:rPr lang="el-GR" altLang="en-US" dirty="0" smtClean="0"/>
              <a:t>…</a:t>
            </a:r>
            <a:endParaRPr lang="en-US" altLang="en-US" dirty="0"/>
          </a:p>
        </p:txBody>
      </p:sp>
      <p:sp>
        <p:nvSpPr>
          <p:cNvPr id="9219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982133" y="1556792"/>
            <a:ext cx="7982355" cy="398088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30000"/>
              </a:lnSpc>
            </a:pPr>
            <a:r>
              <a:rPr lang="el-GR" dirty="0"/>
              <a:t>Διευκόλυνση της εκτέλεσης εργασιών στο υπολογιστικό συνεχές 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cloud continuum</a:t>
            </a:r>
            <a:r>
              <a:rPr lang="el-GR" dirty="0"/>
              <a:t>)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l-GR" dirty="0"/>
              <a:t>Δημιουργία αποκεντρωμένων εφαρμογών χρησιμοποιώντας τις τεχνολογίες της αλυσίδας </a:t>
            </a:r>
            <a:r>
              <a:rPr lang="el-GR" dirty="0" smtClean="0"/>
              <a:t>(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blockchain</a:t>
            </a:r>
            <a:r>
              <a:rPr lang="el-GR" dirty="0" smtClean="0"/>
              <a:t>) </a:t>
            </a:r>
            <a:endParaRPr lang="en-US" dirty="0"/>
          </a:p>
          <a:p>
            <a:pPr>
              <a:lnSpc>
                <a:spcPct val="130000"/>
              </a:lnSpc>
            </a:pPr>
            <a:r>
              <a:rPr lang="el-GR" dirty="0"/>
              <a:t>Ανάπτυξη έξυπνων συστημάτων χρησιμοποιώντας τεχνολογίες αιχμής όπως είναι τα μεγάλα γλωσσικά μοντέλα (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LLMs</a:t>
            </a:r>
            <a:r>
              <a:rPr lang="el-GR" dirty="0"/>
              <a:t>)</a:t>
            </a:r>
            <a:r>
              <a:rPr lang="en-US" dirty="0"/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7532979E-1602-4FC9-8F06-A754815CF8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9F1E5CA7-84D8-444C-BF01-B5556E9A15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l-GR" altLang="en-US"/>
              <a:t>Απορίες</a:t>
            </a:r>
            <a:r>
              <a:rPr lang="en-US" altLang="en-US"/>
              <a:t>…</a:t>
            </a:r>
          </a:p>
        </p:txBody>
      </p:sp>
      <p:pic>
        <p:nvPicPr>
          <p:cNvPr id="57347" name="Picture 2" descr="C:\Documents and Settings\amenychtas\Local Settings\Temporary Internet Files\Content.IE5\ZZVC3V86\MCj02821780000[1]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0" y="1928813"/>
            <a:ext cx="3033713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C6B24BE-843A-44BF-9DE0-62DED64E874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/>
              <a:t>Διαδίκτυο και Εφαρμογές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D158E72-23BF-4788-A2FD-68FF1E4282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67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dirty="0" smtClean="0"/>
              <a:t>Web 3.0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68</a:t>
            </a:fld>
            <a:endParaRPr lang="en-US" altLang="en-US"/>
          </a:p>
        </p:txBody>
      </p:sp>
      <p:pic>
        <p:nvPicPr>
          <p:cNvPr id="7170" name="Picture 2" descr="Web 3.0 Explained, Plus the History of Web 1.0 and 2.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1628798"/>
            <a:ext cx="6336704" cy="4224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64294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-64368"/>
            <a:ext cx="7704667" cy="1981200"/>
          </a:xfrm>
        </p:spPr>
        <p:txBody>
          <a:bodyPr/>
          <a:lstStyle/>
          <a:p>
            <a:r>
              <a:rPr lang="en-US" dirty="0" smtClean="0"/>
              <a:t>The Evolution of Web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l-GR" smtClean="0"/>
              <a:t>Διαδίκτυο και Εφαρμογές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C21434B-524A-4AB9-924E-A39A4A6767BB}" type="slidenum">
              <a:rPr lang="en-US" altLang="en-US" smtClean="0"/>
              <a:pPr>
                <a:defRPr/>
              </a:pPr>
              <a:t>69</a:t>
            </a:fld>
            <a:endParaRPr lang="en-US" altLang="en-US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378" y="1556792"/>
            <a:ext cx="8574094" cy="42819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13162805"/>
      </p:ext>
    </p:extLst>
  </p:cSld>
  <p:clrMapOvr>
    <a:masterClrMapping/>
  </p:clrMapOvr>
</p:sld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_rels/them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theme/theme1.xml><?xml version="1.0" encoding="utf-8"?>
<a:theme xmlns:a="http://schemas.openxmlformats.org/drawingml/2006/main" name="Theme1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Title &amp; Subtitle">
      <a:majorFont>
        <a:latin typeface="Arial"/>
        <a:ea typeface="ヒラギノ角ゴ ProN W6"/>
        <a:cs typeface="ヒラギノ角ゴ ProN W6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lnDef>
  </a:objectDefaults>
  <a:extraClrSchemeLst>
    <a:extraClrScheme>
      <a:clrScheme name="Title &amp; Subtitl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Theme1" id="{D984B641-1AE1-45B7-8B87-5E4821A4B3D0}" vid="{17FFC16F-2B17-4741-BA1A-A4C9F2052970}"/>
    </a:ext>
  </a:extLst>
</a:theme>
</file>

<file path=ppt/theme/theme2.xml><?xml version="1.0" encoding="utf-8"?>
<a:theme xmlns:a="http://schemas.openxmlformats.org/drawingml/2006/main" name="2_01181351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01181351">
      <a:majorFont>
        <a:latin typeface="Arial"/>
        <a:ea typeface="ヒラギノ角ゴ ProN W6"/>
        <a:cs typeface="ヒラギノ角ゴ ProN W6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lnDef>
  </a:objectDefaults>
  <a:extraClrSchemeLst>
    <a:extraClrScheme>
      <a:clrScheme name="0118135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ntua2023PptTheme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01181351">
      <a:majorFont>
        <a:latin typeface="Arial"/>
        <a:ea typeface="ヒラギノ角ゴ ProN W6"/>
        <a:cs typeface="ヒラギノ角ゴ ProN W6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lnDef>
  </a:objectDefaults>
  <a:extraClrSchemeLst>
    <a:extraClrScheme>
      <a:clrScheme name="0118135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ntua2023PptTheme" id="{60EB57F7-CDB1-4706-BCE4-58454B77D4D9}" vid="{E6F3AB66-61A5-4B9D-866F-EC432765EF2E}"/>
    </a:ext>
  </a:extLst>
</a:theme>
</file>

<file path=ppt/theme/theme4.xml><?xml version="1.0" encoding="utf-8"?>
<a:theme xmlns:a="http://schemas.openxmlformats.org/drawingml/2006/main" name="Parallax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allax" id="{3388167B-A2EB-4685-9635-1831D9AEF8C4}" vid="{4F7A876A-7598-49CA-AFC8-8EDA2551E4A7}"/>
    </a:ext>
  </a:extLst>
</a:theme>
</file>

<file path=ppt/theme/theme5.xml><?xml version="1.0" encoding="utf-8"?>
<a:theme xmlns:a="http://schemas.openxmlformats.org/drawingml/2006/main" name="1_ntua2023PptTheme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01181351">
      <a:majorFont>
        <a:latin typeface="Arial"/>
        <a:ea typeface="ヒラギノ角ゴ ProN W6"/>
        <a:cs typeface="ヒラギノ角ゴ ProN W6"/>
      </a:majorFont>
      <a:minorFont>
        <a:latin typeface="Arial"/>
        <a:ea typeface="ヒラギノ角ゴ ProN W3"/>
        <a:cs typeface="ヒラギノ角ゴ ProN W3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CC99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Times New Roman" charset="0"/>
            <a:ea typeface="ヒラギノ明朝 ProN W3" charset="0"/>
            <a:cs typeface="ヒラギノ明朝 ProN W3" charset="0"/>
            <a:sym typeface="Times New Roman" charset="0"/>
          </a:defRPr>
        </a:defPPr>
      </a:lstStyle>
    </a:lnDef>
  </a:objectDefaults>
  <a:extraClrSchemeLst>
    <a:extraClrScheme>
      <a:clrScheme name="0118135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ntua2023PptTheme" id="{CEDF609E-8767-4660-BC10-09098D0A0F6D}" vid="{49532998-D8D9-4997-A470-698810C77911}"/>
    </a:ext>
  </a:extLst>
</a:theme>
</file>

<file path=ppt/theme/theme6.xml><?xml version="1.0" encoding="utf-8"?>
<a:theme xmlns:a="http://schemas.openxmlformats.org/drawingml/2006/main" name="1_Parallax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allax" id="{3388167B-A2EB-4685-9635-1831D9AEF8C4}" vid="{4F7A876A-7598-49CA-AFC8-8EDA2551E4A7}"/>
    </a:ext>
  </a:extLst>
</a:theme>
</file>

<file path=ppt/theme/theme7.xml><?xml version="1.0" encoding="utf-8"?>
<a:theme xmlns:a="http://schemas.openxmlformats.org/drawingml/2006/main" name="2_Parallax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Parallax" id="{3388167B-A2EB-4685-9635-1831D9AEF8C4}" vid="{4F7A876A-7598-49CA-AFC8-8EDA2551E4A7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969</TotalTime>
  <Pages>0</Pages>
  <Words>3522</Words>
  <Characters>0</Characters>
  <Application>Microsoft Office PowerPoint</Application>
  <PresentationFormat>On-screen Show (4:3)</PresentationFormat>
  <Lines>0</Lines>
  <Paragraphs>592</Paragraphs>
  <Slides>69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69</vt:i4>
      </vt:variant>
    </vt:vector>
  </HeadingPairs>
  <TitlesOfParts>
    <vt:vector size="76" baseType="lpstr">
      <vt:lpstr>Theme1</vt:lpstr>
      <vt:lpstr>2_01181351</vt:lpstr>
      <vt:lpstr>ntua2023PptTheme</vt:lpstr>
      <vt:lpstr>Parallax</vt:lpstr>
      <vt:lpstr>1_ntua2023PptTheme</vt:lpstr>
      <vt:lpstr>1_Parallax</vt:lpstr>
      <vt:lpstr>2_Parallax</vt:lpstr>
      <vt:lpstr>Διαδίκτυο και Εφαρμογές</vt:lpstr>
      <vt:lpstr>Διαδίκτυο και Εφαρμογές</vt:lpstr>
      <vt:lpstr>Σκοπός του μαθήματος</vt:lpstr>
      <vt:lpstr>Επικοινωνία</vt:lpstr>
      <vt:lpstr>Διαδικαστικά...</vt:lpstr>
      <vt:lpstr>Πρόγραμμα Μαθήματος</vt:lpstr>
      <vt:lpstr>World Wide Web (WWW)</vt:lpstr>
      <vt:lpstr>Βασικές έννοιες</vt:lpstr>
      <vt:lpstr>Web 1.0 και Web 2.0</vt:lpstr>
      <vt:lpstr>WEB 2.0</vt:lpstr>
      <vt:lpstr>Παραδείγματα WEB 2.0</vt:lpstr>
      <vt:lpstr>Παραδείγματα WEB 2.0</vt:lpstr>
      <vt:lpstr>Web 3.0</vt:lpstr>
      <vt:lpstr>Web 3.0</vt:lpstr>
      <vt:lpstr>Cryptocurrencies </vt:lpstr>
      <vt:lpstr>Σελίδες WWW</vt:lpstr>
      <vt:lpstr>WWW και HTML</vt:lpstr>
      <vt:lpstr>Cascading Style Sheets</vt:lpstr>
      <vt:lpstr>JavaScript</vt:lpstr>
      <vt:lpstr>JavaScript</vt:lpstr>
      <vt:lpstr>HTML, CSS και JavaScript</vt:lpstr>
      <vt:lpstr>HTTP vs HTML</vt:lpstr>
      <vt:lpstr>HTTP Example</vt:lpstr>
      <vt:lpstr>Βασικές Κατηγορίες Προγραμματισμού</vt:lpstr>
      <vt:lpstr>Client-side Προγραμματισμός</vt:lpstr>
      <vt:lpstr>Client-side Προγραμματισμός</vt:lpstr>
      <vt:lpstr>Server-side Προγραμματισμός</vt:lpstr>
      <vt:lpstr>Server-side Προγραμματισμός</vt:lpstr>
      <vt:lpstr>Client–Server vs P2P networks</vt:lpstr>
      <vt:lpstr>Rich Web Applications</vt:lpstr>
      <vt:lpstr>Web Servers</vt:lpstr>
      <vt:lpstr>Apache Tomcat</vt:lpstr>
      <vt:lpstr>Java</vt:lpstr>
      <vt:lpstr>Java Servlet Example</vt:lpstr>
      <vt:lpstr>Server-side Programming  Java Frameworks</vt:lpstr>
      <vt:lpstr>Τεχνολογίες &amp; Πλαίσια</vt:lpstr>
      <vt:lpstr>Client-side Programming  JS Libraries &amp; Frameworks</vt:lpstr>
      <vt:lpstr>Server-side Programming Python Libraries</vt:lpstr>
      <vt:lpstr>XML</vt:lpstr>
      <vt:lpstr>XML Example</vt:lpstr>
      <vt:lpstr>XML</vt:lpstr>
      <vt:lpstr>XML Validation &amp; Display</vt:lpstr>
      <vt:lpstr>XML Schema Παράδειγμα</vt:lpstr>
      <vt:lpstr>JSON</vt:lpstr>
      <vt:lpstr>JSON Example</vt:lpstr>
      <vt:lpstr>Service Oriented Architecture (SOA)</vt:lpstr>
      <vt:lpstr>Web Services</vt:lpstr>
      <vt:lpstr>SOAP</vt:lpstr>
      <vt:lpstr>REST</vt:lpstr>
      <vt:lpstr>REST</vt:lpstr>
      <vt:lpstr>REST Principles</vt:lpstr>
      <vt:lpstr>SOAP vs REST</vt:lpstr>
      <vt:lpstr>Ασφάλεια</vt:lpstr>
      <vt:lpstr>SSL (1)</vt:lpstr>
      <vt:lpstr>SSL (2)</vt:lpstr>
      <vt:lpstr>Επίπεδα Αρχιτεκτονικής</vt:lpstr>
      <vt:lpstr>Παράδειγμα 3-tier system</vt:lpstr>
      <vt:lpstr>Παράδειγμα N-tier system</vt:lpstr>
      <vt:lpstr>Υπηρεσιοστρεφείς Αρχιτεκτονικές</vt:lpstr>
      <vt:lpstr>Υπηρεσιοστρεφείς Υποδομές</vt:lpstr>
      <vt:lpstr>Τομείς Εφαρμογής</vt:lpstr>
      <vt:lpstr>Virtualization vs Containerization</vt:lpstr>
      <vt:lpstr>Το Υπολογιστικό Νέφος</vt:lpstr>
      <vt:lpstr>Edge-Cloud Continuum</vt:lpstr>
      <vt:lpstr>Συνοπτικά … </vt:lpstr>
      <vt:lpstr>Διπλωματικές …</vt:lpstr>
      <vt:lpstr>Απορίες…</vt:lpstr>
      <vt:lpstr>Web 3.0</vt:lpstr>
      <vt:lpstr>The Evolution of Web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 Lecture</dc:title>
  <dc:subject>Internet Programming</dc:subject>
  <dc:creator>Andreas Menychtas</dc:creator>
  <cp:lastModifiedBy>Efthymios</cp:lastModifiedBy>
  <cp:revision>464</cp:revision>
  <dcterms:modified xsi:type="dcterms:W3CDTF">2026-02-19T14:56:33Z</dcterms:modified>
</cp:coreProperties>
</file>